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3_0.xml" ContentType="application/vnd.ms-powerpoint.comments+xml"/>
  <Override PartName="/ppt/comments/modernComment_105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59" r:id="rId5"/>
    <p:sldId id="260" r:id="rId6"/>
    <p:sldId id="261" r:id="rId7"/>
    <p:sldId id="262" r:id="rId8"/>
    <p:sldId id="263" r:id="rId9"/>
    <p:sldId id="270"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7"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1AA225-DD63-F124-02F0-524054AF3A5E}" name="雄一朗 久保" initials="雄久" userId="59f849068f3bd7b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6A4"/>
    <a:srgbClr val="F0F4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174" y="-684"/>
      </p:cViewPr>
      <p:guideLst>
        <p:guide orient="horz" pos="2160"/>
        <p:guide pos="2887"/>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3_0.xml><?xml version="1.0" encoding="utf-8"?>
<p188:cmLst xmlns:a="http://schemas.openxmlformats.org/drawingml/2006/main" xmlns:r="http://schemas.openxmlformats.org/officeDocument/2006/relationships" xmlns:p188="http://schemas.microsoft.com/office/powerpoint/2018/8/main">
  <p188:cm id="{0DB123F6-EA85-47BC-8417-242921BF6194}" authorId="{991AA225-DD63-F124-02F0-524054AF3A5E}" created="2026-09-23T12:56:00.835">
    <pc:sldMkLst xmlns:pc="http://schemas.microsoft.com/office/powerpoint/2013/main/command">
      <pc:docMk/>
      <pc:sldMk cId="0" sldId="259"/>
    </pc:sldMkLst>
    <p188:txBody>
      <a:bodyPr/>
      <a:lstStyle/>
      <a:p>
        <a:r>
          <a:rPr lang="ja-JP" altLang="en-US"/>
          <a:t>Weekly Average Oil TemperatureのグラフとHouril Oil Temperature</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8CEF7FB4-4568-488E-B810-A094C57472ED}" authorId="{991AA225-DD63-F124-02F0-524054AF3A5E}" created="2026-09-23T14:15:31.504">
    <pc:sldMkLst xmlns:pc="http://schemas.microsoft.com/office/powerpoint/2013/main/command">
      <pc:docMk/>
      <pc:sldMk cId="0" sldId="261"/>
    </pc:sldMkLst>
    <p188:txBody>
      <a:bodyPr/>
      <a:lstStyle/>
      <a:p>
        <a:r>
          <a:rPr lang="ja-JP" altLang="en-US"/>
          <a:t>数値は間違っていることが多いので出力結果と必ず照らし合わせる</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3_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5_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haseden.tech/archives/9270?utm_source=chatgpt.com" TargetMode="External"/><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658368"/>
            <a:ext cx="2743200" cy="365760"/>
          </a:xfrm>
          <a:prstGeom prst="rect">
            <a:avLst/>
          </a:prstGeom>
          <a:noFill/>
        </p:spPr>
        <p:txBody>
          <a:bodyPr wrap="square" lIns="18288" tIns="18288" rIns="18288" bIns="18288">
            <a:spAutoFit/>
          </a:bodyPr>
          <a:lstStyle/>
          <a:p>
            <a:pPr algn="l">
              <a:defRPr sz="1800" b="0">
                <a:solidFill>
                  <a:srgbClr val="646C74"/>
                </a:solidFill>
                <a:latin typeface="Meiryo"/>
              </a:defRPr>
            </a:pPr>
            <a:r>
              <a:t>X社御中</a:t>
            </a:r>
          </a:p>
        </p:txBody>
      </p:sp>
      <p:sp>
        <p:nvSpPr>
          <p:cNvPr id="3" name="TextBox 2"/>
          <p:cNvSpPr txBox="1"/>
          <p:nvPr/>
        </p:nvSpPr>
        <p:spPr>
          <a:xfrm>
            <a:off x="731520" y="1828800"/>
            <a:ext cx="10698480" cy="1234440"/>
          </a:xfrm>
          <a:prstGeom prst="rect">
            <a:avLst/>
          </a:prstGeom>
          <a:noFill/>
        </p:spPr>
        <p:txBody>
          <a:bodyPr wrap="square" lIns="18288" tIns="18288" rIns="18288" bIns="18288">
            <a:spAutoFit/>
          </a:bodyPr>
          <a:lstStyle/>
          <a:p>
            <a:pPr algn="l">
              <a:defRPr sz="3200" b="1">
                <a:solidFill>
                  <a:srgbClr val="182F49"/>
                </a:solidFill>
                <a:latin typeface="Meiryo"/>
              </a:defRPr>
            </a:pPr>
            <a:r>
              <a:t>変圧器油温予測による</a:t>
            </a:r>
            <a:br/>
            <a:r>
              <a:t>予防保全PoC検証</a:t>
            </a:r>
          </a:p>
        </p:txBody>
      </p:sp>
      <p:sp>
        <p:nvSpPr>
          <p:cNvPr id="4" name="TextBox 3"/>
          <p:cNvSpPr txBox="1"/>
          <p:nvPr/>
        </p:nvSpPr>
        <p:spPr>
          <a:xfrm>
            <a:off x="749808" y="3401568"/>
            <a:ext cx="10332720" cy="457200"/>
          </a:xfrm>
          <a:prstGeom prst="rect">
            <a:avLst/>
          </a:prstGeom>
          <a:noFill/>
        </p:spPr>
        <p:txBody>
          <a:bodyPr wrap="square" lIns="18288" tIns="18288" rIns="18288" bIns="18288">
            <a:spAutoFit/>
          </a:bodyPr>
          <a:lstStyle/>
          <a:p>
            <a:pPr algn="l">
              <a:defRPr sz="2000" b="0">
                <a:solidFill>
                  <a:srgbClr val="3466A4"/>
                </a:solidFill>
                <a:latin typeface="Meiryo"/>
              </a:defRPr>
            </a:pPr>
            <a:r>
              <a:t>ETTデータを用いた短期予測モデルと運用価値の評価</a:t>
            </a:r>
          </a:p>
        </p:txBody>
      </p:sp>
      <p:sp>
        <p:nvSpPr>
          <p:cNvPr id="5" name="TextBox 4"/>
          <p:cNvSpPr txBox="1"/>
          <p:nvPr/>
        </p:nvSpPr>
        <p:spPr>
          <a:xfrm>
            <a:off x="749808" y="5943600"/>
            <a:ext cx="2743200" cy="775597"/>
          </a:xfrm>
          <a:prstGeom prst="rect">
            <a:avLst/>
          </a:prstGeom>
          <a:noFill/>
        </p:spPr>
        <p:txBody>
          <a:bodyPr wrap="square" lIns="18288" tIns="18288" rIns="18288" bIns="18288">
            <a:spAutoFit/>
          </a:bodyPr>
          <a:lstStyle/>
          <a:p>
            <a:pPr algn="l">
              <a:defRPr sz="1600" b="0">
                <a:solidFill>
                  <a:srgbClr val="646C74"/>
                </a:solidFill>
                <a:latin typeface="Meiryo"/>
              </a:defRPr>
            </a:pPr>
            <a:r>
              <a:rPr dirty="0" err="1"/>
              <a:t>PoC検証報告</a:t>
            </a:r>
            <a:endParaRPr lang="en-US" dirty="0"/>
          </a:p>
          <a:p>
            <a:pPr algn="l">
              <a:defRPr sz="1600" b="0">
                <a:solidFill>
                  <a:srgbClr val="646C74"/>
                </a:solidFill>
                <a:latin typeface="Meiryo"/>
              </a:defRPr>
            </a:pPr>
            <a:r>
              <a:rPr lang="ja-JP" altLang="en-US" dirty="0"/>
              <a:t>作成者：久保雄一朗</a:t>
            </a:r>
            <a:endParaRPr lang="en-US" altLang="ja-JP" dirty="0"/>
          </a:p>
          <a:p>
            <a:pPr algn="l">
              <a:defRPr sz="1600" b="0">
                <a:solidFill>
                  <a:srgbClr val="646C74"/>
                </a:solidFill>
                <a:latin typeface="Meiryo"/>
              </a:defRPr>
            </a:pPr>
            <a:r>
              <a:rPr lang="ja-JP" altLang="en-US" dirty="0"/>
              <a:t>作成日：</a:t>
            </a:r>
            <a:r>
              <a:rPr lang="en-US" altLang="ja-JP" dirty="0"/>
              <a:t>2026/09/25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t>提案サマリー</a:t>
            </a:r>
          </a:p>
        </p:txBody>
      </p:sp>
      <p:sp>
        <p:nvSpPr>
          <p:cNvPr id="3" name="TextBox 2"/>
          <p:cNvSpPr txBox="1"/>
          <p:nvPr/>
        </p:nvSpPr>
        <p:spPr>
          <a:xfrm>
            <a:off x="502920" y="704088"/>
            <a:ext cx="11064240" cy="658368"/>
          </a:xfrm>
          <a:prstGeom prst="rect">
            <a:avLst/>
          </a:prstGeom>
          <a:noFill/>
        </p:spPr>
        <p:txBody>
          <a:bodyPr wrap="square" lIns="18288" tIns="18288" rIns="18288" bIns="18288">
            <a:spAutoFit/>
          </a:bodyPr>
          <a:lstStyle/>
          <a:p>
            <a:pPr algn="l">
              <a:defRPr sz="2400" b="1">
                <a:solidFill>
                  <a:srgbClr val="262A2F"/>
                </a:solidFill>
                <a:latin typeface="Meiryo"/>
              </a:defRPr>
            </a:pPr>
            <a:r>
              <a:t>1時間先の油温予測を活用し、事後対応から予防保全へ移行できる可能性を確認した</a:t>
            </a: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627632"/>
            <a:ext cx="3429000" cy="205740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746504"/>
            <a:ext cx="3099816" cy="283154"/>
          </a:xfrm>
          <a:prstGeom prst="rect">
            <a:avLst/>
          </a:prstGeom>
          <a:noFill/>
        </p:spPr>
        <p:txBody>
          <a:bodyPr wrap="square" lIns="18288" tIns="18288" rIns="18288" bIns="18288">
            <a:spAutoFit/>
          </a:bodyPr>
          <a:lstStyle/>
          <a:p>
            <a:pPr algn="l">
              <a:defRPr sz="1600" b="1">
                <a:solidFill>
                  <a:srgbClr val="3466A4"/>
                </a:solidFill>
                <a:latin typeface="Meiryo"/>
              </a:defRPr>
            </a:pPr>
            <a:r>
              <a:rPr dirty="0" err="1">
                <a:latin typeface="メイリオ" panose="020B0604030504040204" pitchFamily="50" charset="-128"/>
                <a:ea typeface="メイリオ" panose="020B0604030504040204" pitchFamily="50" charset="-128"/>
              </a:rPr>
              <a:t>背景</a:t>
            </a:r>
            <a:endParaRPr dirty="0">
              <a:latin typeface="メイリオ" panose="020B0604030504040204" pitchFamily="50" charset="-128"/>
              <a:ea typeface="メイリオ" panose="020B0604030504040204" pitchFamily="50" charset="-128"/>
            </a:endParaRPr>
          </a:p>
        </p:txBody>
      </p:sp>
      <p:sp>
        <p:nvSpPr>
          <p:cNvPr id="7" name="TextBox 6"/>
          <p:cNvSpPr txBox="1"/>
          <p:nvPr/>
        </p:nvSpPr>
        <p:spPr>
          <a:xfrm>
            <a:off x="758952" y="2148840"/>
            <a:ext cx="3264408" cy="1268039"/>
          </a:xfrm>
          <a:prstGeom prst="rect">
            <a:avLst/>
          </a:prstGeom>
          <a:noFill/>
        </p:spPr>
        <p:txBody>
          <a:bodyPr wrap="square" lIns="18288" tIns="18288" rIns="18288" bIns="18288">
            <a:spAutoFit/>
          </a:bodyPr>
          <a:lstStyle/>
          <a:p>
            <a:pPr algn="l">
              <a:defRPr sz="1600" b="0">
                <a:solidFill>
                  <a:srgbClr val="262A2F"/>
                </a:solidFill>
                <a:latin typeface="Meiryo"/>
              </a:defRPr>
            </a:pPr>
            <a:r>
              <a:rPr lang="ja-JP" altLang="en-US" dirty="0">
                <a:latin typeface="メイリオ" panose="020B0604030504040204" pitchFamily="50" charset="-128"/>
                <a:ea typeface="メイリオ" panose="020B0604030504040204" pitchFamily="50" charset="-128"/>
              </a:rPr>
              <a:t>従来の</a:t>
            </a:r>
            <a:r>
              <a:rPr dirty="0" err="1">
                <a:latin typeface="メイリオ" panose="020B0604030504040204" pitchFamily="50" charset="-128"/>
                <a:ea typeface="メイリオ" panose="020B0604030504040204" pitchFamily="50" charset="-128"/>
              </a:rPr>
              <a:t>固定閾値による</a:t>
            </a:r>
            <a:r>
              <a:rPr lang="ja-JP" altLang="en-US" dirty="0">
                <a:latin typeface="メイリオ" panose="020B0604030504040204" pitchFamily="50" charset="-128"/>
                <a:ea typeface="メイリオ" panose="020B0604030504040204" pitchFamily="50" charset="-128"/>
              </a:rPr>
              <a:t>油温</a:t>
            </a:r>
            <a:r>
              <a:rPr dirty="0" err="1">
                <a:latin typeface="メイリオ" panose="020B0604030504040204" pitchFamily="50" charset="-128"/>
                <a:ea typeface="メイリオ" panose="020B0604030504040204" pitchFamily="50" charset="-128"/>
              </a:rPr>
              <a:t>監視だけでは、複雑な温度変動を事前に捉えにくい。予防保全へ移行するには「異常になる前の予測」が必要</a:t>
            </a:r>
            <a:r>
              <a:rPr dirty="0">
                <a:latin typeface="メイリオ" panose="020B0604030504040204" pitchFamily="50" charset="-128"/>
                <a:ea typeface="メイリオ" panose="020B0604030504040204" pitchFamily="50" charset="-128"/>
              </a:rPr>
              <a:t>。</a:t>
            </a:r>
          </a:p>
        </p:txBody>
      </p:sp>
      <p:sp>
        <p:nvSpPr>
          <p:cNvPr id="8" name="Rounded Rectangle 7"/>
          <p:cNvSpPr/>
          <p:nvPr/>
        </p:nvSpPr>
        <p:spPr>
          <a:xfrm>
            <a:off x="4389120" y="1627632"/>
            <a:ext cx="3429000" cy="205740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746504"/>
            <a:ext cx="3099816" cy="283154"/>
          </a:xfrm>
          <a:prstGeom prst="rect">
            <a:avLst/>
          </a:prstGeom>
          <a:noFill/>
        </p:spPr>
        <p:txBody>
          <a:bodyPr wrap="square" lIns="18288" tIns="18288" rIns="18288" bIns="18288">
            <a:spAutoFit/>
          </a:bodyPr>
          <a:lstStyle/>
          <a:p>
            <a:pPr algn="l">
              <a:defRPr sz="1600" b="1">
                <a:solidFill>
                  <a:srgbClr val="3466A4"/>
                </a:solidFill>
                <a:latin typeface="Meiryo"/>
              </a:defRPr>
            </a:pPr>
            <a:r>
              <a:rPr dirty="0" err="1">
                <a:latin typeface="メイリオ" panose="020B0604030504040204" pitchFamily="50" charset="-128"/>
                <a:ea typeface="メイリオ" panose="020B0604030504040204" pitchFamily="50" charset="-128"/>
              </a:rPr>
              <a:t>検証</a:t>
            </a:r>
            <a:endParaRPr dirty="0">
              <a:latin typeface="メイリオ" panose="020B0604030504040204" pitchFamily="50" charset="-128"/>
              <a:ea typeface="メイリオ" panose="020B0604030504040204" pitchFamily="50" charset="-128"/>
            </a:endParaRPr>
          </a:p>
        </p:txBody>
      </p:sp>
      <p:sp>
        <p:nvSpPr>
          <p:cNvPr id="10" name="TextBox 9"/>
          <p:cNvSpPr txBox="1"/>
          <p:nvPr/>
        </p:nvSpPr>
        <p:spPr>
          <a:xfrm>
            <a:off x="4553712" y="2148840"/>
            <a:ext cx="3099816" cy="1021818"/>
          </a:xfrm>
          <a:prstGeom prst="rect">
            <a:avLst/>
          </a:prstGeom>
          <a:noFill/>
        </p:spPr>
        <p:txBody>
          <a:bodyPr wrap="square" lIns="18288" tIns="18288" rIns="18288" bIns="18288">
            <a:spAutoFit/>
          </a:bodyPr>
          <a:lstStyle/>
          <a:p>
            <a:pPr algn="l">
              <a:defRPr sz="1600" b="0">
                <a:solidFill>
                  <a:srgbClr val="262A2F"/>
                </a:solidFill>
                <a:latin typeface="Meiryo"/>
              </a:defRPr>
            </a:pPr>
            <a:r>
              <a:rPr dirty="0">
                <a:latin typeface="メイリオ" panose="020B0604030504040204" pitchFamily="50" charset="-128"/>
                <a:ea typeface="メイリオ" panose="020B0604030504040204" pitchFamily="50" charset="-128"/>
              </a:rPr>
              <a:t>ETTデータをEDAし、重回帰モデルで現在・1時間先・24時間先の油温を予測。1時間先モデルを用いてROIを試算。</a:t>
            </a:r>
          </a:p>
        </p:txBody>
      </p:sp>
      <p:sp>
        <p:nvSpPr>
          <p:cNvPr id="11" name="Rounded Rectangle 10"/>
          <p:cNvSpPr/>
          <p:nvPr/>
        </p:nvSpPr>
        <p:spPr>
          <a:xfrm>
            <a:off x="8183879" y="1627632"/>
            <a:ext cx="3429000" cy="205740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2" name="TextBox 11"/>
          <p:cNvSpPr txBox="1"/>
          <p:nvPr/>
        </p:nvSpPr>
        <p:spPr>
          <a:xfrm>
            <a:off x="8348471" y="1746504"/>
            <a:ext cx="3099816" cy="283154"/>
          </a:xfrm>
          <a:prstGeom prst="rect">
            <a:avLst/>
          </a:prstGeom>
          <a:noFill/>
        </p:spPr>
        <p:txBody>
          <a:bodyPr wrap="square" lIns="18288" tIns="18288" rIns="18288" bIns="18288">
            <a:spAutoFit/>
          </a:bodyPr>
          <a:lstStyle/>
          <a:p>
            <a:pPr algn="l">
              <a:defRPr sz="1600" b="1">
                <a:solidFill>
                  <a:srgbClr val="25775A"/>
                </a:solidFill>
                <a:latin typeface="Meiryo"/>
              </a:defRPr>
            </a:pPr>
            <a:r>
              <a:rPr dirty="0" err="1">
                <a:latin typeface="メイリオ" panose="020B0604030504040204" pitchFamily="50" charset="-128"/>
                <a:ea typeface="メイリオ" panose="020B0604030504040204" pitchFamily="50" charset="-128"/>
              </a:rPr>
              <a:t>結論</a:t>
            </a:r>
            <a:endParaRPr dirty="0">
              <a:latin typeface="メイリオ" panose="020B0604030504040204" pitchFamily="50" charset="-128"/>
              <a:ea typeface="メイリオ" panose="020B0604030504040204" pitchFamily="50" charset="-128"/>
            </a:endParaRPr>
          </a:p>
        </p:txBody>
      </p:sp>
      <p:sp>
        <p:nvSpPr>
          <p:cNvPr id="13" name="TextBox 12"/>
          <p:cNvSpPr txBox="1"/>
          <p:nvPr/>
        </p:nvSpPr>
        <p:spPr>
          <a:xfrm>
            <a:off x="8348471" y="2148840"/>
            <a:ext cx="3099816" cy="1021818"/>
          </a:xfrm>
          <a:prstGeom prst="rect">
            <a:avLst/>
          </a:prstGeom>
          <a:noFill/>
        </p:spPr>
        <p:txBody>
          <a:bodyPr wrap="square" lIns="18288" tIns="18288" rIns="18288" bIns="18288">
            <a:spAutoFit/>
          </a:bodyPr>
          <a:lstStyle/>
          <a:p>
            <a:pPr>
              <a:defRPr sz="1600" b="0">
                <a:solidFill>
                  <a:srgbClr val="262A2F"/>
                </a:solidFill>
                <a:latin typeface="Meiryo"/>
              </a:defRPr>
            </a:pPr>
            <a:r>
              <a:rPr dirty="0">
                <a:latin typeface="メイリオ" panose="020B0604030504040204" pitchFamily="50" charset="-128"/>
                <a:ea typeface="メイリオ" panose="020B0604030504040204" pitchFamily="50" charset="-128"/>
              </a:rPr>
              <a:t>1時間先は高精度、24時間先は精度低下。</a:t>
            </a:r>
            <a:r>
              <a:rPr lang="ja-JP" altLang="en-US" sz="1600" dirty="0">
                <a:latin typeface="メイリオ" panose="020B0604030504040204" pitchFamily="50" charset="-128"/>
                <a:ea typeface="メイリオ" panose="020B0604030504040204" pitchFamily="50" charset="-128"/>
              </a:rPr>
              <a:t>短期予測＋対応時間バッファを用いた運用が</a:t>
            </a:r>
            <a:r>
              <a:rPr dirty="0" err="1">
                <a:latin typeface="メイリオ" panose="020B0604030504040204" pitchFamily="50" charset="-128"/>
                <a:ea typeface="メイリオ" panose="020B0604030504040204" pitchFamily="50" charset="-128"/>
              </a:rPr>
              <a:t>モデル特性と整合する</a:t>
            </a:r>
            <a:r>
              <a:rPr dirty="0">
                <a:latin typeface="メイリオ" panose="020B0604030504040204" pitchFamily="50" charset="-128"/>
                <a:ea typeface="メイリオ" panose="020B0604030504040204" pitchFamily="50" charset="-128"/>
              </a:rPr>
              <a:t>。</a:t>
            </a:r>
          </a:p>
        </p:txBody>
      </p:sp>
      <p:sp>
        <p:nvSpPr>
          <p:cNvPr id="27" name="TextBox 13">
            <a:extLst>
              <a:ext uri="{FF2B5EF4-FFF2-40B4-BE49-F238E27FC236}">
                <a16:creationId xmlns:a16="http://schemas.microsoft.com/office/drawing/2014/main" id="{93A26616-72D4-D77C-5BC0-802DC6AB5AA3}"/>
              </a:ext>
            </a:extLst>
          </p:cNvPr>
          <p:cNvSpPr txBox="1"/>
          <p:nvPr/>
        </p:nvSpPr>
        <p:spPr>
          <a:xfrm>
            <a:off x="658368" y="4306598"/>
            <a:ext cx="1371600" cy="338554"/>
          </a:xfrm>
          <a:prstGeom prst="rect">
            <a:avLst/>
          </a:prstGeom>
          <a:noFill/>
        </p:spPr>
        <p:txBody>
          <a:bodyPr wrap="square">
            <a:spAutoFit/>
          </a:bodyPr>
          <a:lstStyle/>
          <a:p>
            <a:pPr algn="l">
              <a:defRPr sz="1300" b="1">
                <a:solidFill>
                  <a:srgbClr val="182F49"/>
                </a:solidFill>
                <a:latin typeface="Yu Gothic"/>
              </a:defRPr>
            </a:pPr>
            <a:r>
              <a:rPr sz="1600" dirty="0" err="1">
                <a:latin typeface="メイリオ" panose="020B0604030504040204" pitchFamily="50" charset="-128"/>
                <a:ea typeface="メイリオ" panose="020B0604030504040204" pitchFamily="50" charset="-128"/>
              </a:rPr>
              <a:t>検証フロ</a:t>
            </a:r>
            <a:r>
              <a:rPr sz="1600" dirty="0">
                <a:latin typeface="メイリオ" panose="020B0604030504040204" pitchFamily="50" charset="-128"/>
                <a:ea typeface="メイリオ" panose="020B0604030504040204" pitchFamily="50" charset="-128"/>
              </a:rPr>
              <a:t>ー</a:t>
            </a:r>
          </a:p>
        </p:txBody>
      </p:sp>
      <p:sp>
        <p:nvSpPr>
          <p:cNvPr id="29" name="Rounded Rectangle 14">
            <a:extLst>
              <a:ext uri="{FF2B5EF4-FFF2-40B4-BE49-F238E27FC236}">
                <a16:creationId xmlns:a16="http://schemas.microsoft.com/office/drawing/2014/main" id="{2D3EE890-9E95-F548-173E-F688DB379404}"/>
              </a:ext>
            </a:extLst>
          </p:cNvPr>
          <p:cNvSpPr/>
          <p:nvPr/>
        </p:nvSpPr>
        <p:spPr>
          <a:xfrm>
            <a:off x="685800" y="4672358"/>
            <a:ext cx="2331720" cy="105156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1" name="TextBox 15">
            <a:extLst>
              <a:ext uri="{FF2B5EF4-FFF2-40B4-BE49-F238E27FC236}">
                <a16:creationId xmlns:a16="http://schemas.microsoft.com/office/drawing/2014/main" id="{56CAB150-9EB4-909D-39F6-E702CC324A6F}"/>
              </a:ext>
            </a:extLst>
          </p:cNvPr>
          <p:cNvSpPr txBox="1"/>
          <p:nvPr/>
        </p:nvSpPr>
        <p:spPr>
          <a:xfrm>
            <a:off x="850392" y="4782086"/>
            <a:ext cx="2002536" cy="338554"/>
          </a:xfrm>
          <a:prstGeom prst="rect">
            <a:avLst/>
          </a:prstGeom>
          <a:noFill/>
        </p:spPr>
        <p:txBody>
          <a:bodyPr wrap="square">
            <a:spAutoFit/>
          </a:bodyPr>
          <a:lstStyle/>
          <a:p>
            <a:pPr algn="l">
              <a:defRPr sz="1300" b="1">
                <a:solidFill>
                  <a:srgbClr val="3466A4"/>
                </a:solidFill>
                <a:latin typeface="Yu Gothic"/>
              </a:defRPr>
            </a:pPr>
            <a:r>
              <a:rPr sz="1600" dirty="0">
                <a:latin typeface="メイリオ" panose="020B0604030504040204" pitchFamily="50" charset="-128"/>
                <a:ea typeface="メイリオ" panose="020B0604030504040204" pitchFamily="50" charset="-128"/>
              </a:rPr>
              <a:t>EDA</a:t>
            </a:r>
          </a:p>
        </p:txBody>
      </p:sp>
      <p:sp>
        <p:nvSpPr>
          <p:cNvPr id="33" name="TextBox 16">
            <a:extLst>
              <a:ext uri="{FF2B5EF4-FFF2-40B4-BE49-F238E27FC236}">
                <a16:creationId xmlns:a16="http://schemas.microsoft.com/office/drawing/2014/main" id="{E542AF34-4751-5F9A-621A-5A11464E897C}"/>
              </a:ext>
            </a:extLst>
          </p:cNvPr>
          <p:cNvSpPr txBox="1"/>
          <p:nvPr/>
        </p:nvSpPr>
        <p:spPr>
          <a:xfrm>
            <a:off x="850392" y="5147846"/>
            <a:ext cx="2002536" cy="307777"/>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周期性・負荷との関係</a:t>
            </a:r>
            <a:endParaRPr sz="1400" dirty="0">
              <a:latin typeface="メイリオ" panose="020B0604030504040204" pitchFamily="50" charset="-128"/>
              <a:ea typeface="メイリオ" panose="020B0604030504040204" pitchFamily="50" charset="-128"/>
            </a:endParaRPr>
          </a:p>
        </p:txBody>
      </p:sp>
      <p:sp>
        <p:nvSpPr>
          <p:cNvPr id="35" name="TextBox 17">
            <a:extLst>
              <a:ext uri="{FF2B5EF4-FFF2-40B4-BE49-F238E27FC236}">
                <a16:creationId xmlns:a16="http://schemas.microsoft.com/office/drawing/2014/main" id="{EF52A340-E558-6FA6-B07F-278ECF5F2341}"/>
              </a:ext>
            </a:extLst>
          </p:cNvPr>
          <p:cNvSpPr txBox="1"/>
          <p:nvPr/>
        </p:nvSpPr>
        <p:spPr>
          <a:xfrm>
            <a:off x="3090672" y="4955822"/>
            <a:ext cx="274320" cy="369332"/>
          </a:xfrm>
          <a:prstGeom prst="rect">
            <a:avLst/>
          </a:prstGeom>
          <a:noFill/>
        </p:spPr>
        <p:txBody>
          <a:bodyPr wrap="square">
            <a:spAutoFit/>
          </a:bodyPr>
          <a:lstStyle/>
          <a:p>
            <a:pPr algn="ctr">
              <a:defRPr sz="1800" b="1">
                <a:solidFill>
                  <a:srgbClr val="3466A4"/>
                </a:solidFill>
                <a:latin typeface="Yu Gothic"/>
              </a:defRPr>
            </a:pPr>
            <a:r>
              <a:rPr>
                <a:latin typeface="メイリオ" panose="020B0604030504040204" pitchFamily="50" charset="-128"/>
                <a:ea typeface="メイリオ" panose="020B0604030504040204" pitchFamily="50" charset="-128"/>
              </a:rPr>
              <a:t>→</a:t>
            </a:r>
          </a:p>
        </p:txBody>
      </p:sp>
      <p:sp>
        <p:nvSpPr>
          <p:cNvPr id="37" name="Rounded Rectangle 18">
            <a:extLst>
              <a:ext uri="{FF2B5EF4-FFF2-40B4-BE49-F238E27FC236}">
                <a16:creationId xmlns:a16="http://schemas.microsoft.com/office/drawing/2014/main" id="{0096C4C1-659B-FEA3-3F76-A0057E4E00FB}"/>
              </a:ext>
            </a:extLst>
          </p:cNvPr>
          <p:cNvSpPr/>
          <p:nvPr/>
        </p:nvSpPr>
        <p:spPr>
          <a:xfrm>
            <a:off x="3429000" y="4672358"/>
            <a:ext cx="2331720" cy="105156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39" name="TextBox 19">
            <a:extLst>
              <a:ext uri="{FF2B5EF4-FFF2-40B4-BE49-F238E27FC236}">
                <a16:creationId xmlns:a16="http://schemas.microsoft.com/office/drawing/2014/main" id="{E208677B-F0F4-D637-5BB9-19C1DDB930A9}"/>
              </a:ext>
            </a:extLst>
          </p:cNvPr>
          <p:cNvSpPr txBox="1"/>
          <p:nvPr/>
        </p:nvSpPr>
        <p:spPr>
          <a:xfrm>
            <a:off x="3570732" y="4730513"/>
            <a:ext cx="200253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モデル</a:t>
            </a:r>
            <a:endParaRPr sz="1600" dirty="0">
              <a:latin typeface="メイリオ" panose="020B0604030504040204" pitchFamily="50" charset="-128"/>
              <a:ea typeface="メイリオ" panose="020B0604030504040204" pitchFamily="50" charset="-128"/>
            </a:endParaRPr>
          </a:p>
        </p:txBody>
      </p:sp>
      <p:sp>
        <p:nvSpPr>
          <p:cNvPr id="41" name="TextBox 20">
            <a:extLst>
              <a:ext uri="{FF2B5EF4-FFF2-40B4-BE49-F238E27FC236}">
                <a16:creationId xmlns:a16="http://schemas.microsoft.com/office/drawing/2014/main" id="{77507506-9934-0120-8EF8-E44B1BD33059}"/>
              </a:ext>
            </a:extLst>
          </p:cNvPr>
          <p:cNvSpPr txBox="1"/>
          <p:nvPr/>
        </p:nvSpPr>
        <p:spPr>
          <a:xfrm>
            <a:off x="3593592" y="5147846"/>
            <a:ext cx="2002536" cy="307777"/>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重回帰＋時系列特徴量</a:t>
            </a:r>
            <a:endParaRPr sz="1400" dirty="0">
              <a:latin typeface="メイリオ" panose="020B0604030504040204" pitchFamily="50" charset="-128"/>
              <a:ea typeface="メイリオ" panose="020B0604030504040204" pitchFamily="50" charset="-128"/>
            </a:endParaRPr>
          </a:p>
        </p:txBody>
      </p:sp>
      <p:sp>
        <p:nvSpPr>
          <p:cNvPr id="43" name="TextBox 21">
            <a:extLst>
              <a:ext uri="{FF2B5EF4-FFF2-40B4-BE49-F238E27FC236}">
                <a16:creationId xmlns:a16="http://schemas.microsoft.com/office/drawing/2014/main" id="{E8EBBBCC-409C-B17E-6766-0F1E68203B36}"/>
              </a:ext>
            </a:extLst>
          </p:cNvPr>
          <p:cNvSpPr txBox="1"/>
          <p:nvPr/>
        </p:nvSpPr>
        <p:spPr>
          <a:xfrm>
            <a:off x="5833872" y="4955822"/>
            <a:ext cx="274320" cy="369332"/>
          </a:xfrm>
          <a:prstGeom prst="rect">
            <a:avLst/>
          </a:prstGeom>
          <a:noFill/>
        </p:spPr>
        <p:txBody>
          <a:bodyPr wrap="square">
            <a:spAutoFit/>
          </a:bodyPr>
          <a:lstStyle/>
          <a:p>
            <a:pPr algn="ctr">
              <a:defRPr sz="1800" b="1">
                <a:solidFill>
                  <a:srgbClr val="3466A4"/>
                </a:solidFill>
                <a:latin typeface="Yu Gothic"/>
              </a:defRPr>
            </a:pPr>
            <a:r>
              <a:rPr>
                <a:latin typeface="メイリオ" panose="020B0604030504040204" pitchFamily="50" charset="-128"/>
                <a:ea typeface="メイリオ" panose="020B0604030504040204" pitchFamily="50" charset="-128"/>
              </a:rPr>
              <a:t>→</a:t>
            </a:r>
          </a:p>
        </p:txBody>
      </p:sp>
      <p:sp>
        <p:nvSpPr>
          <p:cNvPr id="45" name="Rounded Rectangle 22">
            <a:extLst>
              <a:ext uri="{FF2B5EF4-FFF2-40B4-BE49-F238E27FC236}">
                <a16:creationId xmlns:a16="http://schemas.microsoft.com/office/drawing/2014/main" id="{762B5BF7-C237-EE6E-86D8-723692BDD27D}"/>
              </a:ext>
            </a:extLst>
          </p:cNvPr>
          <p:cNvSpPr/>
          <p:nvPr/>
        </p:nvSpPr>
        <p:spPr>
          <a:xfrm>
            <a:off x="6172200" y="4672358"/>
            <a:ext cx="2331720" cy="105156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47" name="TextBox 23">
            <a:extLst>
              <a:ext uri="{FF2B5EF4-FFF2-40B4-BE49-F238E27FC236}">
                <a16:creationId xmlns:a16="http://schemas.microsoft.com/office/drawing/2014/main" id="{72A68E78-AB8B-27D5-9005-D2D8E933B112}"/>
              </a:ext>
            </a:extLst>
          </p:cNvPr>
          <p:cNvSpPr txBox="1"/>
          <p:nvPr/>
        </p:nvSpPr>
        <p:spPr>
          <a:xfrm>
            <a:off x="6336792" y="4782086"/>
            <a:ext cx="200253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評価</a:t>
            </a:r>
            <a:endParaRPr sz="1600" dirty="0">
              <a:latin typeface="メイリオ" panose="020B0604030504040204" pitchFamily="50" charset="-128"/>
              <a:ea typeface="メイリオ" panose="020B0604030504040204" pitchFamily="50" charset="-128"/>
            </a:endParaRPr>
          </a:p>
        </p:txBody>
      </p:sp>
      <p:sp>
        <p:nvSpPr>
          <p:cNvPr id="49" name="TextBox 24">
            <a:extLst>
              <a:ext uri="{FF2B5EF4-FFF2-40B4-BE49-F238E27FC236}">
                <a16:creationId xmlns:a16="http://schemas.microsoft.com/office/drawing/2014/main" id="{5B17894C-D132-C579-9612-E259534AF7D6}"/>
              </a:ext>
            </a:extLst>
          </p:cNvPr>
          <p:cNvSpPr txBox="1"/>
          <p:nvPr/>
        </p:nvSpPr>
        <p:spPr>
          <a:xfrm>
            <a:off x="6336792" y="5147846"/>
            <a:ext cx="2002536" cy="307777"/>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現在</a:t>
            </a:r>
            <a:r>
              <a:rPr sz="1400" dirty="0">
                <a:latin typeface="メイリオ" panose="020B0604030504040204" pitchFamily="50" charset="-128"/>
                <a:ea typeface="メイリオ" panose="020B0604030504040204" pitchFamily="50" charset="-128"/>
              </a:rPr>
              <a:t>/1h/24h予測</a:t>
            </a:r>
          </a:p>
        </p:txBody>
      </p:sp>
      <p:sp>
        <p:nvSpPr>
          <p:cNvPr id="51" name="TextBox 25">
            <a:extLst>
              <a:ext uri="{FF2B5EF4-FFF2-40B4-BE49-F238E27FC236}">
                <a16:creationId xmlns:a16="http://schemas.microsoft.com/office/drawing/2014/main" id="{69BD8D1C-5D6E-29E8-38B2-D1E70062ABC7}"/>
              </a:ext>
            </a:extLst>
          </p:cNvPr>
          <p:cNvSpPr txBox="1"/>
          <p:nvPr/>
        </p:nvSpPr>
        <p:spPr>
          <a:xfrm>
            <a:off x="8577072" y="4955822"/>
            <a:ext cx="274320" cy="369332"/>
          </a:xfrm>
          <a:prstGeom prst="rect">
            <a:avLst/>
          </a:prstGeom>
          <a:noFill/>
        </p:spPr>
        <p:txBody>
          <a:bodyPr wrap="square">
            <a:spAutoFit/>
          </a:bodyPr>
          <a:lstStyle/>
          <a:p>
            <a:pPr algn="ctr">
              <a:defRPr sz="1800" b="1">
                <a:solidFill>
                  <a:srgbClr val="3466A4"/>
                </a:solidFill>
                <a:latin typeface="Yu Gothic"/>
              </a:defRPr>
            </a:pPr>
            <a:r>
              <a:rPr>
                <a:latin typeface="メイリオ" panose="020B0604030504040204" pitchFamily="50" charset="-128"/>
                <a:ea typeface="メイリオ" panose="020B0604030504040204" pitchFamily="50" charset="-128"/>
              </a:rPr>
              <a:t>→</a:t>
            </a:r>
          </a:p>
        </p:txBody>
      </p:sp>
      <p:sp>
        <p:nvSpPr>
          <p:cNvPr id="53" name="Rounded Rectangle 26">
            <a:extLst>
              <a:ext uri="{FF2B5EF4-FFF2-40B4-BE49-F238E27FC236}">
                <a16:creationId xmlns:a16="http://schemas.microsoft.com/office/drawing/2014/main" id="{2AD3847E-1996-2A98-C342-AC844143C758}"/>
              </a:ext>
            </a:extLst>
          </p:cNvPr>
          <p:cNvSpPr/>
          <p:nvPr/>
        </p:nvSpPr>
        <p:spPr>
          <a:xfrm>
            <a:off x="8915400" y="4672358"/>
            <a:ext cx="2331720" cy="105156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27">
            <a:extLst>
              <a:ext uri="{FF2B5EF4-FFF2-40B4-BE49-F238E27FC236}">
                <a16:creationId xmlns:a16="http://schemas.microsoft.com/office/drawing/2014/main" id="{BD9C12E2-37C7-0D59-425D-B08148EB62F9}"/>
              </a:ext>
            </a:extLst>
          </p:cNvPr>
          <p:cNvSpPr txBox="1"/>
          <p:nvPr/>
        </p:nvSpPr>
        <p:spPr>
          <a:xfrm>
            <a:off x="9079992" y="4782086"/>
            <a:ext cx="200253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価値</a:t>
            </a:r>
            <a:r>
              <a:rPr lang="ja-JP" altLang="en-US" sz="1600" dirty="0">
                <a:latin typeface="メイリオ" panose="020B0604030504040204" pitchFamily="50" charset="-128"/>
                <a:ea typeface="メイリオ" panose="020B0604030504040204" pitchFamily="50" charset="-128"/>
              </a:rPr>
              <a:t>試算</a:t>
            </a:r>
            <a:endParaRPr sz="1600" dirty="0">
              <a:latin typeface="メイリオ" panose="020B0604030504040204" pitchFamily="50" charset="-128"/>
              <a:ea typeface="メイリオ" panose="020B0604030504040204" pitchFamily="50" charset="-128"/>
            </a:endParaRPr>
          </a:p>
        </p:txBody>
      </p:sp>
      <p:sp>
        <p:nvSpPr>
          <p:cNvPr id="57" name="TextBox 28">
            <a:extLst>
              <a:ext uri="{FF2B5EF4-FFF2-40B4-BE49-F238E27FC236}">
                <a16:creationId xmlns:a16="http://schemas.microsoft.com/office/drawing/2014/main" id="{C97630AF-24F9-1C48-6200-89BEDE1ED176}"/>
              </a:ext>
            </a:extLst>
          </p:cNvPr>
          <p:cNvSpPr txBox="1"/>
          <p:nvPr/>
        </p:nvSpPr>
        <p:spPr>
          <a:xfrm>
            <a:off x="9079992" y="5147846"/>
            <a:ext cx="2002536" cy="307777"/>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アラート・ROI試算</a:t>
            </a:r>
            <a:endParaRPr sz="14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78837"/>
            <a:ext cx="2103120" cy="400110"/>
          </a:xfrm>
          <a:prstGeom prst="rect">
            <a:avLst/>
          </a:prstGeom>
          <a:noFill/>
        </p:spPr>
        <p:txBody>
          <a:bodyPr wrap="square">
            <a:spAutoFit/>
          </a:bodyPr>
          <a:lstStyle/>
          <a:p>
            <a:pPr algn="l">
              <a:defRPr sz="1000" b="1">
                <a:solidFill>
                  <a:srgbClr val="3466A4"/>
                </a:solidFill>
                <a:latin typeface="Yu Gothic"/>
              </a:defRPr>
            </a:pPr>
            <a:r>
              <a:rPr sz="2000" dirty="0" err="1">
                <a:solidFill>
                  <a:schemeClr val="tx2">
                    <a:lumMod val="75000"/>
                  </a:schemeClr>
                </a:solidFill>
              </a:rPr>
              <a:t>データ概要</a:t>
            </a:r>
            <a:endParaRPr sz="2000" dirty="0">
              <a:solidFill>
                <a:schemeClr val="tx2">
                  <a:lumMod val="75000"/>
                </a:schemeClr>
              </a:solidFill>
            </a:endParaRPr>
          </a:p>
        </p:txBody>
      </p:sp>
      <p:sp>
        <p:nvSpPr>
          <p:cNvPr id="3" name="TextBox 2"/>
          <p:cNvSpPr txBox="1"/>
          <p:nvPr/>
        </p:nvSpPr>
        <p:spPr>
          <a:xfrm>
            <a:off x="502920" y="438912"/>
            <a:ext cx="11155680" cy="1184940"/>
          </a:xfrm>
          <a:prstGeom prst="rect">
            <a:avLst/>
          </a:prstGeom>
          <a:noFill/>
        </p:spPr>
        <p:txBody>
          <a:bodyPr wrap="square">
            <a:spAutoFit/>
          </a:bodyPr>
          <a:lstStyle/>
          <a:p>
            <a:pPr>
              <a:defRPr sz="2300" b="1">
                <a:solidFill>
                  <a:srgbClr val="182F49"/>
                </a:solidFill>
                <a:latin typeface="Yu Gothic"/>
              </a:defRPr>
            </a:pPr>
            <a:r>
              <a:rPr lang="en-US" altLang="ja-JP" dirty="0"/>
              <a:t>ETT</a:t>
            </a:r>
            <a:r>
              <a:rPr lang="ja-JP" altLang="en-US" dirty="0"/>
              <a:t>は</a:t>
            </a:r>
            <a:r>
              <a:rPr lang="en-US" altLang="ja-JP" dirty="0"/>
              <a:t>2</a:t>
            </a:r>
            <a:r>
              <a:rPr lang="ja-JP" altLang="en-US" dirty="0"/>
              <a:t>台の変圧器の負荷と油温を約</a:t>
            </a:r>
            <a:r>
              <a:rPr lang="en-US" altLang="ja-JP" dirty="0"/>
              <a:t>2</a:t>
            </a:r>
            <a:r>
              <a:rPr lang="ja-JP" altLang="en-US" dirty="0"/>
              <a:t>年間連続記録した時系列データであり、本</a:t>
            </a:r>
            <a:r>
              <a:rPr lang="en-US" altLang="ja-JP" dirty="0"/>
              <a:t>PoC</a:t>
            </a:r>
            <a:r>
              <a:rPr lang="ja-JP" altLang="en-US" dirty="0"/>
              <a:t>では</a:t>
            </a:r>
            <a:r>
              <a:rPr lang="en-US" altLang="ja-JP" dirty="0"/>
              <a:t>1</a:t>
            </a:r>
            <a:r>
              <a:rPr lang="ja-JP" altLang="en-US" dirty="0"/>
              <a:t>時間間隔データを主に用いた</a:t>
            </a:r>
          </a:p>
          <a:p>
            <a:pPr algn="l">
              <a:defRPr sz="2300" b="1">
                <a:solidFill>
                  <a:srgbClr val="182F49"/>
                </a:solidFill>
                <a:latin typeface="Yu Gothic"/>
              </a:defRPr>
            </a:pPr>
            <a:endParaRPr dirty="0"/>
          </a:p>
        </p:txBody>
      </p:sp>
      <p:sp>
        <p:nvSpPr>
          <p:cNvPr id="4" name="Rectangle 3"/>
          <p:cNvSpPr/>
          <p:nvPr/>
        </p:nvSpPr>
        <p:spPr>
          <a:xfrm>
            <a:off x="502920" y="1161288"/>
            <a:ext cx="1115568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0352" y="6510528"/>
            <a:ext cx="10972800" cy="182880"/>
          </a:xfrm>
          <a:prstGeom prst="rect">
            <a:avLst/>
          </a:prstGeom>
          <a:noFill/>
        </p:spPr>
        <p:txBody>
          <a:bodyPr wrap="square">
            <a:spAutoFit/>
          </a:bodyPr>
          <a:lstStyle/>
          <a:p>
            <a:pPr algn="l">
              <a:defRPr sz="800" b="0">
                <a:solidFill>
                  <a:srgbClr val="697078"/>
                </a:solidFill>
                <a:latin typeface="Yu Gothic"/>
              </a:defRPr>
            </a:pPr>
            <a:r>
              <a:t>出典：ETDataset README / 課題提供データ</a:t>
            </a:r>
          </a:p>
        </p:txBody>
      </p:sp>
      <p:graphicFrame>
        <p:nvGraphicFramePr>
          <p:cNvPr id="6" name="Table 5"/>
          <p:cNvGraphicFramePr>
            <a:graphicFrameLocks noGrp="1"/>
          </p:cNvGraphicFramePr>
          <p:nvPr>
            <p:extLst>
              <p:ext uri="{D42A27DB-BD31-4B8C-83A1-F6EECF244321}">
                <p14:modId xmlns:p14="http://schemas.microsoft.com/office/powerpoint/2010/main" val="3456656954"/>
              </p:ext>
            </p:extLst>
          </p:nvPr>
        </p:nvGraphicFramePr>
        <p:xfrm>
          <a:off x="594360" y="1417320"/>
          <a:ext cx="10972800" cy="1600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20040">
                <a:tc>
                  <a:txBody>
                    <a:bodyPr/>
                    <a:lstStyle/>
                    <a:p>
                      <a:pPr algn="ctr">
                        <a:defRPr sz="1000" b="1">
                          <a:solidFill>
                            <a:srgbClr val="FFFFFF"/>
                          </a:solidFill>
                          <a:latin typeface="Yu Gothic"/>
                        </a:defRPr>
                      </a:pPr>
                      <a:r>
                        <a:rPr sz="1400" dirty="0"/>
                        <a:t>Dataset</a:t>
                      </a: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間隔</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件数</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列数</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期間</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欠損</a:t>
                      </a:r>
                      <a:endParaRPr sz="1400" dirty="0"/>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320040">
                <a:tc>
                  <a:txBody>
                    <a:bodyPr/>
                    <a:lstStyle/>
                    <a:p>
                      <a:pPr algn="ctr">
                        <a:defRPr sz="1000" b="0">
                          <a:solidFill>
                            <a:srgbClr val="2D2D2D"/>
                          </a:solidFill>
                          <a:latin typeface="Yu Gothic"/>
                        </a:defRPr>
                      </a:pPr>
                      <a:r>
                        <a:rPr sz="1200" dirty="0"/>
                        <a:t>ETTh1</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1000" b="0">
                          <a:solidFill>
                            <a:srgbClr val="2D2D2D"/>
                          </a:solidFill>
                          <a:latin typeface="Yu Gothic"/>
                        </a:defRPr>
                      </a:pPr>
                      <a:r>
                        <a:rPr sz="1200" dirty="0"/>
                        <a:t>1時間</a:t>
                      </a:r>
                    </a:p>
                  </a:txBody>
                  <a:tcPr marL="54864" marR="54864" marT="27432" marB="27432">
                    <a:solidFill>
                      <a:srgbClr val="F0F4F8"/>
                    </a:solidFill>
                  </a:tcPr>
                </a:tc>
                <a:tc>
                  <a:txBody>
                    <a:bodyPr/>
                    <a:lstStyle/>
                    <a:p>
                      <a:pPr algn="ctr">
                        <a:defRPr sz="1000" b="0">
                          <a:solidFill>
                            <a:srgbClr val="2D2D2D"/>
                          </a:solidFill>
                          <a:latin typeface="Yu Gothic"/>
                        </a:defRPr>
                      </a:pPr>
                      <a:r>
                        <a:rPr sz="1200"/>
                        <a:t>17,420</a:t>
                      </a:r>
                    </a:p>
                  </a:txBody>
                  <a:tcPr marL="54864" marR="54864" marT="27432" marB="27432">
                    <a:solidFill>
                      <a:srgbClr val="F0F4F8"/>
                    </a:solidFill>
                  </a:tcPr>
                </a:tc>
                <a:tc>
                  <a:txBody>
                    <a:bodyPr/>
                    <a:lstStyle/>
                    <a:p>
                      <a:pPr algn="ctr">
                        <a:defRPr sz="1000" b="0">
                          <a:solidFill>
                            <a:srgbClr val="2D2D2D"/>
                          </a:solidFill>
                          <a:latin typeface="Yu Gothic"/>
                        </a:defRPr>
                      </a:pPr>
                      <a:r>
                        <a:rPr sz="1200" dirty="0"/>
                        <a:t>8</a:t>
                      </a:r>
                    </a:p>
                  </a:txBody>
                  <a:tcPr marL="54864" marR="54864" marT="27432" marB="27432">
                    <a:solidFill>
                      <a:srgbClr val="F0F4F8"/>
                    </a:solidFill>
                  </a:tcPr>
                </a:tc>
                <a:tc>
                  <a:txBody>
                    <a:bodyPr/>
                    <a:lstStyle/>
                    <a:p>
                      <a:pPr algn="ctr">
                        <a:defRPr sz="1000" b="0">
                          <a:solidFill>
                            <a:srgbClr val="2D2D2D"/>
                          </a:solidFill>
                          <a:latin typeface="Yu Gothic"/>
                        </a:defRPr>
                      </a:pPr>
                      <a:r>
                        <a:rPr sz="1200" dirty="0"/>
                        <a:t>2016/7/1–2018/6/26</a:t>
                      </a:r>
                    </a:p>
                  </a:txBody>
                  <a:tcPr marL="54864" marR="54864" marT="27432" marB="27432">
                    <a:solidFill>
                      <a:srgbClr val="F0F4F8"/>
                    </a:solidFill>
                  </a:tcPr>
                </a:tc>
                <a:tc>
                  <a:txBody>
                    <a:bodyPr/>
                    <a:lstStyle/>
                    <a:p>
                      <a:pPr algn="ctr">
                        <a:defRPr sz="1000" b="0">
                          <a:solidFill>
                            <a:srgbClr val="2D2D2D"/>
                          </a:solidFill>
                          <a:latin typeface="Yu Gothic"/>
                        </a:defRPr>
                      </a:pPr>
                      <a:r>
                        <a:rPr sz="1200"/>
                        <a:t>0</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320040">
                <a:tc>
                  <a:txBody>
                    <a:bodyPr/>
                    <a:lstStyle/>
                    <a:p>
                      <a:pPr algn="ctr">
                        <a:defRPr sz="1000" b="0">
                          <a:solidFill>
                            <a:srgbClr val="2D2D2D"/>
                          </a:solidFill>
                          <a:latin typeface="Yu Gothic"/>
                        </a:defRPr>
                      </a:pPr>
                      <a:r>
                        <a:rPr sz="1200" dirty="0"/>
                        <a:t>ETTh2</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1000" b="0">
                          <a:solidFill>
                            <a:srgbClr val="2D2D2D"/>
                          </a:solidFill>
                          <a:latin typeface="Yu Gothic"/>
                        </a:defRPr>
                      </a:pPr>
                      <a:r>
                        <a:rPr sz="1200" dirty="0"/>
                        <a:t>1時間</a:t>
                      </a:r>
                    </a:p>
                  </a:txBody>
                  <a:tcPr marL="54864" marR="54864" marT="27432" marB="27432">
                    <a:solidFill>
                      <a:srgbClr val="FFFFFF"/>
                    </a:solidFill>
                  </a:tcPr>
                </a:tc>
                <a:tc>
                  <a:txBody>
                    <a:bodyPr/>
                    <a:lstStyle/>
                    <a:p>
                      <a:pPr algn="ctr">
                        <a:defRPr sz="1000" b="0">
                          <a:solidFill>
                            <a:srgbClr val="2D2D2D"/>
                          </a:solidFill>
                          <a:latin typeface="Yu Gothic"/>
                        </a:defRPr>
                      </a:pPr>
                      <a:r>
                        <a:rPr sz="1200" dirty="0"/>
                        <a:t>17,420</a:t>
                      </a:r>
                    </a:p>
                  </a:txBody>
                  <a:tcPr marL="54864" marR="54864" marT="27432" marB="27432">
                    <a:solidFill>
                      <a:srgbClr val="FFFFFF"/>
                    </a:solidFill>
                  </a:tcPr>
                </a:tc>
                <a:tc>
                  <a:txBody>
                    <a:bodyPr/>
                    <a:lstStyle/>
                    <a:p>
                      <a:pPr algn="ctr">
                        <a:defRPr sz="1000" b="0">
                          <a:solidFill>
                            <a:srgbClr val="2D2D2D"/>
                          </a:solidFill>
                          <a:latin typeface="Yu Gothic"/>
                        </a:defRPr>
                      </a:pPr>
                      <a:r>
                        <a:rPr sz="1200" dirty="0"/>
                        <a:t>8</a:t>
                      </a:r>
                    </a:p>
                  </a:txBody>
                  <a:tcPr marL="54864" marR="54864" marT="27432" marB="27432">
                    <a:solidFill>
                      <a:srgbClr val="FFFFFF"/>
                    </a:solidFill>
                  </a:tcPr>
                </a:tc>
                <a:tc>
                  <a:txBody>
                    <a:bodyPr/>
                    <a:lstStyle/>
                    <a:p>
                      <a:pPr algn="ctr">
                        <a:defRPr sz="1000" b="0">
                          <a:solidFill>
                            <a:srgbClr val="2D2D2D"/>
                          </a:solidFill>
                          <a:latin typeface="Yu Gothic"/>
                        </a:defRPr>
                      </a:pPr>
                      <a:r>
                        <a:rPr sz="1200"/>
                        <a:t>2016/7/1–2018/6/26</a:t>
                      </a:r>
                    </a:p>
                  </a:txBody>
                  <a:tcPr marL="54864" marR="54864" marT="27432" marB="27432">
                    <a:solidFill>
                      <a:srgbClr val="FFFFFF"/>
                    </a:solidFill>
                  </a:tcPr>
                </a:tc>
                <a:tc>
                  <a:txBody>
                    <a:bodyPr/>
                    <a:lstStyle/>
                    <a:p>
                      <a:pPr algn="ctr">
                        <a:defRPr sz="1000" b="0">
                          <a:solidFill>
                            <a:srgbClr val="2D2D2D"/>
                          </a:solidFill>
                          <a:latin typeface="Yu Gothic"/>
                        </a:defRPr>
                      </a:pPr>
                      <a:r>
                        <a:rPr sz="1200" dirty="0"/>
                        <a:t>0</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320040">
                <a:tc>
                  <a:txBody>
                    <a:bodyPr/>
                    <a:lstStyle/>
                    <a:p>
                      <a:pPr algn="ctr">
                        <a:defRPr sz="1000" b="0">
                          <a:solidFill>
                            <a:srgbClr val="2D2D2D"/>
                          </a:solidFill>
                          <a:latin typeface="Yu Gothic"/>
                        </a:defRPr>
                      </a:pPr>
                      <a:r>
                        <a:rPr sz="1200" dirty="0"/>
                        <a:t>ETTm1</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1000" b="0">
                          <a:solidFill>
                            <a:srgbClr val="2D2D2D"/>
                          </a:solidFill>
                          <a:latin typeface="Yu Gothic"/>
                        </a:defRPr>
                      </a:pPr>
                      <a:r>
                        <a:rPr sz="1200" dirty="0"/>
                        <a:t>15分</a:t>
                      </a:r>
                    </a:p>
                  </a:txBody>
                  <a:tcPr marL="54864" marR="54864" marT="27432" marB="27432">
                    <a:solidFill>
                      <a:srgbClr val="F0F4F8"/>
                    </a:solidFill>
                  </a:tcPr>
                </a:tc>
                <a:tc>
                  <a:txBody>
                    <a:bodyPr/>
                    <a:lstStyle/>
                    <a:p>
                      <a:pPr algn="ctr">
                        <a:defRPr sz="1000" b="0">
                          <a:solidFill>
                            <a:srgbClr val="2D2D2D"/>
                          </a:solidFill>
                          <a:latin typeface="Yu Gothic"/>
                        </a:defRPr>
                      </a:pPr>
                      <a:r>
                        <a:rPr sz="1200" dirty="0"/>
                        <a:t>69,680</a:t>
                      </a:r>
                    </a:p>
                  </a:txBody>
                  <a:tcPr marL="54864" marR="54864" marT="27432" marB="27432">
                    <a:solidFill>
                      <a:srgbClr val="F0F4F8"/>
                    </a:solidFill>
                  </a:tcPr>
                </a:tc>
                <a:tc>
                  <a:txBody>
                    <a:bodyPr/>
                    <a:lstStyle/>
                    <a:p>
                      <a:pPr algn="ctr">
                        <a:defRPr sz="1000" b="0">
                          <a:solidFill>
                            <a:srgbClr val="2D2D2D"/>
                          </a:solidFill>
                          <a:latin typeface="Yu Gothic"/>
                        </a:defRPr>
                      </a:pPr>
                      <a:r>
                        <a:rPr sz="1200"/>
                        <a:t>8</a:t>
                      </a:r>
                    </a:p>
                  </a:txBody>
                  <a:tcPr marL="54864" marR="54864" marT="27432" marB="27432">
                    <a:solidFill>
                      <a:srgbClr val="F0F4F8"/>
                    </a:solidFill>
                  </a:tcPr>
                </a:tc>
                <a:tc>
                  <a:txBody>
                    <a:bodyPr/>
                    <a:lstStyle/>
                    <a:p>
                      <a:pPr algn="ctr">
                        <a:defRPr sz="1000" b="0">
                          <a:solidFill>
                            <a:srgbClr val="2D2D2D"/>
                          </a:solidFill>
                          <a:latin typeface="Yu Gothic"/>
                        </a:defRPr>
                      </a:pPr>
                      <a:r>
                        <a:rPr sz="1200" dirty="0"/>
                        <a:t>2016/7/1–2018/6/26</a:t>
                      </a:r>
                    </a:p>
                  </a:txBody>
                  <a:tcPr marL="54864" marR="54864" marT="27432" marB="27432">
                    <a:solidFill>
                      <a:srgbClr val="F0F4F8"/>
                    </a:solidFill>
                  </a:tcPr>
                </a:tc>
                <a:tc>
                  <a:txBody>
                    <a:bodyPr/>
                    <a:lstStyle/>
                    <a:p>
                      <a:pPr algn="ctr">
                        <a:defRPr sz="1000" b="0">
                          <a:solidFill>
                            <a:srgbClr val="2D2D2D"/>
                          </a:solidFill>
                          <a:latin typeface="Yu Gothic"/>
                        </a:defRPr>
                      </a:pPr>
                      <a:r>
                        <a:rPr sz="1200" dirty="0"/>
                        <a:t>0</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3"/>
                  </a:ext>
                </a:extLst>
              </a:tr>
              <a:tr h="320040">
                <a:tc>
                  <a:txBody>
                    <a:bodyPr/>
                    <a:lstStyle/>
                    <a:p>
                      <a:pPr algn="ctr">
                        <a:defRPr sz="1000" b="0">
                          <a:solidFill>
                            <a:srgbClr val="2D2D2D"/>
                          </a:solidFill>
                          <a:latin typeface="Yu Gothic"/>
                        </a:defRPr>
                      </a:pPr>
                      <a:r>
                        <a:rPr sz="1200" dirty="0"/>
                        <a:t>ETTm2</a:t>
                      </a: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sz="1200" dirty="0"/>
                        <a:t>15分</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sz="1200"/>
                        <a:t>69,680</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sz="1200"/>
                        <a:t>8</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sz="1200"/>
                        <a:t>2016/7/1–2018/6/26</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sz="1200" dirty="0"/>
                        <a:t>0</a:t>
                      </a:r>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349102166"/>
              </p:ext>
            </p:extLst>
          </p:nvPr>
        </p:nvGraphicFramePr>
        <p:xfrm>
          <a:off x="594360" y="3337560"/>
          <a:ext cx="5486400" cy="25603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84480">
                <a:tc>
                  <a:txBody>
                    <a:bodyPr/>
                    <a:lstStyle/>
                    <a:p>
                      <a:pPr algn="ctr">
                        <a:defRPr sz="900" b="1">
                          <a:solidFill>
                            <a:srgbClr val="FFFFFF"/>
                          </a:solidFill>
                          <a:latin typeface="Yu Gothic"/>
                        </a:defRPr>
                      </a:pPr>
                      <a:r>
                        <a:rPr sz="1400" dirty="0">
                          <a:latin typeface="メイリオ" panose="020B0604030504040204" pitchFamily="50" charset="-128"/>
                          <a:ea typeface="メイリオ" panose="020B0604030504040204" pitchFamily="50" charset="-128"/>
                        </a:rPr>
                        <a:t>Column</a:t>
                      </a: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err="1">
                          <a:latin typeface="メイリオ" panose="020B0604030504040204" pitchFamily="50" charset="-128"/>
                          <a:ea typeface="メイリオ" panose="020B0604030504040204" pitchFamily="50" charset="-128"/>
                        </a:rPr>
                        <a:t>意味</a:t>
                      </a:r>
                      <a:endParaRPr sz="14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284480">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date</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記録日時</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284480">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HUFL</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High </a:t>
                      </a:r>
                      <a:r>
                        <a:rPr sz="1200" dirty="0" err="1">
                          <a:latin typeface="メイリオ" panose="020B0604030504040204" pitchFamily="50" charset="-128"/>
                          <a:ea typeface="メイリオ" panose="020B0604030504040204" pitchFamily="50" charset="-128"/>
                        </a:rPr>
                        <a:t>UseFul</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284480">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HULL</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High </a:t>
                      </a:r>
                      <a:r>
                        <a:rPr sz="1200" dirty="0" err="1">
                          <a:latin typeface="メイリオ" panose="020B0604030504040204" pitchFamily="50" charset="-128"/>
                          <a:ea typeface="メイリオ" panose="020B0604030504040204" pitchFamily="50" charset="-128"/>
                        </a:rPr>
                        <a:t>UseLess</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3"/>
                  </a:ext>
                </a:extLst>
              </a:tr>
              <a:tr h="284480">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MUFL</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Middle </a:t>
                      </a:r>
                      <a:r>
                        <a:rPr sz="1200" dirty="0" err="1">
                          <a:latin typeface="メイリオ" panose="020B0604030504040204" pitchFamily="50" charset="-128"/>
                          <a:ea typeface="メイリオ" panose="020B0604030504040204" pitchFamily="50" charset="-128"/>
                        </a:rPr>
                        <a:t>UseFul</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4"/>
                  </a:ext>
                </a:extLst>
              </a:tr>
              <a:tr h="284480">
                <a:tc>
                  <a:txBody>
                    <a:bodyPr/>
                    <a:lstStyle/>
                    <a:p>
                      <a:pPr algn="ctr">
                        <a:defRPr sz="900" b="0">
                          <a:solidFill>
                            <a:srgbClr val="2D2D2D"/>
                          </a:solidFill>
                          <a:latin typeface="Yu Gothic"/>
                        </a:defRPr>
                      </a:pPr>
                      <a:r>
                        <a:rPr sz="1200">
                          <a:latin typeface="メイリオ" panose="020B0604030504040204" pitchFamily="50" charset="-128"/>
                          <a:ea typeface="メイリオ" panose="020B0604030504040204" pitchFamily="50" charset="-128"/>
                        </a:rPr>
                        <a:t>MULL</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Middle </a:t>
                      </a:r>
                      <a:r>
                        <a:rPr sz="1200" dirty="0" err="1">
                          <a:latin typeface="メイリオ" panose="020B0604030504040204" pitchFamily="50" charset="-128"/>
                          <a:ea typeface="メイリオ" panose="020B0604030504040204" pitchFamily="50" charset="-128"/>
                        </a:rPr>
                        <a:t>UseLess</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5"/>
                  </a:ext>
                </a:extLst>
              </a:tr>
              <a:tr h="284480">
                <a:tc>
                  <a:txBody>
                    <a:bodyPr/>
                    <a:lstStyle/>
                    <a:p>
                      <a:pPr algn="ctr">
                        <a:defRPr sz="900" b="0">
                          <a:solidFill>
                            <a:srgbClr val="2D2D2D"/>
                          </a:solidFill>
                          <a:latin typeface="Yu Gothic"/>
                        </a:defRPr>
                      </a:pPr>
                      <a:r>
                        <a:rPr sz="1200">
                          <a:latin typeface="メイリオ" panose="020B0604030504040204" pitchFamily="50" charset="-128"/>
                          <a:ea typeface="メイリオ" panose="020B0604030504040204" pitchFamily="50" charset="-128"/>
                        </a:rPr>
                        <a:t>LUFL</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Low </a:t>
                      </a:r>
                      <a:r>
                        <a:rPr sz="1200" dirty="0" err="1">
                          <a:latin typeface="メイリオ" panose="020B0604030504040204" pitchFamily="50" charset="-128"/>
                          <a:ea typeface="メイリオ" panose="020B0604030504040204" pitchFamily="50" charset="-128"/>
                        </a:rPr>
                        <a:t>UseFul</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6"/>
                  </a:ext>
                </a:extLst>
              </a:tr>
              <a:tr h="284480">
                <a:tc>
                  <a:txBody>
                    <a:bodyPr/>
                    <a:lstStyle/>
                    <a:p>
                      <a:pPr algn="ctr">
                        <a:defRPr sz="900" b="0">
                          <a:solidFill>
                            <a:srgbClr val="2D2D2D"/>
                          </a:solidFill>
                          <a:latin typeface="Yu Gothic"/>
                        </a:defRPr>
                      </a:pPr>
                      <a:r>
                        <a:rPr sz="1200">
                          <a:latin typeface="メイリオ" panose="020B0604030504040204" pitchFamily="50" charset="-128"/>
                          <a:ea typeface="メイリオ" panose="020B0604030504040204" pitchFamily="50" charset="-128"/>
                        </a:rPr>
                        <a:t>LULL</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Low </a:t>
                      </a:r>
                      <a:r>
                        <a:rPr sz="1200" dirty="0" err="1">
                          <a:latin typeface="メイリオ" panose="020B0604030504040204" pitchFamily="50" charset="-128"/>
                          <a:ea typeface="メイリオ" panose="020B0604030504040204" pitchFamily="50" charset="-128"/>
                        </a:rPr>
                        <a:t>UseLess</a:t>
                      </a:r>
                      <a:r>
                        <a:rPr sz="1200" dirty="0">
                          <a:latin typeface="メイリオ" panose="020B0604030504040204" pitchFamily="50" charset="-128"/>
                          <a:ea typeface="メイリオ" panose="020B0604030504040204" pitchFamily="50" charset="-128"/>
                        </a:rPr>
                        <a:t> Load</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7"/>
                  </a:ext>
                </a:extLst>
              </a:tr>
              <a:tr h="284480">
                <a:tc>
                  <a:txBody>
                    <a:bodyPr/>
                    <a:lstStyle/>
                    <a:p>
                      <a:pPr algn="ctr">
                        <a:defRPr sz="900" b="0">
                          <a:solidFill>
                            <a:srgbClr val="2D2D2D"/>
                          </a:solidFill>
                          <a:latin typeface="Yu Gothic"/>
                        </a:defRPr>
                      </a:pPr>
                      <a:r>
                        <a:rPr sz="1200">
                          <a:latin typeface="メイリオ" panose="020B0604030504040204" pitchFamily="50" charset="-128"/>
                          <a:ea typeface="メイリオ" panose="020B0604030504040204" pitchFamily="50" charset="-128"/>
                        </a:rPr>
                        <a:t>OT</a:t>
                      </a: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Oil </a:t>
                      </a:r>
                      <a:r>
                        <a:rPr sz="1200" dirty="0" err="1">
                          <a:latin typeface="メイリオ" panose="020B0604030504040204" pitchFamily="50" charset="-128"/>
                          <a:ea typeface="メイリオ" panose="020B0604030504040204" pitchFamily="50" charset="-128"/>
                        </a:rPr>
                        <a:t>Temperature（目的変数</a:t>
                      </a:r>
                      <a:r>
                        <a:rPr sz="1200" dirty="0">
                          <a:latin typeface="メイリオ" panose="020B0604030504040204" pitchFamily="50" charset="-128"/>
                          <a:ea typeface="メイリオ" panose="020B0604030504040204" pitchFamily="50" charset="-128"/>
                        </a:rPr>
                        <a:t>）</a:t>
                      </a:r>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8" name="Rounded Rectangle 7"/>
          <p:cNvSpPr/>
          <p:nvPr/>
        </p:nvSpPr>
        <p:spPr>
          <a:xfrm>
            <a:off x="6446520" y="3337560"/>
            <a:ext cx="5074920" cy="123444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11112" y="3447288"/>
            <a:ext cx="474573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今回のモデル対象</a:t>
            </a:r>
            <a:endParaRPr sz="1600" dirty="0">
              <a:latin typeface="メイリオ" panose="020B0604030504040204" pitchFamily="50" charset="-128"/>
              <a:ea typeface="メイリオ" panose="020B0604030504040204" pitchFamily="50" charset="-128"/>
            </a:endParaRPr>
          </a:p>
        </p:txBody>
      </p:sp>
      <p:sp>
        <p:nvSpPr>
          <p:cNvPr id="10" name="TextBox 9"/>
          <p:cNvSpPr txBox="1"/>
          <p:nvPr/>
        </p:nvSpPr>
        <p:spPr>
          <a:xfrm>
            <a:off x="6611112" y="3813048"/>
            <a:ext cx="4745736" cy="738664"/>
          </a:xfrm>
          <a:prstGeom prst="rect">
            <a:avLst/>
          </a:prstGeom>
          <a:noFill/>
        </p:spPr>
        <p:txBody>
          <a:bodyPr wrap="square">
            <a:spAutoFit/>
          </a:bodyPr>
          <a:lstStyle/>
          <a:p>
            <a:pPr algn="l">
              <a:defRPr sz="1100" b="0">
                <a:solidFill>
                  <a:srgbClr val="2D2D2D"/>
                </a:solidFill>
                <a:latin typeface="Yu Gothic"/>
              </a:defRPr>
            </a:pPr>
            <a:r>
              <a:rPr sz="1400" dirty="0">
                <a:latin typeface="メイリオ" panose="020B0604030504040204" pitchFamily="50" charset="-128"/>
                <a:ea typeface="メイリオ" panose="020B0604030504040204" pitchFamily="50" charset="-128"/>
              </a:rPr>
              <a:t>ETTh1 / ETTh2（1時間間隔）を主に使用。</a:t>
            </a:r>
            <a:br>
              <a:rPr sz="1400" dirty="0">
                <a:latin typeface="メイリオ" panose="020B0604030504040204" pitchFamily="50" charset="-128"/>
                <a:ea typeface="メイリオ" panose="020B0604030504040204" pitchFamily="50" charset="-128"/>
              </a:rPr>
            </a:br>
            <a:r>
              <a:rPr sz="1400" dirty="0">
                <a:latin typeface="メイリオ" panose="020B0604030504040204" pitchFamily="50" charset="-128"/>
                <a:ea typeface="メイリオ" panose="020B0604030504040204" pitchFamily="50" charset="-128"/>
              </a:rPr>
              <a:t>ETTm1 / ETTm2</a:t>
            </a:r>
            <a:r>
              <a:rPr lang="ja-JP" altLang="en-US" sz="1400" dirty="0">
                <a:latin typeface="メイリオ" panose="020B0604030504040204" pitchFamily="50" charset="-128"/>
                <a:ea typeface="メイリオ" panose="020B0604030504040204" pitchFamily="50" charset="-128"/>
              </a:rPr>
              <a:t>（</a:t>
            </a:r>
            <a:r>
              <a:rPr lang="en-US" altLang="ja-JP" sz="1400" dirty="0">
                <a:latin typeface="メイリオ" panose="020B0604030504040204" pitchFamily="50" charset="-128"/>
                <a:ea typeface="メイリオ" panose="020B0604030504040204" pitchFamily="50" charset="-128"/>
              </a:rPr>
              <a:t>15</a:t>
            </a:r>
            <a:r>
              <a:rPr lang="ja-JP" altLang="en-US" sz="1400" dirty="0">
                <a:latin typeface="メイリオ" panose="020B0604030504040204" pitchFamily="50" charset="-128"/>
                <a:ea typeface="メイリオ" panose="020B0604030504040204" pitchFamily="50" charset="-128"/>
              </a:rPr>
              <a:t>分間隔）</a:t>
            </a:r>
            <a:r>
              <a:rPr sz="1400" dirty="0" err="1">
                <a:latin typeface="メイリオ" panose="020B0604030504040204" pitchFamily="50" charset="-128"/>
                <a:ea typeface="メイリオ" panose="020B0604030504040204" pitchFamily="50" charset="-128"/>
              </a:rPr>
              <a:t>は日内変化のEDAで補助的に使用</a:t>
            </a:r>
            <a:r>
              <a:rPr dirty="0"/>
              <a:t>。</a:t>
            </a:r>
          </a:p>
        </p:txBody>
      </p:sp>
      <p:sp>
        <p:nvSpPr>
          <p:cNvPr id="11" name="Rounded Rectangle 10"/>
          <p:cNvSpPr/>
          <p:nvPr/>
        </p:nvSpPr>
        <p:spPr>
          <a:xfrm>
            <a:off x="6446520" y="4754880"/>
            <a:ext cx="5074920" cy="114300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11112" y="4864608"/>
            <a:ext cx="4745736" cy="338554"/>
          </a:xfrm>
          <a:prstGeom prst="rect">
            <a:avLst/>
          </a:prstGeom>
          <a:noFill/>
        </p:spPr>
        <p:txBody>
          <a:bodyPr wrap="square">
            <a:spAutoFit/>
          </a:bodyPr>
          <a:lstStyle/>
          <a:p>
            <a:pPr algn="l">
              <a:defRPr sz="1300" b="1">
                <a:solidFill>
                  <a:srgbClr val="26785B"/>
                </a:solidFill>
                <a:latin typeface="Yu Gothic"/>
              </a:defRPr>
            </a:pPr>
            <a:r>
              <a:rPr sz="1600" dirty="0" err="1">
                <a:latin typeface="メイリオ" panose="020B0604030504040204" pitchFamily="50" charset="-128"/>
                <a:ea typeface="メイリオ" panose="020B0604030504040204" pitchFamily="50" charset="-128"/>
              </a:rPr>
              <a:t>データ品質</a:t>
            </a:r>
            <a:endParaRPr sz="1600" dirty="0">
              <a:latin typeface="メイリオ" panose="020B0604030504040204" pitchFamily="50" charset="-128"/>
              <a:ea typeface="メイリオ" panose="020B0604030504040204" pitchFamily="50" charset="-128"/>
            </a:endParaRPr>
          </a:p>
        </p:txBody>
      </p:sp>
      <p:sp>
        <p:nvSpPr>
          <p:cNvPr id="13" name="TextBox 12"/>
          <p:cNvSpPr txBox="1"/>
          <p:nvPr/>
        </p:nvSpPr>
        <p:spPr>
          <a:xfrm>
            <a:off x="6611112" y="5230368"/>
            <a:ext cx="4745736" cy="523220"/>
          </a:xfrm>
          <a:prstGeom prst="rect">
            <a:avLst/>
          </a:prstGeom>
          <a:noFill/>
        </p:spPr>
        <p:txBody>
          <a:bodyPr wrap="square">
            <a:spAutoFit/>
          </a:bodyPr>
          <a:lstStyle/>
          <a:p>
            <a:pPr algn="l">
              <a:defRPr sz="1100" b="0">
                <a:solidFill>
                  <a:srgbClr val="2D2D2D"/>
                </a:solidFill>
                <a:latin typeface="Yu Gothic"/>
              </a:defRPr>
            </a:pPr>
            <a:r>
              <a:rPr sz="1400" dirty="0">
                <a:latin typeface="メイリオ" panose="020B0604030504040204" pitchFamily="50" charset="-128"/>
                <a:ea typeface="メイリオ" panose="020B0604030504040204" pitchFamily="50" charset="-128"/>
              </a:rPr>
              <a:t>全4ファイルで欠損値・重複行なし。</a:t>
            </a:r>
            <a:br>
              <a:rPr sz="1400" dirty="0">
                <a:latin typeface="メイリオ" panose="020B0604030504040204" pitchFamily="50" charset="-128"/>
                <a:ea typeface="メイリオ" panose="020B0604030504040204" pitchFamily="50" charset="-128"/>
              </a:rPr>
            </a:br>
            <a:r>
              <a:rPr sz="1400" dirty="0" err="1">
                <a:latin typeface="メイリオ" panose="020B0604030504040204" pitchFamily="50" charset="-128"/>
                <a:ea typeface="メイリオ" panose="020B0604030504040204" pitchFamily="50" charset="-128"/>
              </a:rPr>
              <a:t>時系列順を維持して学習・評価を実施</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64592"/>
            <a:ext cx="3168748" cy="400110"/>
          </a:xfrm>
          <a:prstGeom prst="rect">
            <a:avLst/>
          </a:prstGeom>
          <a:noFill/>
        </p:spPr>
        <p:txBody>
          <a:bodyPr wrap="square">
            <a:spAutoFit/>
          </a:bodyPr>
          <a:lstStyle/>
          <a:p>
            <a:pPr algn="l">
              <a:defRPr sz="1000" b="1">
                <a:solidFill>
                  <a:srgbClr val="3466A4"/>
                </a:solidFill>
                <a:latin typeface="Yu Gothic"/>
              </a:defRPr>
            </a:pPr>
            <a:r>
              <a:rPr sz="2000" dirty="0">
                <a:solidFill>
                  <a:schemeClr val="tx2">
                    <a:lumMod val="75000"/>
                  </a:schemeClr>
                </a:solidFill>
                <a:latin typeface="メイリオ" panose="020B0604030504040204" pitchFamily="50" charset="-128"/>
                <a:ea typeface="メイリオ" panose="020B0604030504040204" pitchFamily="50" charset="-128"/>
              </a:rPr>
              <a:t>EDA ｜</a:t>
            </a:r>
            <a:r>
              <a:rPr sz="2000" dirty="0" err="1">
                <a:solidFill>
                  <a:schemeClr val="tx2">
                    <a:lumMod val="75000"/>
                  </a:schemeClr>
                </a:solidFill>
                <a:latin typeface="メイリオ" panose="020B0604030504040204" pitchFamily="50" charset="-128"/>
                <a:ea typeface="メイリオ" panose="020B0604030504040204" pitchFamily="50" charset="-128"/>
              </a:rPr>
              <a:t>時間的周期性</a:t>
            </a:r>
            <a:endParaRPr sz="2000" dirty="0">
              <a:solidFill>
                <a:schemeClr val="tx2">
                  <a:lumMod val="75000"/>
                </a:schemeClr>
              </a:solidFill>
              <a:latin typeface="メイリオ" panose="020B0604030504040204" pitchFamily="50" charset="-128"/>
              <a:ea typeface="メイリオ" panose="020B0604030504040204" pitchFamily="50" charset="-128"/>
            </a:endParaRPr>
          </a:p>
        </p:txBody>
      </p:sp>
      <p:sp>
        <p:nvSpPr>
          <p:cNvPr id="3" name="TextBox 2"/>
          <p:cNvSpPr txBox="1"/>
          <p:nvPr/>
        </p:nvSpPr>
        <p:spPr>
          <a:xfrm>
            <a:off x="502920" y="608076"/>
            <a:ext cx="11155680" cy="446276"/>
          </a:xfrm>
          <a:prstGeom prst="rect">
            <a:avLst/>
          </a:prstGeom>
          <a:noFill/>
        </p:spPr>
        <p:txBody>
          <a:bodyPr wrap="square">
            <a:spAutoFit/>
          </a:bodyPr>
          <a:lstStyle/>
          <a:p>
            <a:pPr algn="l">
              <a:defRPr sz="2300" b="1">
                <a:solidFill>
                  <a:srgbClr val="182F49"/>
                </a:solidFill>
                <a:latin typeface="Yu Gothic"/>
              </a:defRPr>
            </a:pPr>
            <a:r>
              <a:rPr dirty="0" err="1">
                <a:latin typeface="メイリオ" panose="020B0604030504040204" pitchFamily="50" charset="-128"/>
                <a:ea typeface="メイリオ" panose="020B0604030504040204" pitchFamily="50" charset="-128"/>
              </a:rPr>
              <a:t>油温には季節周期と日内周期があり、日時情報は重要な予測因子</a:t>
            </a:r>
            <a:endParaRPr dirty="0">
              <a:latin typeface="メイリオ" panose="020B0604030504040204" pitchFamily="50" charset="-128"/>
              <a:ea typeface="メイリオ" panose="020B0604030504040204" pitchFamily="50" charset="-128"/>
            </a:endParaRPr>
          </a:p>
        </p:txBody>
      </p:sp>
      <p:sp>
        <p:nvSpPr>
          <p:cNvPr id="4" name="Rectangle 3"/>
          <p:cNvSpPr/>
          <p:nvPr/>
        </p:nvSpPr>
        <p:spPr>
          <a:xfrm>
            <a:off x="502920" y="1161288"/>
            <a:ext cx="1115568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1" name="Rounded Rectangle 10"/>
          <p:cNvSpPr/>
          <p:nvPr/>
        </p:nvSpPr>
        <p:spPr>
          <a:xfrm>
            <a:off x="594360" y="5347556"/>
            <a:ext cx="5394960" cy="1345852"/>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2" name="TextBox 11"/>
          <p:cNvSpPr txBox="1"/>
          <p:nvPr/>
        </p:nvSpPr>
        <p:spPr>
          <a:xfrm>
            <a:off x="758952" y="5457284"/>
            <a:ext cx="506577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観察</a:t>
            </a:r>
            <a:endParaRPr sz="1600" dirty="0">
              <a:latin typeface="メイリオ" panose="020B0604030504040204" pitchFamily="50" charset="-128"/>
              <a:ea typeface="メイリオ" panose="020B0604030504040204" pitchFamily="50" charset="-128"/>
            </a:endParaRPr>
          </a:p>
        </p:txBody>
      </p:sp>
      <p:sp>
        <p:nvSpPr>
          <p:cNvPr id="13" name="TextBox 12"/>
          <p:cNvSpPr txBox="1"/>
          <p:nvPr/>
        </p:nvSpPr>
        <p:spPr>
          <a:xfrm>
            <a:off x="758952" y="5823044"/>
            <a:ext cx="5065776" cy="738664"/>
          </a:xfrm>
          <a:prstGeom prst="rect">
            <a:avLst/>
          </a:prstGeom>
          <a:noFill/>
        </p:spPr>
        <p:txBody>
          <a:bodyPr wrap="square">
            <a:spAutoFit/>
          </a:bodyPr>
          <a:lstStyle/>
          <a:p>
            <a:pPr algn="l">
              <a:defRPr sz="1100" b="0">
                <a:solidFill>
                  <a:srgbClr val="2D2D2D"/>
                </a:solidFill>
                <a:latin typeface="Yu Gothic"/>
              </a:defRPr>
            </a:pPr>
            <a:r>
              <a:rPr sz="1400" dirty="0">
                <a:latin typeface="メイリオ" panose="020B0604030504040204" pitchFamily="50" charset="-128"/>
                <a:ea typeface="メイリオ" panose="020B0604030504040204" pitchFamily="50" charset="-128"/>
              </a:rPr>
              <a:t>2017年の月平均では両変圧器とも夏季に高く、ETTh1は7月約21.0</a:t>
            </a:r>
            <a:r>
              <a:rPr lang="ja-JP" altLang="en-US" sz="1400" dirty="0">
                <a:latin typeface="メイリオ" panose="020B0604030504040204" pitchFamily="50" charset="-128"/>
                <a:ea typeface="メイリオ" panose="020B0604030504040204" pitchFamily="50" charset="-128"/>
              </a:rPr>
              <a:t>℃</a:t>
            </a:r>
            <a:r>
              <a:rPr sz="1400" dirty="0">
                <a:latin typeface="メイリオ" panose="020B0604030504040204" pitchFamily="50" charset="-128"/>
                <a:ea typeface="メイリオ" panose="020B0604030504040204" pitchFamily="50" charset="-128"/>
              </a:rPr>
              <a:t>、ETTh2は7月約43.2</a:t>
            </a:r>
            <a:r>
              <a:rPr lang="ja-JP" altLang="en-US" sz="1400" dirty="0">
                <a:latin typeface="メイリオ" panose="020B0604030504040204" pitchFamily="50" charset="-128"/>
                <a:ea typeface="メイリオ" panose="020B0604030504040204" pitchFamily="50" charset="-128"/>
              </a:rPr>
              <a:t>℃</a:t>
            </a:r>
            <a:r>
              <a:rPr sz="1400" dirty="0">
                <a:latin typeface="メイリオ" panose="020B0604030504040204" pitchFamily="50" charset="-128"/>
                <a:ea typeface="メイリオ" panose="020B0604030504040204" pitchFamily="50" charset="-128"/>
              </a:rPr>
              <a:t>。日内でも時刻に応じた変動が確認された</a:t>
            </a:r>
            <a:r>
              <a:rPr sz="1200" dirty="0">
                <a:latin typeface="メイリオ" panose="020B0604030504040204" pitchFamily="50" charset="-128"/>
                <a:ea typeface="メイリオ" panose="020B0604030504040204" pitchFamily="50" charset="-128"/>
              </a:rPr>
              <a:t>。</a:t>
            </a:r>
          </a:p>
        </p:txBody>
      </p:sp>
      <p:sp>
        <p:nvSpPr>
          <p:cNvPr id="14" name="Rounded Rectangle 13"/>
          <p:cNvSpPr/>
          <p:nvPr/>
        </p:nvSpPr>
        <p:spPr>
          <a:xfrm>
            <a:off x="6172200" y="5347556"/>
            <a:ext cx="5394960" cy="1345852"/>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5" name="TextBox 14"/>
          <p:cNvSpPr txBox="1"/>
          <p:nvPr/>
        </p:nvSpPr>
        <p:spPr>
          <a:xfrm>
            <a:off x="6336792" y="5457284"/>
            <a:ext cx="5065776" cy="338554"/>
          </a:xfrm>
          <a:prstGeom prst="rect">
            <a:avLst/>
          </a:prstGeom>
          <a:noFill/>
        </p:spPr>
        <p:txBody>
          <a:bodyPr wrap="square">
            <a:spAutoFit/>
          </a:bodyPr>
          <a:lstStyle/>
          <a:p>
            <a:pPr algn="l">
              <a:defRPr sz="1300" b="1">
                <a:solidFill>
                  <a:srgbClr val="C1701F"/>
                </a:solidFill>
                <a:latin typeface="Yu Gothic"/>
              </a:defRPr>
            </a:pPr>
            <a:r>
              <a:rPr sz="1600" dirty="0" err="1">
                <a:latin typeface="メイリオ" panose="020B0604030504040204" pitchFamily="50" charset="-128"/>
                <a:ea typeface="メイリオ" panose="020B0604030504040204" pitchFamily="50" charset="-128"/>
              </a:rPr>
              <a:t>解釈上の注意</a:t>
            </a:r>
            <a:endParaRPr sz="1600" dirty="0">
              <a:latin typeface="メイリオ" panose="020B0604030504040204" pitchFamily="50" charset="-128"/>
              <a:ea typeface="メイリオ" panose="020B0604030504040204" pitchFamily="50" charset="-128"/>
            </a:endParaRPr>
          </a:p>
        </p:txBody>
      </p:sp>
      <p:sp>
        <p:nvSpPr>
          <p:cNvPr id="16" name="TextBox 15"/>
          <p:cNvSpPr txBox="1"/>
          <p:nvPr/>
        </p:nvSpPr>
        <p:spPr>
          <a:xfrm>
            <a:off x="6336792" y="5823044"/>
            <a:ext cx="5065776" cy="738664"/>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外気温・日射など日時と連動する外部要因の影響が考えられるが、設置場所が不明なため本PoCでは外部気象データを導入していない</a:t>
            </a:r>
            <a:r>
              <a:rPr sz="1400" dirty="0">
                <a:latin typeface="メイリオ" panose="020B0604030504040204" pitchFamily="50" charset="-128"/>
                <a:ea typeface="メイリオ" panose="020B0604030504040204" pitchFamily="50" charset="-128"/>
              </a:rPr>
              <a:t>。</a:t>
            </a:r>
          </a:p>
        </p:txBody>
      </p:sp>
      <p:pic>
        <p:nvPicPr>
          <p:cNvPr id="22" name="図 21">
            <a:extLst>
              <a:ext uri="{FF2B5EF4-FFF2-40B4-BE49-F238E27FC236}">
                <a16:creationId xmlns:a16="http://schemas.microsoft.com/office/drawing/2014/main" id="{54FAEE0D-2939-2C8E-9D54-4DDFF3459B73}"/>
              </a:ext>
            </a:extLst>
          </p:cNvPr>
          <p:cNvPicPr>
            <a:picLocks noChangeAspect="1"/>
          </p:cNvPicPr>
          <p:nvPr/>
        </p:nvPicPr>
        <p:blipFill>
          <a:blip r:embed="rId3"/>
          <a:srcRect l="1136" t="4540"/>
          <a:stretch>
            <a:fillRect/>
          </a:stretch>
        </p:blipFill>
        <p:spPr>
          <a:xfrm>
            <a:off x="6398804" y="1293876"/>
            <a:ext cx="5394960" cy="3323844"/>
          </a:xfrm>
          <a:prstGeom prst="rect">
            <a:avLst/>
          </a:prstGeom>
          <a:ln>
            <a:solidFill>
              <a:schemeClr val="tx1"/>
            </a:solidFill>
          </a:ln>
        </p:spPr>
      </p:pic>
      <p:pic>
        <p:nvPicPr>
          <p:cNvPr id="24" name="図 23">
            <a:extLst>
              <a:ext uri="{FF2B5EF4-FFF2-40B4-BE49-F238E27FC236}">
                <a16:creationId xmlns:a16="http://schemas.microsoft.com/office/drawing/2014/main" id="{20939DC3-5D10-66E5-FBBA-51B57E91D357}"/>
              </a:ext>
            </a:extLst>
          </p:cNvPr>
          <p:cNvPicPr>
            <a:picLocks noChangeAspect="1"/>
          </p:cNvPicPr>
          <p:nvPr/>
        </p:nvPicPr>
        <p:blipFill>
          <a:blip r:embed="rId4"/>
          <a:srcRect t="2880" b="-1"/>
          <a:stretch>
            <a:fillRect/>
          </a:stretch>
        </p:blipFill>
        <p:spPr>
          <a:xfrm>
            <a:off x="37785" y="2213811"/>
            <a:ext cx="6134415" cy="2418548"/>
          </a:xfrm>
          <a:prstGeom prst="rect">
            <a:avLst/>
          </a:prstGeom>
          <a:ln>
            <a:solidFill>
              <a:schemeClr val="tx1"/>
            </a:solidFill>
          </a:ln>
        </p:spPr>
      </p:pic>
      <p:sp>
        <p:nvSpPr>
          <p:cNvPr id="25" name="テキスト ボックス 24">
            <a:extLst>
              <a:ext uri="{FF2B5EF4-FFF2-40B4-BE49-F238E27FC236}">
                <a16:creationId xmlns:a16="http://schemas.microsoft.com/office/drawing/2014/main" id="{F611621C-3D8F-C3EC-4350-198D36E56CE4}"/>
              </a:ext>
            </a:extLst>
          </p:cNvPr>
          <p:cNvSpPr txBox="1"/>
          <p:nvPr/>
        </p:nvSpPr>
        <p:spPr>
          <a:xfrm>
            <a:off x="1446936" y="4742087"/>
            <a:ext cx="3983897" cy="338554"/>
          </a:xfrm>
          <a:prstGeom prst="rect">
            <a:avLst/>
          </a:prstGeom>
          <a:noFill/>
        </p:spPr>
        <p:txBody>
          <a:bodyPr wrap="square" rtlCol="0">
            <a:spAutoFit/>
          </a:bodyPr>
          <a:lstStyle/>
          <a:p>
            <a:r>
              <a:rPr kumimoji="1" lang="en-US" altLang="ja-JP" sz="1600" dirty="0">
                <a:latin typeface="メイリオ" panose="020B0604030504040204" pitchFamily="50" charset="-128"/>
                <a:ea typeface="メイリオ" panose="020B0604030504040204" pitchFamily="50" charset="-128"/>
              </a:rPr>
              <a:t>Weekly Average Oil Temperature </a:t>
            </a:r>
            <a:endParaRPr kumimoji="1" lang="ja-JP" altLang="en-US" sz="1600"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AFAC8339-7A4D-88FA-3E4C-5BD3BF2AD806}"/>
              </a:ext>
            </a:extLst>
          </p:cNvPr>
          <p:cNvSpPr txBox="1"/>
          <p:nvPr/>
        </p:nvSpPr>
        <p:spPr>
          <a:xfrm>
            <a:off x="7515037" y="4758930"/>
            <a:ext cx="3573821" cy="338554"/>
          </a:xfrm>
          <a:prstGeom prst="rect">
            <a:avLst/>
          </a:prstGeom>
          <a:noFill/>
        </p:spPr>
        <p:txBody>
          <a:bodyPr wrap="square" rtlCol="0">
            <a:spAutoFit/>
          </a:bodyPr>
          <a:lstStyle/>
          <a:p>
            <a:r>
              <a:rPr kumimoji="1" lang="en-US" altLang="ja-JP" sz="1600" dirty="0">
                <a:latin typeface="メイリオ" panose="020B0604030504040204" pitchFamily="50" charset="-128"/>
                <a:ea typeface="メイリオ" panose="020B0604030504040204" pitchFamily="50" charset="-128"/>
              </a:rPr>
              <a:t>Hour Oil Temperature by Season</a:t>
            </a:r>
            <a:endParaRPr kumimoji="1" lang="ja-JP" altLang="en-US" sz="1600" dirty="0">
              <a:latin typeface="メイリオ" panose="020B0604030504040204" pitchFamily="50" charset="-128"/>
              <a:ea typeface="メイリオ" panose="020B0604030504040204" pitchFamily="50" charset="-128"/>
            </a:endParaRPr>
          </a:p>
        </p:txBody>
      </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73C184C3-3E14-8686-9C51-F530872F7820}"/>
              </a:ext>
            </a:extLst>
          </p:cNvPr>
          <p:cNvPicPr>
            <a:picLocks noChangeAspect="1"/>
          </p:cNvPicPr>
          <p:nvPr/>
        </p:nvPicPr>
        <p:blipFill>
          <a:blip r:embed="rId2"/>
          <a:stretch>
            <a:fillRect/>
          </a:stretch>
        </p:blipFill>
        <p:spPr>
          <a:xfrm>
            <a:off x="2378416" y="3887352"/>
            <a:ext cx="3519464" cy="2867554"/>
          </a:xfrm>
          <a:prstGeom prst="rect">
            <a:avLst/>
          </a:prstGeom>
        </p:spPr>
      </p:pic>
      <p:sp>
        <p:nvSpPr>
          <p:cNvPr id="2" name="TextBox 1"/>
          <p:cNvSpPr txBox="1"/>
          <p:nvPr/>
        </p:nvSpPr>
        <p:spPr>
          <a:xfrm>
            <a:off x="502919" y="164592"/>
            <a:ext cx="2760785" cy="400110"/>
          </a:xfrm>
          <a:prstGeom prst="rect">
            <a:avLst/>
          </a:prstGeom>
          <a:noFill/>
        </p:spPr>
        <p:txBody>
          <a:bodyPr wrap="square">
            <a:spAutoFit/>
          </a:bodyPr>
          <a:lstStyle/>
          <a:p>
            <a:pPr algn="l">
              <a:defRPr sz="1000" b="1">
                <a:solidFill>
                  <a:srgbClr val="3466A4"/>
                </a:solidFill>
                <a:latin typeface="Yu Gothic"/>
              </a:defRPr>
            </a:pPr>
            <a:r>
              <a:rPr sz="2000" dirty="0">
                <a:solidFill>
                  <a:schemeClr val="tx2">
                    <a:lumMod val="75000"/>
                  </a:schemeClr>
                </a:solidFill>
              </a:rPr>
              <a:t>EDA ｜</a:t>
            </a:r>
            <a:r>
              <a:rPr sz="2000" dirty="0" err="1">
                <a:solidFill>
                  <a:schemeClr val="tx2">
                    <a:lumMod val="75000"/>
                  </a:schemeClr>
                </a:solidFill>
              </a:rPr>
              <a:t>負荷と油温</a:t>
            </a:r>
            <a:endParaRPr sz="2000" dirty="0">
              <a:solidFill>
                <a:schemeClr val="tx2">
                  <a:lumMod val="75000"/>
                </a:schemeClr>
              </a:solidFill>
            </a:endParaRPr>
          </a:p>
        </p:txBody>
      </p:sp>
      <p:sp>
        <p:nvSpPr>
          <p:cNvPr id="3" name="TextBox 2"/>
          <p:cNvSpPr txBox="1"/>
          <p:nvPr/>
        </p:nvSpPr>
        <p:spPr>
          <a:xfrm>
            <a:off x="502920" y="438912"/>
            <a:ext cx="11155680" cy="800219"/>
          </a:xfrm>
          <a:prstGeom prst="rect">
            <a:avLst/>
          </a:prstGeom>
          <a:noFill/>
        </p:spPr>
        <p:txBody>
          <a:bodyPr wrap="square">
            <a:spAutoFit/>
          </a:bodyPr>
          <a:lstStyle/>
          <a:p>
            <a:pPr algn="l">
              <a:defRPr sz="2300" b="1">
                <a:solidFill>
                  <a:srgbClr val="182F49"/>
                </a:solidFill>
                <a:latin typeface="Yu Gothic"/>
              </a:defRPr>
            </a:pPr>
            <a:r>
              <a:rPr dirty="0" err="1">
                <a:latin typeface="メイリオ" panose="020B0604030504040204" pitchFamily="50" charset="-128"/>
                <a:ea typeface="メイリオ" panose="020B0604030504040204" pitchFamily="50" charset="-128"/>
              </a:rPr>
              <a:t>MULL・HULLと油温には弱〜中程度の関連があるが、一部は共通する周期性で説明される</a:t>
            </a:r>
            <a:endParaRPr dirty="0">
              <a:latin typeface="メイリオ" panose="020B0604030504040204" pitchFamily="50" charset="-128"/>
              <a:ea typeface="メイリオ" panose="020B0604030504040204" pitchFamily="50" charset="-128"/>
            </a:endParaRPr>
          </a:p>
        </p:txBody>
      </p:sp>
      <p:sp>
        <p:nvSpPr>
          <p:cNvPr id="4" name="Rectangle 3"/>
          <p:cNvSpPr/>
          <p:nvPr/>
        </p:nvSpPr>
        <p:spPr>
          <a:xfrm>
            <a:off x="502920" y="1161288"/>
            <a:ext cx="1115568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graphicFrame>
        <p:nvGraphicFramePr>
          <p:cNvPr id="8" name="Table 7"/>
          <p:cNvGraphicFramePr>
            <a:graphicFrameLocks noGrp="1"/>
          </p:cNvGraphicFramePr>
          <p:nvPr>
            <p:extLst>
              <p:ext uri="{D42A27DB-BD31-4B8C-83A1-F6EECF244321}">
                <p14:modId xmlns:p14="http://schemas.microsoft.com/office/powerpoint/2010/main" val="3850058602"/>
              </p:ext>
            </p:extLst>
          </p:nvPr>
        </p:nvGraphicFramePr>
        <p:xfrm>
          <a:off x="5845899" y="1606554"/>
          <a:ext cx="5294812" cy="1910445"/>
        </p:xfrm>
        <a:graphic>
          <a:graphicData uri="http://schemas.openxmlformats.org/drawingml/2006/table">
            <a:tbl>
              <a:tblPr firstRow="1" bandRow="1">
                <a:tableStyleId>{5C22544A-7EE6-4342-B048-85BDC9FD1C3A}</a:tableStyleId>
              </a:tblPr>
              <a:tblGrid>
                <a:gridCol w="1323703">
                  <a:extLst>
                    <a:ext uri="{9D8B030D-6E8A-4147-A177-3AD203B41FA5}">
                      <a16:colId xmlns:a16="http://schemas.microsoft.com/office/drawing/2014/main" val="20000"/>
                    </a:ext>
                  </a:extLst>
                </a:gridCol>
                <a:gridCol w="1323703">
                  <a:extLst>
                    <a:ext uri="{9D8B030D-6E8A-4147-A177-3AD203B41FA5}">
                      <a16:colId xmlns:a16="http://schemas.microsoft.com/office/drawing/2014/main" val="20001"/>
                    </a:ext>
                  </a:extLst>
                </a:gridCol>
                <a:gridCol w="1323703">
                  <a:extLst>
                    <a:ext uri="{9D8B030D-6E8A-4147-A177-3AD203B41FA5}">
                      <a16:colId xmlns:a16="http://schemas.microsoft.com/office/drawing/2014/main" val="20002"/>
                    </a:ext>
                  </a:extLst>
                </a:gridCol>
                <a:gridCol w="1323703">
                  <a:extLst>
                    <a:ext uri="{9D8B030D-6E8A-4147-A177-3AD203B41FA5}">
                      <a16:colId xmlns:a16="http://schemas.microsoft.com/office/drawing/2014/main" val="20003"/>
                    </a:ext>
                  </a:extLst>
                </a:gridCol>
              </a:tblGrid>
              <a:tr h="382089">
                <a:tc>
                  <a:txBody>
                    <a:bodyPr/>
                    <a:lstStyle/>
                    <a:p>
                      <a:pPr algn="ctr">
                        <a:defRPr sz="1000" b="1">
                          <a:solidFill>
                            <a:srgbClr val="FFFFFF"/>
                          </a:solidFill>
                          <a:latin typeface="Yu Gothic"/>
                        </a:defRPr>
                      </a:pPr>
                      <a:r>
                        <a:rPr sz="1400" dirty="0"/>
                        <a:t>Dataset</a:t>
                      </a: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a:t>MULL</a:t>
                      </a:r>
                      <a:r>
                        <a:rPr lang="en-US" altLang="ja-JP" sz="1400" dirty="0"/>
                        <a:t>×</a:t>
                      </a:r>
                      <a:r>
                        <a:rPr lang="en-US" sz="1400" dirty="0"/>
                        <a:t>OT</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a:t>HULL×</a:t>
                      </a:r>
                      <a:r>
                        <a:rPr lang="en-US" sz="1400" dirty="0"/>
                        <a:t>OT</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400" dirty="0" err="1"/>
                        <a:t>モデル採用</a:t>
                      </a:r>
                      <a:endParaRPr sz="1400" dirty="0"/>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382089">
                <a:tc>
                  <a:txBody>
                    <a:bodyPr/>
                    <a:lstStyle/>
                    <a:p>
                      <a:pPr algn="ctr">
                        <a:defRPr sz="1000" b="0">
                          <a:solidFill>
                            <a:srgbClr val="2D2D2D"/>
                          </a:solidFill>
                          <a:latin typeface="Yu Gothic"/>
                        </a:defRPr>
                      </a:pPr>
                      <a:r>
                        <a:rPr sz="1200" dirty="0"/>
                        <a:t>ETTh1</a:t>
                      </a:r>
                      <a:r>
                        <a:rPr lang="ja-JP" altLang="en-US" sz="1200" dirty="0"/>
                        <a:t>（日時有）</a:t>
                      </a:r>
                      <a:endParaRPr sz="1200" dirty="0"/>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1000" b="0">
                          <a:solidFill>
                            <a:srgbClr val="2D2D2D"/>
                          </a:solidFill>
                          <a:latin typeface="Yu Gothic"/>
                        </a:defRPr>
                      </a:pPr>
                      <a:r>
                        <a:rPr sz="1200" dirty="0"/>
                        <a:t>0.</a:t>
                      </a:r>
                      <a:r>
                        <a:rPr lang="en-US" sz="1200" dirty="0"/>
                        <a:t>220</a:t>
                      </a:r>
                      <a:endParaRPr sz="1200" dirty="0"/>
                    </a:p>
                  </a:txBody>
                  <a:tcPr marL="54864" marR="54864" marT="27432" marB="27432">
                    <a:solidFill>
                      <a:srgbClr val="F0F4F8"/>
                    </a:solidFill>
                  </a:tcPr>
                </a:tc>
                <a:tc>
                  <a:txBody>
                    <a:bodyPr/>
                    <a:lstStyle/>
                    <a:p>
                      <a:pPr algn="ctr">
                        <a:defRPr sz="1000" b="0">
                          <a:solidFill>
                            <a:srgbClr val="2D2D2D"/>
                          </a:solidFill>
                          <a:latin typeface="Yu Gothic"/>
                        </a:defRPr>
                      </a:pPr>
                      <a:r>
                        <a:rPr sz="1200" dirty="0"/>
                        <a:t>0.</a:t>
                      </a:r>
                      <a:r>
                        <a:rPr lang="en-US" sz="1200" dirty="0"/>
                        <a:t>224</a:t>
                      </a:r>
                      <a:endParaRPr sz="1200" dirty="0"/>
                    </a:p>
                  </a:txBody>
                  <a:tcPr marL="54864" marR="54864" marT="27432" marB="27432">
                    <a:solidFill>
                      <a:srgbClr val="F0F4F8"/>
                    </a:solidFill>
                  </a:tcPr>
                </a:tc>
                <a:tc>
                  <a:txBody>
                    <a:bodyPr/>
                    <a:lstStyle/>
                    <a:p>
                      <a:pPr algn="ctr">
                        <a:defRPr sz="1000" b="0">
                          <a:solidFill>
                            <a:srgbClr val="2D2D2D"/>
                          </a:solidFill>
                          <a:latin typeface="Yu Gothic"/>
                        </a:defRPr>
                      </a:pPr>
                      <a:r>
                        <a:rPr sz="1200" dirty="0"/>
                        <a:t>HULL</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382089">
                <a:tc>
                  <a:txBody>
                    <a:bodyPr/>
                    <a:lstStyle/>
                    <a:p>
                      <a:pPr algn="ctr">
                        <a:defRPr sz="1000" b="0">
                          <a:solidFill>
                            <a:srgbClr val="2D2D2D"/>
                          </a:solidFill>
                          <a:latin typeface="Yu Gothic"/>
                        </a:defRPr>
                      </a:pPr>
                      <a:r>
                        <a:rPr sz="1200" dirty="0"/>
                        <a:t>ETTh2</a:t>
                      </a:r>
                      <a:r>
                        <a:rPr lang="ja-JP" altLang="en-US" sz="1200" dirty="0"/>
                        <a:t>（日時有）</a:t>
                      </a:r>
                      <a:endParaRPr sz="1200" dirty="0"/>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1000" b="0">
                          <a:solidFill>
                            <a:srgbClr val="2D2D2D"/>
                          </a:solidFill>
                          <a:latin typeface="Yu Gothic"/>
                        </a:defRPr>
                      </a:pPr>
                      <a:r>
                        <a:rPr sz="1200" dirty="0"/>
                        <a:t>0.4</a:t>
                      </a:r>
                      <a:r>
                        <a:rPr lang="en-US" sz="1200" dirty="0"/>
                        <a:t>95</a:t>
                      </a:r>
                      <a:endParaRPr sz="1200" dirty="0"/>
                    </a:p>
                  </a:txBody>
                  <a:tcPr marL="54864" marR="54864" marT="27432" marB="27432">
                    <a:solidFill>
                      <a:srgbClr val="FFFFFF"/>
                    </a:solidFill>
                  </a:tcPr>
                </a:tc>
                <a:tc>
                  <a:txBody>
                    <a:bodyPr/>
                    <a:lstStyle/>
                    <a:p>
                      <a:pPr algn="ctr">
                        <a:defRPr sz="1000" b="0">
                          <a:solidFill>
                            <a:srgbClr val="2D2D2D"/>
                          </a:solidFill>
                          <a:latin typeface="Yu Gothic"/>
                        </a:defRPr>
                      </a:pPr>
                      <a:r>
                        <a:rPr sz="1200" dirty="0"/>
                        <a:t>0.3</a:t>
                      </a:r>
                      <a:r>
                        <a:rPr lang="en-US" sz="1200" dirty="0"/>
                        <a:t>38</a:t>
                      </a:r>
                      <a:endParaRPr sz="1200" dirty="0"/>
                    </a:p>
                  </a:txBody>
                  <a:tcPr marL="54864" marR="54864" marT="27432" marB="27432">
                    <a:solidFill>
                      <a:srgbClr val="FFFFFF"/>
                    </a:solidFill>
                  </a:tcPr>
                </a:tc>
                <a:tc>
                  <a:txBody>
                    <a:bodyPr/>
                    <a:lstStyle/>
                    <a:p>
                      <a:pPr algn="ctr">
                        <a:defRPr sz="1000" b="0">
                          <a:solidFill>
                            <a:srgbClr val="2D2D2D"/>
                          </a:solidFill>
                          <a:latin typeface="Yu Gothic"/>
                        </a:defRPr>
                      </a:pPr>
                      <a:r>
                        <a:rPr sz="1200" dirty="0"/>
                        <a:t>MULL</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382089">
                <a:tc>
                  <a:txBody>
                    <a:bodyPr/>
                    <a:lstStyle/>
                    <a:p>
                      <a:pPr algn="ctr">
                        <a:defRPr sz="1000" b="0">
                          <a:solidFill>
                            <a:srgbClr val="2D2D2D"/>
                          </a:solidFill>
                          <a:latin typeface="Yu Gothic"/>
                        </a:defRPr>
                      </a:pPr>
                      <a:r>
                        <a:rPr lang="en-US" sz="1200" dirty="0"/>
                        <a:t>ETTh1(</a:t>
                      </a:r>
                      <a:r>
                        <a:rPr lang="ja-JP" altLang="en-US" sz="1200" dirty="0"/>
                        <a:t>日時無）</a:t>
                      </a:r>
                      <a:endParaRPr sz="1200" dirty="0"/>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1000" b="0">
                          <a:solidFill>
                            <a:srgbClr val="2D2D2D"/>
                          </a:solidFill>
                          <a:latin typeface="Yu Gothic"/>
                        </a:defRPr>
                      </a:pPr>
                      <a:r>
                        <a:rPr lang="ja-JP" altLang="ja-JP" sz="1200" b="0" i="0" kern="1200" dirty="0">
                          <a:solidFill>
                            <a:srgbClr val="2D2D2D"/>
                          </a:solidFill>
                          <a:effectLst/>
                          <a:latin typeface="Yu Gothic"/>
                          <a:ea typeface="+mn-ea"/>
                          <a:cs typeface="+mn-cs"/>
                        </a:rPr>
                        <a:t>0.118</a:t>
                      </a:r>
                      <a:endParaRPr sz="2000" dirty="0"/>
                    </a:p>
                  </a:txBody>
                  <a:tcPr marL="54864" marR="54864" marT="27432" marB="27432">
                    <a:solidFill>
                      <a:srgbClr val="F0F4F8"/>
                    </a:solidFill>
                  </a:tcPr>
                </a:tc>
                <a:tc>
                  <a:txBody>
                    <a:bodyPr/>
                    <a:lstStyle/>
                    <a:p>
                      <a:pPr algn="ctr">
                        <a:defRPr sz="1000" b="0">
                          <a:solidFill>
                            <a:srgbClr val="2D2D2D"/>
                          </a:solidFill>
                          <a:latin typeface="Yu Gothic"/>
                        </a:defRPr>
                      </a:pPr>
                      <a:r>
                        <a:rPr lang="ja-JP" altLang="ja-JP" sz="1200" b="0" i="0" kern="1200" dirty="0">
                          <a:solidFill>
                            <a:srgbClr val="2D2D2D"/>
                          </a:solidFill>
                          <a:effectLst/>
                          <a:latin typeface="Yu Gothic"/>
                          <a:ea typeface="+mn-ea"/>
                          <a:cs typeface="+mn-cs"/>
                        </a:rPr>
                        <a:t>0.1</a:t>
                      </a:r>
                      <a:r>
                        <a:rPr lang="en-US" altLang="ja-JP" sz="1200" b="0" i="0" kern="1200" dirty="0">
                          <a:solidFill>
                            <a:srgbClr val="2D2D2D"/>
                          </a:solidFill>
                          <a:effectLst/>
                          <a:latin typeface="Yu Gothic"/>
                          <a:ea typeface="+mn-ea"/>
                          <a:cs typeface="+mn-cs"/>
                        </a:rPr>
                        <a:t>10</a:t>
                      </a:r>
                      <a:endParaRPr sz="2000" dirty="0"/>
                    </a:p>
                  </a:txBody>
                  <a:tcPr marL="54864" marR="54864" marT="27432" marB="27432">
                    <a:solidFill>
                      <a:srgbClr val="F0F4F8"/>
                    </a:solidFill>
                  </a:tcPr>
                </a:tc>
                <a:tc>
                  <a:txBody>
                    <a:bodyPr/>
                    <a:lstStyle/>
                    <a:p>
                      <a:pPr algn="ctr">
                        <a:defRPr sz="1000" b="0">
                          <a:solidFill>
                            <a:srgbClr val="2D2D2D"/>
                          </a:solidFill>
                          <a:latin typeface="Yu Gothic"/>
                        </a:defRPr>
                      </a:pPr>
                      <a:r>
                        <a:rPr lang="en-US" sz="1200" dirty="0"/>
                        <a:t>MULL</a:t>
                      </a:r>
                      <a:endParaRPr sz="1200" dirty="0"/>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2438808381"/>
                  </a:ext>
                </a:extLst>
              </a:tr>
              <a:tr h="382089">
                <a:tc>
                  <a:txBody>
                    <a:bodyPr/>
                    <a:lstStyle/>
                    <a:p>
                      <a:pPr algn="ctr">
                        <a:defRPr sz="1000" b="0">
                          <a:solidFill>
                            <a:srgbClr val="2D2D2D"/>
                          </a:solidFill>
                          <a:latin typeface="Yu Gothic"/>
                        </a:defRPr>
                      </a:pPr>
                      <a:r>
                        <a:rPr lang="en-US" sz="1200" dirty="0"/>
                        <a:t>ETTh2(</a:t>
                      </a:r>
                      <a:r>
                        <a:rPr lang="ja-JP" altLang="en-US" sz="1200" dirty="0"/>
                        <a:t>日時無</a:t>
                      </a:r>
                      <a:r>
                        <a:rPr lang="en-US" altLang="ja-JP" sz="1200" dirty="0"/>
                        <a:t>)</a:t>
                      </a:r>
                      <a:endParaRPr sz="1200" dirty="0"/>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lang="ja-JP" altLang="ja-JP" sz="1200" b="0" i="0" kern="1200" dirty="0">
                          <a:solidFill>
                            <a:srgbClr val="2D2D2D"/>
                          </a:solidFill>
                          <a:effectLst/>
                          <a:latin typeface="Yu Gothic"/>
                          <a:ea typeface="+mn-ea"/>
                          <a:cs typeface="+mn-cs"/>
                        </a:rPr>
                        <a:t>0.22</a:t>
                      </a:r>
                      <a:r>
                        <a:rPr lang="en-US" altLang="ja-JP" sz="1200" b="0" i="0" kern="1200" dirty="0">
                          <a:solidFill>
                            <a:srgbClr val="2D2D2D"/>
                          </a:solidFill>
                          <a:effectLst/>
                          <a:latin typeface="Yu Gothic"/>
                          <a:ea typeface="+mn-ea"/>
                          <a:cs typeface="+mn-cs"/>
                        </a:rPr>
                        <a:t>9</a:t>
                      </a:r>
                      <a:endParaRPr sz="2000" dirty="0"/>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lang="ja-JP" altLang="ja-JP" sz="1200" b="0" i="0" kern="1200" dirty="0">
                          <a:solidFill>
                            <a:srgbClr val="2D2D2D"/>
                          </a:solidFill>
                          <a:effectLst/>
                          <a:latin typeface="Yu Gothic"/>
                          <a:ea typeface="+mn-ea"/>
                          <a:cs typeface="+mn-cs"/>
                        </a:rPr>
                        <a:t>0.20</a:t>
                      </a:r>
                      <a:r>
                        <a:rPr lang="en-US" altLang="ja-JP" sz="1200" b="0" i="0" kern="1200" dirty="0">
                          <a:solidFill>
                            <a:srgbClr val="2D2D2D"/>
                          </a:solidFill>
                          <a:effectLst/>
                          <a:latin typeface="Yu Gothic"/>
                          <a:ea typeface="+mn-ea"/>
                          <a:cs typeface="+mn-cs"/>
                        </a:rPr>
                        <a:t>3</a:t>
                      </a:r>
                      <a:endParaRPr sz="2000" dirty="0"/>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1000" b="0">
                          <a:solidFill>
                            <a:srgbClr val="2D2D2D"/>
                          </a:solidFill>
                          <a:latin typeface="Yu Gothic"/>
                        </a:defRPr>
                      </a:pPr>
                      <a:r>
                        <a:rPr lang="en-US" sz="1200" dirty="0"/>
                        <a:t>MULL</a:t>
                      </a:r>
                      <a:endParaRPr sz="1200" dirty="0"/>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35555961"/>
                  </a:ext>
                </a:extLst>
              </a:tr>
            </a:tbl>
          </a:graphicData>
        </a:graphic>
      </p:graphicFrame>
      <p:sp>
        <p:nvSpPr>
          <p:cNvPr id="9" name="Rounded Rectangle 8"/>
          <p:cNvSpPr/>
          <p:nvPr/>
        </p:nvSpPr>
        <p:spPr>
          <a:xfrm>
            <a:off x="5897880" y="3617357"/>
            <a:ext cx="5623560" cy="141732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panose="020B0604030504040204" pitchFamily="50" charset="-128"/>
              <a:ea typeface="メイリオ" panose="020B0604030504040204" pitchFamily="50" charset="-128"/>
            </a:endParaRPr>
          </a:p>
        </p:txBody>
      </p:sp>
      <p:sp>
        <p:nvSpPr>
          <p:cNvPr id="10" name="TextBox 9"/>
          <p:cNvSpPr txBox="1"/>
          <p:nvPr/>
        </p:nvSpPr>
        <p:spPr>
          <a:xfrm>
            <a:off x="6062472" y="3727085"/>
            <a:ext cx="529437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日時影響を除いた分析の読み方</a:t>
            </a:r>
            <a:endParaRPr sz="1600" dirty="0">
              <a:latin typeface="メイリオ" panose="020B0604030504040204" pitchFamily="50" charset="-128"/>
              <a:ea typeface="メイリオ" panose="020B0604030504040204" pitchFamily="50" charset="-128"/>
            </a:endParaRPr>
          </a:p>
        </p:txBody>
      </p:sp>
      <p:sp>
        <p:nvSpPr>
          <p:cNvPr id="11" name="TextBox 10"/>
          <p:cNvSpPr txBox="1"/>
          <p:nvPr/>
        </p:nvSpPr>
        <p:spPr>
          <a:xfrm>
            <a:off x="6062472" y="4092845"/>
            <a:ext cx="5294376" cy="738664"/>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同じ月・同じ時刻の平均OTを差し引いた残差との相関が低下</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元の相関の一部には季節性・日内周期が含まれる。一方、残差との関連も完全には消えない</a:t>
            </a:r>
            <a:r>
              <a:rPr sz="1400" dirty="0">
                <a:latin typeface="メイリオ" panose="020B0604030504040204" pitchFamily="50" charset="-128"/>
                <a:ea typeface="メイリオ" panose="020B0604030504040204" pitchFamily="50" charset="-128"/>
              </a:rPr>
              <a:t>。</a:t>
            </a:r>
          </a:p>
        </p:txBody>
      </p:sp>
      <p:sp>
        <p:nvSpPr>
          <p:cNvPr id="12" name="Rounded Rectangle 11"/>
          <p:cNvSpPr/>
          <p:nvPr/>
        </p:nvSpPr>
        <p:spPr>
          <a:xfrm>
            <a:off x="5897880" y="5263277"/>
            <a:ext cx="5623560" cy="1234440"/>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62472" y="5373005"/>
            <a:ext cx="5294376" cy="338554"/>
          </a:xfrm>
          <a:prstGeom prst="rect">
            <a:avLst/>
          </a:prstGeom>
          <a:noFill/>
        </p:spPr>
        <p:txBody>
          <a:bodyPr wrap="square">
            <a:spAutoFit/>
          </a:bodyPr>
          <a:lstStyle/>
          <a:p>
            <a:pPr algn="l">
              <a:defRPr sz="1300" b="1">
                <a:solidFill>
                  <a:srgbClr val="26785B"/>
                </a:solidFill>
                <a:latin typeface="Yu Gothic"/>
              </a:defRPr>
            </a:pPr>
            <a:r>
              <a:rPr sz="1600" dirty="0" err="1">
                <a:latin typeface="メイリオ" panose="020B0604030504040204" pitchFamily="50" charset="-128"/>
                <a:ea typeface="メイリオ" panose="020B0604030504040204" pitchFamily="50" charset="-128"/>
              </a:rPr>
              <a:t>設計への反映</a:t>
            </a:r>
            <a:endParaRPr sz="1600" dirty="0">
              <a:latin typeface="メイリオ" panose="020B0604030504040204" pitchFamily="50" charset="-128"/>
              <a:ea typeface="メイリオ" panose="020B0604030504040204" pitchFamily="50" charset="-128"/>
            </a:endParaRPr>
          </a:p>
        </p:txBody>
      </p:sp>
      <p:sp>
        <p:nvSpPr>
          <p:cNvPr id="14" name="TextBox 13"/>
          <p:cNvSpPr txBox="1"/>
          <p:nvPr/>
        </p:nvSpPr>
        <p:spPr>
          <a:xfrm>
            <a:off x="6062472" y="5738765"/>
            <a:ext cx="5294376" cy="738664"/>
          </a:xfrm>
          <a:prstGeom prst="rect">
            <a:avLst/>
          </a:prstGeom>
          <a:noFill/>
        </p:spPr>
        <p:txBody>
          <a:bodyPr wrap="square">
            <a:spAutoFit/>
          </a:bodyPr>
          <a:lstStyle/>
          <a:p>
            <a:pPr algn="l">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MULLとHULLは</a:t>
            </a:r>
            <a:r>
              <a:rPr lang="ja-JP" altLang="en-US" sz="1400" dirty="0">
                <a:latin typeface="メイリオ" panose="020B0604030504040204" pitchFamily="50" charset="-128"/>
                <a:ea typeface="メイリオ" panose="020B0604030504040204" pitchFamily="50" charset="-128"/>
              </a:rPr>
              <a:t>互いの相関係数が高い</a:t>
            </a:r>
            <a:r>
              <a:rPr sz="1400" dirty="0" err="1">
                <a:latin typeface="メイリオ" panose="020B0604030504040204" pitchFamily="50" charset="-128"/>
                <a:ea typeface="メイリオ" panose="020B0604030504040204" pitchFamily="50" charset="-128"/>
              </a:rPr>
              <a:t>ため、情報重複を避け、訓練データ内でOTとの絶対相関が大きい方のみ採用。変圧器ごとの差も保持する</a:t>
            </a:r>
            <a:r>
              <a:rPr sz="1400" dirty="0">
                <a:latin typeface="メイリオ" panose="020B0604030504040204" pitchFamily="50" charset="-128"/>
                <a:ea typeface="メイリオ" panose="020B0604030504040204" pitchFamily="50" charset="-128"/>
              </a:rPr>
              <a:t>。</a:t>
            </a:r>
          </a:p>
        </p:txBody>
      </p:sp>
      <p:pic>
        <p:nvPicPr>
          <p:cNvPr id="16" name="図 15">
            <a:extLst>
              <a:ext uri="{FF2B5EF4-FFF2-40B4-BE49-F238E27FC236}">
                <a16:creationId xmlns:a16="http://schemas.microsoft.com/office/drawing/2014/main" id="{2DD75323-E1F4-9217-6E92-CABD7F48A3CF}"/>
              </a:ext>
            </a:extLst>
          </p:cNvPr>
          <p:cNvPicPr>
            <a:picLocks noChangeAspect="1"/>
          </p:cNvPicPr>
          <p:nvPr/>
        </p:nvPicPr>
        <p:blipFill>
          <a:blip r:embed="rId3"/>
          <a:stretch>
            <a:fillRect/>
          </a:stretch>
        </p:blipFill>
        <p:spPr>
          <a:xfrm>
            <a:off x="408014" y="1284979"/>
            <a:ext cx="3290683" cy="2605447"/>
          </a:xfrm>
          <a:prstGeom prst="rect">
            <a:avLst/>
          </a:prstGeom>
        </p:spPr>
      </p:pic>
      <p:sp>
        <p:nvSpPr>
          <p:cNvPr id="5" name="テキスト ボックス 4">
            <a:extLst>
              <a:ext uri="{FF2B5EF4-FFF2-40B4-BE49-F238E27FC236}">
                <a16:creationId xmlns:a16="http://schemas.microsoft.com/office/drawing/2014/main" id="{C9CC795B-8722-5D3C-5EBE-3EC242B1B4F1}"/>
              </a:ext>
            </a:extLst>
          </p:cNvPr>
          <p:cNvSpPr txBox="1"/>
          <p:nvPr/>
        </p:nvSpPr>
        <p:spPr>
          <a:xfrm>
            <a:off x="7070790" y="1315144"/>
            <a:ext cx="3277740" cy="307777"/>
          </a:xfrm>
          <a:prstGeom prst="rect">
            <a:avLst/>
          </a:prstGeom>
          <a:noFill/>
        </p:spPr>
        <p:txBody>
          <a:bodyPr wrap="square" rtlCol="0">
            <a:spAutoFit/>
          </a:bodyPr>
          <a:lstStyle/>
          <a:p>
            <a:r>
              <a:rPr lang="ja-JP" altLang="ja-JP" sz="1400" dirty="0">
                <a:latin typeface="メイリオ" panose="020B0604030504040204" pitchFamily="50" charset="-128"/>
                <a:ea typeface="メイリオ" panose="020B0604030504040204" pitchFamily="50" charset="-128"/>
              </a:rPr>
              <a:t>油温とMULL,HULLとの相関係数</a:t>
            </a:r>
            <a:endParaRPr kumimoji="1" lang="ja-JP" altLang="en-US" sz="14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rPr dirty="0"/>
              <a:t>EDA｜0値の解釈</a:t>
            </a:r>
          </a:p>
        </p:txBody>
      </p:sp>
      <p:sp>
        <p:nvSpPr>
          <p:cNvPr id="3" name="TextBox 2"/>
          <p:cNvSpPr txBox="1"/>
          <p:nvPr/>
        </p:nvSpPr>
        <p:spPr>
          <a:xfrm>
            <a:off x="502920" y="605790"/>
            <a:ext cx="11064240" cy="658368"/>
          </a:xfrm>
          <a:prstGeom prst="rect">
            <a:avLst/>
          </a:prstGeom>
          <a:noFill/>
        </p:spPr>
        <p:txBody>
          <a:bodyPr wrap="square" lIns="18288" tIns="18288" rIns="18288" bIns="18288">
            <a:spAutoFit/>
          </a:bodyPr>
          <a:lstStyle/>
          <a:p>
            <a:pPr algn="l">
              <a:defRPr sz="2400" b="1">
                <a:solidFill>
                  <a:srgbClr val="262A2F"/>
                </a:solidFill>
                <a:latin typeface="Meiryo"/>
              </a:defRPr>
            </a:pPr>
            <a:r>
              <a:rPr dirty="0"/>
              <a:t>MULL・HULLの0は欠損ではなく運転状態を反映する値と判断し、補完せずそのまま利用する</a:t>
            </a: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930460884"/>
                  </p:ext>
                </p:extLst>
              </p:nvPr>
            </p:nvGraphicFramePr>
            <p:xfrm>
              <a:off x="594359" y="1691640"/>
              <a:ext cx="6766560" cy="1600200"/>
            </p:xfrm>
            <a:graphic>
              <a:graphicData uri="http://schemas.openxmlformats.org/drawingml/2006/table">
                <a:tbl>
                  <a:tblPr firstRow="1" bandRow="1">
                    <a:tableStyleId>{5C22544A-7EE6-4342-B048-85BDC9FD1C3A}</a:tableStyleId>
                  </a:tblPr>
                  <a:tblGrid>
                    <a:gridCol w="1353312">
                      <a:extLst>
                        <a:ext uri="{9D8B030D-6E8A-4147-A177-3AD203B41FA5}">
                          <a16:colId xmlns:a16="http://schemas.microsoft.com/office/drawing/2014/main" val="20000"/>
                        </a:ext>
                      </a:extLst>
                    </a:gridCol>
                    <a:gridCol w="1353312">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gridCol w="1353312">
                      <a:extLst>
                        <a:ext uri="{9D8B030D-6E8A-4147-A177-3AD203B41FA5}">
                          <a16:colId xmlns:a16="http://schemas.microsoft.com/office/drawing/2014/main" val="20003"/>
                        </a:ext>
                      </a:extLst>
                    </a:gridCol>
                    <a:gridCol w="1353312">
                      <a:extLst>
                        <a:ext uri="{9D8B030D-6E8A-4147-A177-3AD203B41FA5}">
                          <a16:colId xmlns:a16="http://schemas.microsoft.com/office/drawing/2014/main" val="20004"/>
                        </a:ext>
                      </a:extLst>
                    </a:gridCol>
                  </a:tblGrid>
                  <a:tr h="533400">
                    <a:tc>
                      <a:txBody>
                        <a:bodyPr/>
                        <a:lstStyle/>
                        <a:p>
                          <a:pPr algn="ctr">
                            <a:defRPr sz="1600" b="1">
                              <a:solidFill>
                                <a:srgbClr val="FFFFFF"/>
                              </a:solidFill>
                              <a:latin typeface="Meiryo"/>
                            </a:defRPr>
                          </a:pPr>
                          <a:r>
                            <a:rPr dirty="0" err="1"/>
                            <a:t>指標</a:t>
                          </a:r>
                          <a:endParaRPr dirty="0"/>
                        </a:p>
                      </a:txBody>
                      <a:tcPr marL="36576" marR="36576"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t>0件数</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t>0割合</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rPr dirty="0" err="1"/>
                            <a:t>OT平均</a:t>
                          </a:r>
                          <a:br>
                            <a:rPr lang="en-US" dirty="0"/>
                          </a:br>
                          <a:r>
                            <a:rPr lang="en-US" dirty="0"/>
                            <a:t>(</a:t>
                          </a:r>
                          <a:r>
                            <a:rPr lang="ja-JP" altLang="en-US" dirty="0"/>
                            <a:t>指標</a:t>
                          </a:r>
                          <a:r>
                            <a:rPr lang="en-US" altLang="ja-JP" dirty="0"/>
                            <a:t>=</a:t>
                          </a:r>
                          <a:r>
                            <a:rPr dirty="0"/>
                            <a:t>0</a:t>
                          </a:r>
                          <a:r>
                            <a:rPr lang="en-US" dirty="0"/>
                            <a:t>)</a:t>
                          </a:r>
                          <a:endParaRPr dirty="0"/>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rPr dirty="0" err="1"/>
                            <a:t>OT平均</a:t>
                          </a:r>
                          <a:endParaRPr lang="en-US" dirty="0"/>
                        </a:p>
                        <a:p>
                          <a:pPr algn="ctr">
                            <a:defRPr sz="1600" b="1">
                              <a:solidFill>
                                <a:srgbClr val="FFFFFF"/>
                              </a:solidFill>
                              <a:latin typeface="Meiryo"/>
                            </a:defRPr>
                          </a:pPr>
                          <a:r>
                            <a:rPr lang="en-US" altLang="ja-JP" dirty="0"/>
                            <a:t>(</a:t>
                          </a:r>
                          <a:r>
                            <a:rPr lang="ja-JP" altLang="en-US" dirty="0"/>
                            <a:t>指標</a:t>
                          </a:r>
                          <a14:m>
                            <m:oMath xmlns:m="http://schemas.openxmlformats.org/officeDocument/2006/math">
                              <m:r>
                                <a:rPr lang="ja-JP" altLang="en-US" i="1" smtClean="0">
                                  <a:latin typeface="Cambria Math" panose="02040503050406030204" pitchFamily="18" charset="0"/>
                                </a:rPr>
                                <m:t>≠</m:t>
                              </m:r>
                            </m:oMath>
                          </a14:m>
                          <a:r>
                            <a:rPr lang="en-US" dirty="0"/>
                            <a:t>0)</a:t>
                          </a:r>
                          <a:endParaRPr dirty="0"/>
                        </a:p>
                      </a:txBody>
                      <a:tcPr marL="36576" marR="36576"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533400">
                    <a:tc>
                      <a:txBody>
                        <a:bodyPr/>
                        <a:lstStyle/>
                        <a:p>
                          <a:pPr algn="ctr">
                            <a:defRPr sz="1600" b="0">
                              <a:solidFill>
                                <a:srgbClr val="262A2F"/>
                              </a:solidFill>
                              <a:latin typeface="Meiryo"/>
                            </a:defRPr>
                          </a:pPr>
                          <a:r>
                            <a:t>MULL</a:t>
                          </a:r>
                        </a:p>
                      </a:txBody>
                      <a:tcPr marL="36576" marR="36576" marT="18288" marB="18288">
                        <a:lnL w="12700" cap="flat" cmpd="sng" algn="ctr">
                          <a:solidFill>
                            <a:schemeClr val="tx1"/>
                          </a:solidFill>
                          <a:prstDash val="solid"/>
                          <a:round/>
                          <a:headEnd type="none" w="med" len="med"/>
                          <a:tailEnd type="none" w="med" len="med"/>
                        </a:lnL>
                        <a:solidFill>
                          <a:srgbClr val="F4F7FA"/>
                        </a:solidFill>
                      </a:tcPr>
                    </a:tc>
                    <a:tc>
                      <a:txBody>
                        <a:bodyPr/>
                        <a:lstStyle/>
                        <a:p>
                          <a:pPr algn="ctr">
                            <a:defRPr sz="1600" b="0">
                              <a:solidFill>
                                <a:srgbClr val="262A2F"/>
                              </a:solidFill>
                              <a:latin typeface="Meiryo"/>
                            </a:defRPr>
                          </a:pPr>
                          <a:r>
                            <a:t>1,067</a:t>
                          </a:r>
                        </a:p>
                      </a:txBody>
                      <a:tcPr marL="36576" marR="36576" marT="18288" marB="18288">
                        <a:solidFill>
                          <a:srgbClr val="F4F7FA"/>
                        </a:solidFill>
                      </a:tcPr>
                    </a:tc>
                    <a:tc>
                      <a:txBody>
                        <a:bodyPr/>
                        <a:lstStyle/>
                        <a:p>
                          <a:pPr algn="ctr">
                            <a:defRPr sz="1600" b="0">
                              <a:solidFill>
                                <a:srgbClr val="262A2F"/>
                              </a:solidFill>
                              <a:latin typeface="Meiryo"/>
                            </a:defRPr>
                          </a:pPr>
                          <a:r>
                            <a:t>6.13%</a:t>
                          </a:r>
                        </a:p>
                      </a:txBody>
                      <a:tcPr marL="36576" marR="36576" marT="18288" marB="18288">
                        <a:solidFill>
                          <a:srgbClr val="F4F7FA"/>
                        </a:solidFill>
                      </a:tcPr>
                    </a:tc>
                    <a:tc>
                      <a:txBody>
                        <a:bodyPr/>
                        <a:lstStyle/>
                        <a:p>
                          <a:pPr algn="ctr">
                            <a:defRPr sz="1600" b="0">
                              <a:solidFill>
                                <a:srgbClr val="262A2F"/>
                              </a:solidFill>
                              <a:latin typeface="Meiryo"/>
                            </a:defRPr>
                          </a:pPr>
                          <a:r>
                            <a:t>16.63</a:t>
                          </a:r>
                        </a:p>
                      </a:txBody>
                      <a:tcPr marL="36576" marR="36576" marT="18288" marB="18288">
                        <a:solidFill>
                          <a:srgbClr val="F4F7FA"/>
                        </a:solidFill>
                      </a:tcPr>
                    </a:tc>
                    <a:tc>
                      <a:txBody>
                        <a:bodyPr/>
                        <a:lstStyle/>
                        <a:p>
                          <a:pPr algn="ctr">
                            <a:defRPr sz="1600" b="0">
                              <a:solidFill>
                                <a:srgbClr val="262A2F"/>
                              </a:solidFill>
                              <a:latin typeface="Meiryo"/>
                            </a:defRPr>
                          </a:pPr>
                          <a:r>
                            <a:t>27.26</a:t>
                          </a:r>
                        </a:p>
                      </a:txBody>
                      <a:tcPr marL="36576" marR="36576" marT="18288" marB="18288">
                        <a:lnR w="12700" cap="flat" cmpd="sng" algn="ctr">
                          <a:solidFill>
                            <a:schemeClr val="tx1"/>
                          </a:solidFill>
                          <a:prstDash val="solid"/>
                          <a:round/>
                          <a:headEnd type="none" w="med" len="med"/>
                          <a:tailEnd type="none" w="med" len="med"/>
                        </a:lnR>
                        <a:solidFill>
                          <a:srgbClr val="F4F7FA"/>
                        </a:solidFill>
                      </a:tcPr>
                    </a:tc>
                    <a:extLst>
                      <a:ext uri="{0D108BD9-81ED-4DB2-BD59-A6C34878D82A}">
                        <a16:rowId xmlns:a16="http://schemas.microsoft.com/office/drawing/2014/main" val="10001"/>
                      </a:ext>
                    </a:extLst>
                  </a:tr>
                  <a:tr h="533400">
                    <a:tc>
                      <a:txBody>
                        <a:bodyPr/>
                        <a:lstStyle/>
                        <a:p>
                          <a:pPr algn="ctr">
                            <a:defRPr sz="1600" b="0">
                              <a:solidFill>
                                <a:srgbClr val="262A2F"/>
                              </a:solidFill>
                              <a:latin typeface="Meiryo"/>
                            </a:defRPr>
                          </a:pPr>
                          <a:r>
                            <a:t>HULL</a:t>
                          </a:r>
                        </a:p>
                      </a:txBody>
                      <a:tcPr marL="36576" marR="36576"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rPr dirty="0"/>
                            <a:t>3,836</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22.02%</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19.69</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rPr dirty="0"/>
                            <a:t>28.56</a:t>
                          </a:r>
                        </a:p>
                      </a:txBody>
                      <a:tcPr marL="36576" marR="36576"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930460884"/>
                  </p:ext>
                </p:extLst>
              </p:nvPr>
            </p:nvGraphicFramePr>
            <p:xfrm>
              <a:off x="594359" y="1691640"/>
              <a:ext cx="6766560" cy="1600200"/>
            </p:xfrm>
            <a:graphic>
              <a:graphicData uri="http://schemas.openxmlformats.org/drawingml/2006/table">
                <a:tbl>
                  <a:tblPr firstRow="1" bandRow="1">
                    <a:tableStyleId>{5C22544A-7EE6-4342-B048-85BDC9FD1C3A}</a:tableStyleId>
                  </a:tblPr>
                  <a:tblGrid>
                    <a:gridCol w="1353312">
                      <a:extLst>
                        <a:ext uri="{9D8B030D-6E8A-4147-A177-3AD203B41FA5}">
                          <a16:colId xmlns:a16="http://schemas.microsoft.com/office/drawing/2014/main" val="20000"/>
                        </a:ext>
                      </a:extLst>
                    </a:gridCol>
                    <a:gridCol w="1353312">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gridCol w="1353312">
                      <a:extLst>
                        <a:ext uri="{9D8B030D-6E8A-4147-A177-3AD203B41FA5}">
                          <a16:colId xmlns:a16="http://schemas.microsoft.com/office/drawing/2014/main" val="20003"/>
                        </a:ext>
                      </a:extLst>
                    </a:gridCol>
                    <a:gridCol w="1353312">
                      <a:extLst>
                        <a:ext uri="{9D8B030D-6E8A-4147-A177-3AD203B41FA5}">
                          <a16:colId xmlns:a16="http://schemas.microsoft.com/office/drawing/2014/main" val="20004"/>
                        </a:ext>
                      </a:extLst>
                    </a:gridCol>
                  </a:tblGrid>
                  <a:tr h="533400">
                    <a:tc>
                      <a:txBody>
                        <a:bodyPr/>
                        <a:lstStyle/>
                        <a:p>
                          <a:pPr algn="ctr">
                            <a:defRPr sz="1600" b="1">
                              <a:solidFill>
                                <a:srgbClr val="FFFFFF"/>
                              </a:solidFill>
                              <a:latin typeface="Meiryo"/>
                            </a:defRPr>
                          </a:pPr>
                          <a:r>
                            <a:rPr dirty="0" err="1"/>
                            <a:t>指標</a:t>
                          </a:r>
                          <a:endParaRPr dirty="0"/>
                        </a:p>
                      </a:txBody>
                      <a:tcPr marL="36576" marR="36576"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t>0件数</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t>0割合</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rPr dirty="0" err="1"/>
                            <a:t>OT平均</a:t>
                          </a:r>
                          <a:br>
                            <a:rPr lang="en-US" dirty="0"/>
                          </a:br>
                          <a:r>
                            <a:rPr lang="en-US" dirty="0"/>
                            <a:t>(</a:t>
                          </a:r>
                          <a:r>
                            <a:rPr lang="ja-JP" altLang="en-US" dirty="0"/>
                            <a:t>指標</a:t>
                          </a:r>
                          <a:r>
                            <a:rPr lang="en-US" altLang="ja-JP" dirty="0"/>
                            <a:t>=</a:t>
                          </a:r>
                          <a:r>
                            <a:rPr dirty="0"/>
                            <a:t>0</a:t>
                          </a:r>
                          <a:r>
                            <a:rPr lang="en-US" dirty="0"/>
                            <a:t>)</a:t>
                          </a:r>
                          <a:endParaRPr dirty="0"/>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endParaRPr lang="ja-JP"/>
                        </a:p>
                      </a:txBody>
                      <a:tcPr marL="36576" marR="36576"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3"/>
                          <a:stretch>
                            <a:fillRect l="-400901" t="-7955" r="-1802" b="-202273"/>
                          </a:stretch>
                        </a:blipFill>
                      </a:tcPr>
                    </a:tc>
                    <a:extLst>
                      <a:ext uri="{0D108BD9-81ED-4DB2-BD59-A6C34878D82A}">
                        <a16:rowId xmlns:a16="http://schemas.microsoft.com/office/drawing/2014/main" val="10000"/>
                      </a:ext>
                    </a:extLst>
                  </a:tr>
                  <a:tr h="533400">
                    <a:tc>
                      <a:txBody>
                        <a:bodyPr/>
                        <a:lstStyle/>
                        <a:p>
                          <a:pPr algn="ctr">
                            <a:defRPr sz="1600" b="0">
                              <a:solidFill>
                                <a:srgbClr val="262A2F"/>
                              </a:solidFill>
                              <a:latin typeface="Meiryo"/>
                            </a:defRPr>
                          </a:pPr>
                          <a:r>
                            <a:t>MULL</a:t>
                          </a:r>
                        </a:p>
                      </a:txBody>
                      <a:tcPr marL="36576" marR="36576" marT="18288" marB="18288">
                        <a:lnL w="12700" cap="flat" cmpd="sng" algn="ctr">
                          <a:solidFill>
                            <a:schemeClr val="tx1"/>
                          </a:solidFill>
                          <a:prstDash val="solid"/>
                          <a:round/>
                          <a:headEnd type="none" w="med" len="med"/>
                          <a:tailEnd type="none" w="med" len="med"/>
                        </a:lnL>
                        <a:solidFill>
                          <a:srgbClr val="F4F7FA"/>
                        </a:solidFill>
                      </a:tcPr>
                    </a:tc>
                    <a:tc>
                      <a:txBody>
                        <a:bodyPr/>
                        <a:lstStyle/>
                        <a:p>
                          <a:pPr algn="ctr">
                            <a:defRPr sz="1600" b="0">
                              <a:solidFill>
                                <a:srgbClr val="262A2F"/>
                              </a:solidFill>
                              <a:latin typeface="Meiryo"/>
                            </a:defRPr>
                          </a:pPr>
                          <a:r>
                            <a:t>1,067</a:t>
                          </a:r>
                        </a:p>
                      </a:txBody>
                      <a:tcPr marL="36576" marR="36576" marT="18288" marB="18288">
                        <a:solidFill>
                          <a:srgbClr val="F4F7FA"/>
                        </a:solidFill>
                      </a:tcPr>
                    </a:tc>
                    <a:tc>
                      <a:txBody>
                        <a:bodyPr/>
                        <a:lstStyle/>
                        <a:p>
                          <a:pPr algn="ctr">
                            <a:defRPr sz="1600" b="0">
                              <a:solidFill>
                                <a:srgbClr val="262A2F"/>
                              </a:solidFill>
                              <a:latin typeface="Meiryo"/>
                            </a:defRPr>
                          </a:pPr>
                          <a:r>
                            <a:t>6.13%</a:t>
                          </a:r>
                        </a:p>
                      </a:txBody>
                      <a:tcPr marL="36576" marR="36576" marT="18288" marB="18288">
                        <a:solidFill>
                          <a:srgbClr val="F4F7FA"/>
                        </a:solidFill>
                      </a:tcPr>
                    </a:tc>
                    <a:tc>
                      <a:txBody>
                        <a:bodyPr/>
                        <a:lstStyle/>
                        <a:p>
                          <a:pPr algn="ctr">
                            <a:defRPr sz="1600" b="0">
                              <a:solidFill>
                                <a:srgbClr val="262A2F"/>
                              </a:solidFill>
                              <a:latin typeface="Meiryo"/>
                            </a:defRPr>
                          </a:pPr>
                          <a:r>
                            <a:t>16.63</a:t>
                          </a:r>
                        </a:p>
                      </a:txBody>
                      <a:tcPr marL="36576" marR="36576" marT="18288" marB="18288">
                        <a:solidFill>
                          <a:srgbClr val="F4F7FA"/>
                        </a:solidFill>
                      </a:tcPr>
                    </a:tc>
                    <a:tc>
                      <a:txBody>
                        <a:bodyPr/>
                        <a:lstStyle/>
                        <a:p>
                          <a:pPr algn="ctr">
                            <a:defRPr sz="1600" b="0">
                              <a:solidFill>
                                <a:srgbClr val="262A2F"/>
                              </a:solidFill>
                              <a:latin typeface="Meiryo"/>
                            </a:defRPr>
                          </a:pPr>
                          <a:r>
                            <a:t>27.26</a:t>
                          </a:r>
                        </a:p>
                      </a:txBody>
                      <a:tcPr marL="36576" marR="36576" marT="18288" marB="18288">
                        <a:lnR w="12700" cap="flat" cmpd="sng" algn="ctr">
                          <a:solidFill>
                            <a:schemeClr val="tx1"/>
                          </a:solidFill>
                          <a:prstDash val="solid"/>
                          <a:round/>
                          <a:headEnd type="none" w="med" len="med"/>
                          <a:tailEnd type="none" w="med" len="med"/>
                        </a:lnR>
                        <a:solidFill>
                          <a:srgbClr val="F4F7FA"/>
                        </a:solidFill>
                      </a:tcPr>
                    </a:tc>
                    <a:extLst>
                      <a:ext uri="{0D108BD9-81ED-4DB2-BD59-A6C34878D82A}">
                        <a16:rowId xmlns:a16="http://schemas.microsoft.com/office/drawing/2014/main" val="10001"/>
                      </a:ext>
                    </a:extLst>
                  </a:tr>
                  <a:tr h="533400">
                    <a:tc>
                      <a:txBody>
                        <a:bodyPr/>
                        <a:lstStyle/>
                        <a:p>
                          <a:pPr algn="ctr">
                            <a:defRPr sz="1600" b="0">
                              <a:solidFill>
                                <a:srgbClr val="262A2F"/>
                              </a:solidFill>
                              <a:latin typeface="Meiryo"/>
                            </a:defRPr>
                          </a:pPr>
                          <a:r>
                            <a:t>HULL</a:t>
                          </a:r>
                        </a:p>
                      </a:txBody>
                      <a:tcPr marL="36576" marR="36576"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rPr dirty="0"/>
                            <a:t>3,836</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22.02%</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19.69</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rPr dirty="0"/>
                            <a:t>28.56</a:t>
                          </a:r>
                        </a:p>
                      </a:txBody>
                      <a:tcPr marL="36576" marR="36576"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mc:Fallback>
      </mc:AlternateContent>
      <p:sp>
        <p:nvSpPr>
          <p:cNvPr id="6" name="Rounded Rectangle 5"/>
          <p:cNvSpPr/>
          <p:nvPr/>
        </p:nvSpPr>
        <p:spPr>
          <a:xfrm>
            <a:off x="7516367" y="1691640"/>
            <a:ext cx="4160520" cy="160020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59" y="1810512"/>
            <a:ext cx="3831335" cy="329184"/>
          </a:xfrm>
          <a:prstGeom prst="rect">
            <a:avLst/>
          </a:prstGeom>
          <a:noFill/>
        </p:spPr>
        <p:txBody>
          <a:bodyPr wrap="square" lIns="18288" tIns="18288" rIns="18288" bIns="18288">
            <a:spAutoFit/>
          </a:bodyPr>
          <a:lstStyle/>
          <a:p>
            <a:pPr algn="l">
              <a:defRPr sz="1600" b="1">
                <a:solidFill>
                  <a:srgbClr val="3466A4"/>
                </a:solidFill>
                <a:latin typeface="Meiryo"/>
              </a:defRPr>
            </a:pPr>
            <a:r>
              <a:t>日時影響を除いた残差</a:t>
            </a:r>
          </a:p>
        </p:txBody>
      </p:sp>
      <p:sp>
        <p:nvSpPr>
          <p:cNvPr id="8" name="TextBox 7"/>
          <p:cNvSpPr txBox="1"/>
          <p:nvPr/>
        </p:nvSpPr>
        <p:spPr>
          <a:xfrm>
            <a:off x="7680959" y="2212848"/>
            <a:ext cx="3831335" cy="1021818"/>
          </a:xfrm>
          <a:prstGeom prst="rect">
            <a:avLst/>
          </a:prstGeom>
          <a:noFill/>
        </p:spPr>
        <p:txBody>
          <a:bodyPr wrap="square" lIns="18288" tIns="18288" rIns="18288" bIns="18288">
            <a:spAutoFit/>
          </a:bodyPr>
          <a:lstStyle/>
          <a:p>
            <a:pPr algn="l">
              <a:defRPr sz="1600" b="0">
                <a:solidFill>
                  <a:srgbClr val="262A2F"/>
                </a:solidFill>
                <a:latin typeface="Meiryo"/>
              </a:defRPr>
            </a:pPr>
            <a:r>
              <a:rPr dirty="0"/>
              <a:t>MULL=0：</a:t>
            </a:r>
            <a:r>
              <a:rPr lang="ja-JP" altLang="en-US" dirty="0"/>
              <a:t>残差</a:t>
            </a:r>
            <a:r>
              <a:rPr dirty="0" err="1"/>
              <a:t>平均</a:t>
            </a:r>
            <a:r>
              <a:rPr dirty="0"/>
              <a:t> -1.98</a:t>
            </a:r>
            <a:br>
              <a:rPr dirty="0"/>
            </a:br>
            <a:r>
              <a:rPr dirty="0"/>
              <a:t>HULL=0：</a:t>
            </a:r>
            <a:r>
              <a:rPr lang="ja-JP" altLang="en-US" dirty="0"/>
              <a:t>残差</a:t>
            </a:r>
            <a:r>
              <a:rPr dirty="0" err="1"/>
              <a:t>平均</a:t>
            </a:r>
            <a:r>
              <a:rPr dirty="0"/>
              <a:t> -1.32</a:t>
            </a:r>
            <a:br>
              <a:rPr dirty="0"/>
            </a:br>
            <a:r>
              <a:rPr dirty="0"/>
              <a:t>日時要因を差し引いても0値時のOTは相対的に低い。</a:t>
            </a:r>
          </a:p>
        </p:txBody>
      </p:sp>
      <p:sp>
        <p:nvSpPr>
          <p:cNvPr id="11" name="Rounded Rectangle 10"/>
          <p:cNvSpPr/>
          <p:nvPr/>
        </p:nvSpPr>
        <p:spPr>
          <a:xfrm>
            <a:off x="7516366" y="3729810"/>
            <a:ext cx="4160521" cy="1784022"/>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7745339" y="4002323"/>
            <a:ext cx="4974336" cy="329184"/>
          </a:xfrm>
          <a:prstGeom prst="rect">
            <a:avLst/>
          </a:prstGeom>
          <a:noFill/>
        </p:spPr>
        <p:txBody>
          <a:bodyPr wrap="square" lIns="18288" tIns="18288" rIns="18288" bIns="18288">
            <a:spAutoFit/>
          </a:bodyPr>
          <a:lstStyle/>
          <a:p>
            <a:pPr algn="l">
              <a:defRPr sz="1600" b="1">
                <a:solidFill>
                  <a:srgbClr val="25775A"/>
                </a:solidFill>
                <a:latin typeface="Meiryo"/>
              </a:defRPr>
            </a:pPr>
            <a:r>
              <a:rPr dirty="0" err="1"/>
              <a:t>判断と注意</a:t>
            </a:r>
            <a:endParaRPr dirty="0"/>
          </a:p>
        </p:txBody>
      </p:sp>
      <p:sp>
        <p:nvSpPr>
          <p:cNvPr id="13" name="TextBox 12"/>
          <p:cNvSpPr txBox="1"/>
          <p:nvPr/>
        </p:nvSpPr>
        <p:spPr>
          <a:xfrm>
            <a:off x="7775943" y="4402710"/>
            <a:ext cx="3736351" cy="1021818"/>
          </a:xfrm>
          <a:prstGeom prst="rect">
            <a:avLst/>
          </a:prstGeom>
          <a:noFill/>
        </p:spPr>
        <p:txBody>
          <a:bodyPr wrap="square" lIns="18288" tIns="18288" rIns="18288" bIns="18288">
            <a:spAutoFit/>
          </a:bodyPr>
          <a:lstStyle/>
          <a:p>
            <a:pPr algn="l">
              <a:defRPr sz="1600" b="0">
                <a:solidFill>
                  <a:srgbClr val="262A2F"/>
                </a:solidFill>
                <a:latin typeface="Meiryo"/>
              </a:defRPr>
            </a:pPr>
            <a:r>
              <a:rPr dirty="0"/>
              <a:t>0値を欠損補完しない。ただし、これは関連性の確認であり「0値が油温低下を引き起こす」という因果関係は示していない。</a:t>
            </a:r>
          </a:p>
        </p:txBody>
      </p:sp>
      <p:pic>
        <p:nvPicPr>
          <p:cNvPr id="15" name="図 14">
            <a:extLst>
              <a:ext uri="{FF2B5EF4-FFF2-40B4-BE49-F238E27FC236}">
                <a16:creationId xmlns:a16="http://schemas.microsoft.com/office/drawing/2014/main" id="{92B02EDF-E28D-E7FD-3DEB-534B24E4428E}"/>
              </a:ext>
            </a:extLst>
          </p:cNvPr>
          <p:cNvPicPr>
            <a:picLocks noChangeAspect="1"/>
          </p:cNvPicPr>
          <p:nvPr/>
        </p:nvPicPr>
        <p:blipFill>
          <a:blip r:embed="rId4"/>
          <a:stretch>
            <a:fillRect/>
          </a:stretch>
        </p:blipFill>
        <p:spPr>
          <a:xfrm>
            <a:off x="362331" y="3589892"/>
            <a:ext cx="7283824" cy="2387765"/>
          </a:xfrm>
          <a:prstGeom prst="rect">
            <a:avLst/>
          </a:prstGeom>
        </p:spPr>
      </p:pic>
      <p:sp>
        <p:nvSpPr>
          <p:cNvPr id="9" name="テキスト ボックス 8">
            <a:extLst>
              <a:ext uri="{FF2B5EF4-FFF2-40B4-BE49-F238E27FC236}">
                <a16:creationId xmlns:a16="http://schemas.microsoft.com/office/drawing/2014/main" id="{2849015A-D4E3-4B5F-3F96-25335555FE85}"/>
              </a:ext>
            </a:extLst>
          </p:cNvPr>
          <p:cNvSpPr txBox="1"/>
          <p:nvPr/>
        </p:nvSpPr>
        <p:spPr>
          <a:xfrm>
            <a:off x="594359" y="6005988"/>
            <a:ext cx="2925730" cy="307777"/>
          </a:xfrm>
          <a:prstGeom prst="rect">
            <a:avLst/>
          </a:prstGeom>
          <a:noFill/>
        </p:spPr>
        <p:txBody>
          <a:bodyPr wrap="square" rtlCol="0">
            <a:spAutoFit/>
          </a:bodyPr>
          <a:lstStyle/>
          <a:p>
            <a:r>
              <a:rPr kumimoji="1" lang="en-US" altLang="ja-JP" sz="1400" dirty="0" err="1"/>
              <a:t>MULL_zero</a:t>
            </a:r>
            <a:r>
              <a:rPr kumimoji="1" lang="en-US" altLang="ja-JP" sz="1400" dirty="0"/>
              <a:t> Rate by Month and Hour</a:t>
            </a:r>
            <a:endParaRPr kumimoji="1" lang="ja-JP" altLang="en-US" sz="1400" dirty="0"/>
          </a:p>
        </p:txBody>
      </p:sp>
      <p:sp>
        <p:nvSpPr>
          <p:cNvPr id="14" name="テキスト ボックス 13">
            <a:extLst>
              <a:ext uri="{FF2B5EF4-FFF2-40B4-BE49-F238E27FC236}">
                <a16:creationId xmlns:a16="http://schemas.microsoft.com/office/drawing/2014/main" id="{D1AB38B1-F86B-C4DE-B323-12F52E314B38}"/>
              </a:ext>
            </a:extLst>
          </p:cNvPr>
          <p:cNvSpPr txBox="1"/>
          <p:nvPr/>
        </p:nvSpPr>
        <p:spPr>
          <a:xfrm>
            <a:off x="4435189" y="6012259"/>
            <a:ext cx="2925730" cy="307777"/>
          </a:xfrm>
          <a:prstGeom prst="rect">
            <a:avLst/>
          </a:prstGeom>
          <a:noFill/>
        </p:spPr>
        <p:txBody>
          <a:bodyPr wrap="square" rtlCol="0">
            <a:spAutoFit/>
          </a:bodyPr>
          <a:lstStyle/>
          <a:p>
            <a:r>
              <a:rPr kumimoji="1" lang="en-US" altLang="ja-JP" sz="1400" dirty="0" err="1"/>
              <a:t>HULL_zero</a:t>
            </a:r>
            <a:r>
              <a:rPr kumimoji="1" lang="en-US" altLang="ja-JP" sz="1400" dirty="0"/>
              <a:t> Rate by Month and Hour</a:t>
            </a:r>
            <a:endParaRPr kumimoji="1" lang="ja-JP" altLang="en-US" sz="1400" dirty="0"/>
          </a:p>
        </p:txBody>
      </p:sp>
    </p:spTree>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rPr dirty="0" err="1"/>
              <a:t>モデル設計</a:t>
            </a:r>
            <a:endParaRPr dirty="0"/>
          </a:p>
        </p:txBody>
      </p:sp>
      <p:sp>
        <p:nvSpPr>
          <p:cNvPr id="3" name="TextBox 2"/>
          <p:cNvSpPr txBox="1"/>
          <p:nvPr/>
        </p:nvSpPr>
        <p:spPr>
          <a:xfrm>
            <a:off x="502920" y="665583"/>
            <a:ext cx="11064240" cy="1144929"/>
          </a:xfrm>
          <a:prstGeom prst="rect">
            <a:avLst/>
          </a:prstGeom>
          <a:noFill/>
        </p:spPr>
        <p:txBody>
          <a:bodyPr wrap="square" lIns="18288" tIns="18288" rIns="18288" bIns="18288">
            <a:spAutoFit/>
          </a:bodyPr>
          <a:lstStyle/>
          <a:p>
            <a:pPr>
              <a:defRPr sz="2400" b="1">
                <a:solidFill>
                  <a:srgbClr val="262A2F"/>
                </a:solidFill>
                <a:latin typeface="Meiryo"/>
              </a:defRPr>
            </a:pPr>
            <a:r>
              <a:rPr lang="ja-JP" altLang="en-US" dirty="0">
                <a:latin typeface="メイリオ" panose="020B0604030504040204" pitchFamily="50" charset="-128"/>
                <a:ea typeface="メイリオ" panose="020B0604030504040204" pitchFamily="50" charset="-128"/>
              </a:rPr>
              <a:t>解釈性を優先して重回帰分析を採用し、</a:t>
            </a:r>
            <a:r>
              <a:rPr lang="en-US" altLang="ja-JP" dirty="0">
                <a:latin typeface="メイリオ" panose="020B0604030504040204" pitchFamily="50" charset="-128"/>
                <a:ea typeface="メイリオ" panose="020B0604030504040204" pitchFamily="50" charset="-128"/>
              </a:rPr>
              <a:t>EDA</a:t>
            </a:r>
            <a:r>
              <a:rPr lang="ja-JP" altLang="en-US" dirty="0">
                <a:latin typeface="メイリオ" panose="020B0604030504040204" pitchFamily="50" charset="-128"/>
                <a:ea typeface="メイリオ" panose="020B0604030504040204" pitchFamily="50" charset="-128"/>
              </a:rPr>
              <a:t>で得られた時系列性・周期性・負荷選択を設計で考慮</a:t>
            </a:r>
          </a:p>
          <a:p>
            <a:pPr algn="l">
              <a:defRPr sz="2400" b="1">
                <a:solidFill>
                  <a:srgbClr val="262A2F"/>
                </a:solidFill>
                <a:latin typeface="Meiryo"/>
              </a:defRPr>
            </a:pPr>
            <a:endParaRPr dirty="0"/>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691640"/>
            <a:ext cx="5303520" cy="1586256"/>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810512"/>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t>周期性</a:t>
            </a:r>
          </a:p>
        </p:txBody>
      </p:sp>
      <p:sp>
        <p:nvSpPr>
          <p:cNvPr id="7" name="TextBox 6"/>
          <p:cNvSpPr txBox="1"/>
          <p:nvPr/>
        </p:nvSpPr>
        <p:spPr>
          <a:xfrm>
            <a:off x="758952" y="2212848"/>
            <a:ext cx="4974336" cy="529376"/>
          </a:xfrm>
          <a:prstGeom prst="rect">
            <a:avLst/>
          </a:prstGeom>
          <a:noFill/>
        </p:spPr>
        <p:txBody>
          <a:bodyPr wrap="square" lIns="18288" tIns="18288" rIns="18288" bIns="18288">
            <a:spAutoFit/>
          </a:bodyPr>
          <a:lstStyle/>
          <a:p>
            <a:pPr algn="l">
              <a:defRPr sz="1600" b="0">
                <a:solidFill>
                  <a:srgbClr val="262A2F"/>
                </a:solidFill>
                <a:latin typeface="Meiryo"/>
              </a:defRPr>
            </a:pPr>
            <a:r>
              <a:rPr dirty="0">
                <a:latin typeface="メイリオ" panose="020B0604030504040204" pitchFamily="50" charset="-128"/>
                <a:ea typeface="メイリオ" panose="020B0604030504040204" pitchFamily="50" charset="-128"/>
              </a:rPr>
              <a:t>hour / weekday / month を </a:t>
            </a:r>
            <a:r>
              <a:rPr dirty="0" err="1">
                <a:latin typeface="メイリオ" panose="020B0604030504040204" pitchFamily="50" charset="-128"/>
                <a:ea typeface="メイリオ" panose="020B0604030504040204" pitchFamily="50" charset="-128"/>
              </a:rPr>
              <a:t>sin・cos</a:t>
            </a:r>
            <a:r>
              <a:rPr dirty="0">
                <a:latin typeface="メイリオ" panose="020B0604030504040204" pitchFamily="50" charset="-128"/>
                <a:ea typeface="メイリオ" panose="020B0604030504040204" pitchFamily="50" charset="-128"/>
              </a:rPr>
              <a:t> </a:t>
            </a:r>
            <a:r>
              <a:rPr dirty="0" err="1">
                <a:latin typeface="メイリオ" panose="020B0604030504040204" pitchFamily="50" charset="-128"/>
                <a:ea typeface="メイリオ" panose="020B0604030504040204" pitchFamily="50" charset="-128"/>
              </a:rPr>
              <a:t>変換</a:t>
            </a:r>
            <a:r>
              <a:rPr lang="ja-JP" altLang="en-US" dirty="0">
                <a:latin typeface="メイリオ" panose="020B0604030504040204" pitchFamily="50" charset="-128"/>
                <a:ea typeface="メイリオ" panose="020B0604030504040204" pitchFamily="50" charset="-128"/>
              </a:rPr>
              <a:t>し、周期の端点を連続的に表現。</a:t>
            </a:r>
            <a:endParaRPr dirty="0">
              <a:latin typeface="メイリオ" panose="020B0604030504040204" pitchFamily="50" charset="-128"/>
              <a:ea typeface="メイリオ" panose="020B0604030504040204" pitchFamily="50" charset="-128"/>
            </a:endParaRPr>
          </a:p>
        </p:txBody>
      </p:sp>
      <p:sp>
        <p:nvSpPr>
          <p:cNvPr id="8" name="Rounded Rectangle 7"/>
          <p:cNvSpPr/>
          <p:nvPr/>
        </p:nvSpPr>
        <p:spPr>
          <a:xfrm>
            <a:off x="6172200" y="1691640"/>
            <a:ext cx="5303520" cy="1586256"/>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36792" y="1810512"/>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t>履歴</a:t>
            </a:r>
          </a:p>
        </p:txBody>
      </p:sp>
      <p:sp>
        <p:nvSpPr>
          <p:cNvPr id="10" name="TextBox 9"/>
          <p:cNvSpPr txBox="1"/>
          <p:nvPr/>
        </p:nvSpPr>
        <p:spPr>
          <a:xfrm>
            <a:off x="6336792" y="2171282"/>
            <a:ext cx="4974336" cy="1021818"/>
          </a:xfrm>
          <a:prstGeom prst="rect">
            <a:avLst/>
          </a:prstGeom>
          <a:noFill/>
        </p:spPr>
        <p:txBody>
          <a:bodyPr wrap="square" lIns="18288" tIns="18288" rIns="18288" bIns="18288">
            <a:spAutoFit/>
          </a:bodyPr>
          <a:lstStyle/>
          <a:p>
            <a:pPr>
              <a:defRPr sz="1600" b="0">
                <a:solidFill>
                  <a:srgbClr val="262A2F"/>
                </a:solidFill>
                <a:latin typeface="Meiryo"/>
              </a:defRPr>
            </a:pPr>
            <a:r>
              <a:rPr lang="ja-JP" altLang="ja-JP" sz="1600" dirty="0">
                <a:solidFill>
                  <a:srgbClr val="262A2F"/>
                </a:solidFill>
                <a:latin typeface="メイリオ" panose="020B0604030504040204" pitchFamily="50" charset="-128"/>
                <a:ea typeface="メイリオ" panose="020B0604030504040204" pitchFamily="50" charset="-128"/>
              </a:rPr>
              <a:t>油温は直前の状態を引き継ぐと考え、1時間前の油温 </a:t>
            </a:r>
            <a:r>
              <a:rPr lang="ja-JP" altLang="en-US" sz="1600" dirty="0">
                <a:solidFill>
                  <a:srgbClr val="262A2F"/>
                </a:solidFill>
                <a:latin typeface="メイリオ" panose="020B0604030504040204" pitchFamily="50" charset="-128"/>
                <a:ea typeface="メイリオ" panose="020B0604030504040204" pitchFamily="50" charset="-128"/>
              </a:rPr>
              <a:t>を</a:t>
            </a:r>
            <a:r>
              <a:rPr lang="ja-JP" altLang="ja-JP" sz="1600" dirty="0">
                <a:solidFill>
                  <a:srgbClr val="262A2F"/>
                </a:solidFill>
                <a:latin typeface="メイリオ" panose="020B0604030504040204" pitchFamily="50" charset="-128"/>
                <a:ea typeface="メイリオ" panose="020B0604030504040204" pitchFamily="50" charset="-128"/>
              </a:rPr>
              <a:t>特徴量として採用</a:t>
            </a:r>
            <a:r>
              <a:rPr lang="ja-JP" altLang="en-US" sz="1600" dirty="0">
                <a:solidFill>
                  <a:srgbClr val="262A2F"/>
                </a:solidFill>
                <a:latin typeface="メイリオ" panose="020B0604030504040204" pitchFamily="50" charset="-128"/>
                <a:ea typeface="メイリオ" panose="020B0604030504040204" pitchFamily="50" charset="-128"/>
              </a:rPr>
              <a:t>。また、</a:t>
            </a:r>
            <a:r>
              <a:rPr lang="ja-JP" altLang="ja-JP" sz="1600" dirty="0">
                <a:solidFill>
                  <a:srgbClr val="262A2F"/>
                </a:solidFill>
                <a:latin typeface="メイリオ" panose="020B0604030504040204" pitchFamily="50" charset="-128"/>
                <a:ea typeface="メイリオ" panose="020B0604030504040204" pitchFamily="50" charset="-128"/>
              </a:rPr>
              <a:t>長期的な変化を表現するため、</a:t>
            </a:r>
            <a:r>
              <a:rPr lang="ja-JP" altLang="en-US" sz="1600" dirty="0">
                <a:solidFill>
                  <a:srgbClr val="262A2F"/>
                </a:solidFill>
                <a:latin typeface="メイリオ" panose="020B0604030504040204" pitchFamily="50" charset="-128"/>
                <a:ea typeface="メイリオ" panose="020B0604030504040204" pitchFamily="50" charset="-128"/>
              </a:rPr>
              <a:t>データ</a:t>
            </a:r>
            <a:r>
              <a:rPr lang="ja-JP" altLang="ja-JP" sz="1600" dirty="0">
                <a:solidFill>
                  <a:srgbClr val="262A2F"/>
                </a:solidFill>
                <a:latin typeface="メイリオ" panose="020B0604030504040204" pitchFamily="50" charset="-128"/>
                <a:ea typeface="メイリオ" panose="020B0604030504040204" pitchFamily="50" charset="-128"/>
              </a:rPr>
              <a:t>開始日からの経過日数を特徴量として追加。</a:t>
            </a:r>
            <a:endParaRPr dirty="0">
              <a:latin typeface="メイリオ" panose="020B0604030504040204" pitchFamily="50" charset="-128"/>
              <a:ea typeface="メイリオ" panose="020B0604030504040204" pitchFamily="50" charset="-128"/>
            </a:endParaRPr>
          </a:p>
        </p:txBody>
      </p:sp>
      <p:sp>
        <p:nvSpPr>
          <p:cNvPr id="11" name="Rounded Rectangle 10"/>
          <p:cNvSpPr/>
          <p:nvPr/>
        </p:nvSpPr>
        <p:spPr>
          <a:xfrm>
            <a:off x="594360" y="3433482"/>
            <a:ext cx="5303520" cy="123444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3552354"/>
            <a:ext cx="4974336" cy="329184"/>
          </a:xfrm>
          <a:prstGeom prst="rect">
            <a:avLst/>
          </a:prstGeom>
          <a:noFill/>
        </p:spPr>
        <p:txBody>
          <a:bodyPr wrap="square" lIns="18288" tIns="18288" rIns="18288" bIns="18288">
            <a:spAutoFit/>
          </a:bodyPr>
          <a:lstStyle/>
          <a:p>
            <a:pPr algn="l">
              <a:defRPr sz="1600" b="1">
                <a:solidFill>
                  <a:srgbClr val="25775A"/>
                </a:solidFill>
                <a:latin typeface="Meiryo"/>
              </a:defRPr>
            </a:pPr>
            <a:r>
              <a:t>時系列分割</a:t>
            </a:r>
          </a:p>
        </p:txBody>
      </p:sp>
      <p:sp>
        <p:nvSpPr>
          <p:cNvPr id="13" name="TextBox 12"/>
          <p:cNvSpPr txBox="1"/>
          <p:nvPr/>
        </p:nvSpPr>
        <p:spPr>
          <a:xfrm>
            <a:off x="758952" y="3954690"/>
            <a:ext cx="4974336" cy="529376"/>
          </a:xfrm>
          <a:prstGeom prst="rect">
            <a:avLst/>
          </a:prstGeom>
          <a:noFill/>
        </p:spPr>
        <p:txBody>
          <a:bodyPr wrap="square" lIns="18288" tIns="18288" rIns="18288" bIns="18288">
            <a:spAutoFit/>
          </a:bodyPr>
          <a:lstStyle/>
          <a:p>
            <a:pPr algn="l">
              <a:defRPr sz="1600" b="0">
                <a:solidFill>
                  <a:srgbClr val="262A2F"/>
                </a:solidFill>
                <a:latin typeface="Meiryo"/>
              </a:defRPr>
            </a:pPr>
            <a:r>
              <a:rPr lang="ja-JP" altLang="en-US" dirty="0">
                <a:latin typeface="メイリオ" panose="020B0604030504040204" pitchFamily="50" charset="-128"/>
                <a:ea typeface="メイリオ" panose="020B0604030504040204" pitchFamily="50" charset="-128"/>
              </a:rPr>
              <a:t>時系列の</a:t>
            </a:r>
            <a:r>
              <a:rPr dirty="0">
                <a:latin typeface="メイリオ" panose="020B0604030504040204" pitchFamily="50" charset="-128"/>
                <a:ea typeface="メイリオ" panose="020B0604030504040204" pitchFamily="50" charset="-128"/>
              </a:rPr>
              <a:t>前半80%学習・後半20%テスト</a:t>
            </a:r>
            <a:r>
              <a:rPr lang="ja-JP" altLang="en-US" dirty="0">
                <a:latin typeface="メイリオ" panose="020B0604030504040204" pitchFamily="50" charset="-128"/>
                <a:ea typeface="メイリオ" panose="020B0604030504040204" pitchFamily="50" charset="-128"/>
              </a:rPr>
              <a:t>に設定。ランダム分割を避け未来情報のリークを防止。</a:t>
            </a:r>
            <a:endParaRPr dirty="0">
              <a:latin typeface="メイリオ" panose="020B0604030504040204" pitchFamily="50" charset="-128"/>
              <a:ea typeface="メイリオ" panose="020B0604030504040204" pitchFamily="50" charset="-128"/>
            </a:endParaRPr>
          </a:p>
        </p:txBody>
      </p:sp>
      <p:sp>
        <p:nvSpPr>
          <p:cNvPr id="14" name="Rounded Rectangle 13"/>
          <p:cNvSpPr/>
          <p:nvPr/>
        </p:nvSpPr>
        <p:spPr>
          <a:xfrm>
            <a:off x="6172200" y="3467748"/>
            <a:ext cx="5303520" cy="123444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3552354"/>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t>負荷選択</a:t>
            </a:r>
          </a:p>
        </p:txBody>
      </p:sp>
      <p:sp>
        <p:nvSpPr>
          <p:cNvPr id="16" name="TextBox 15"/>
          <p:cNvSpPr txBox="1"/>
          <p:nvPr/>
        </p:nvSpPr>
        <p:spPr>
          <a:xfrm>
            <a:off x="6336792" y="3954690"/>
            <a:ext cx="4974336" cy="529376"/>
          </a:xfrm>
          <a:prstGeom prst="rect">
            <a:avLst/>
          </a:prstGeom>
          <a:noFill/>
        </p:spPr>
        <p:txBody>
          <a:bodyPr wrap="square" lIns="18288" tIns="18288" rIns="18288" bIns="18288">
            <a:spAutoFit/>
          </a:bodyPr>
          <a:lstStyle/>
          <a:p>
            <a:pPr algn="l">
              <a:defRPr sz="1600" b="0">
                <a:solidFill>
                  <a:srgbClr val="262A2F"/>
                </a:solidFill>
                <a:latin typeface="Meiryo"/>
              </a:defRPr>
            </a:pPr>
            <a:r>
              <a:rPr lang="ja-JP" altLang="en-US" dirty="0">
                <a:latin typeface="メイリオ" panose="020B0604030504040204" pitchFamily="50" charset="-128"/>
                <a:ea typeface="メイリオ" panose="020B0604030504040204" pitchFamily="50" charset="-128"/>
              </a:rPr>
              <a:t>相関関係が強い</a:t>
            </a:r>
            <a:r>
              <a:rPr lang="en-US" altLang="ja-JP" dirty="0">
                <a:latin typeface="メイリオ" panose="020B0604030504040204" pitchFamily="50" charset="-128"/>
                <a:ea typeface="メイリオ" panose="020B0604030504040204" pitchFamily="50" charset="-128"/>
              </a:rPr>
              <a:t>2</a:t>
            </a:r>
            <a:r>
              <a:rPr lang="ja-JP" altLang="en-US" dirty="0">
                <a:latin typeface="メイリオ" panose="020B0604030504040204" pitchFamily="50" charset="-128"/>
                <a:ea typeface="メイリオ" panose="020B0604030504040204" pitchFamily="50" charset="-128"/>
              </a:rPr>
              <a:t>変数による情報重複を避けるために</a:t>
            </a:r>
            <a:r>
              <a:rPr dirty="0">
                <a:latin typeface="メイリオ" panose="020B0604030504040204" pitchFamily="50" charset="-128"/>
                <a:ea typeface="メイリオ" panose="020B0604030504040204" pitchFamily="50" charset="-128"/>
              </a:rPr>
              <a:t>MULL/</a:t>
            </a:r>
            <a:r>
              <a:rPr dirty="0" err="1">
                <a:latin typeface="メイリオ" panose="020B0604030504040204" pitchFamily="50" charset="-128"/>
                <a:ea typeface="メイリオ" panose="020B0604030504040204" pitchFamily="50" charset="-128"/>
              </a:rPr>
              <a:t>HULLのうち</a:t>
            </a:r>
            <a:r>
              <a:rPr lang="en-US" dirty="0" err="1">
                <a:latin typeface="メイリオ" panose="020B0604030504040204" pitchFamily="50" charset="-128"/>
                <a:ea typeface="メイリオ" panose="020B0604030504040204" pitchFamily="50" charset="-128"/>
              </a:rPr>
              <a:t>OT</a:t>
            </a:r>
            <a:r>
              <a:rPr lang="ja-JP" altLang="en-US" dirty="0">
                <a:latin typeface="メイリオ" panose="020B0604030504040204" pitchFamily="50" charset="-128"/>
                <a:ea typeface="メイリオ" panose="020B0604030504040204" pitchFamily="50" charset="-128"/>
              </a:rPr>
              <a:t>との</a:t>
            </a:r>
            <a:r>
              <a:rPr dirty="0" err="1">
                <a:latin typeface="メイリオ" panose="020B0604030504040204" pitchFamily="50" charset="-128"/>
                <a:ea typeface="メイリオ" panose="020B0604030504040204" pitchFamily="50" charset="-128"/>
              </a:rPr>
              <a:t>相関が強い一方を採用</a:t>
            </a:r>
            <a:r>
              <a:rPr lang="ja-JP" altLang="en-US" dirty="0">
                <a:latin typeface="メイリオ" panose="020B0604030504040204" pitchFamily="50" charset="-128"/>
                <a:ea typeface="メイリオ" panose="020B0604030504040204" pitchFamily="50" charset="-128"/>
              </a:rPr>
              <a:t>。</a:t>
            </a:r>
            <a:endParaRPr dirty="0">
              <a:latin typeface="メイリオ" panose="020B0604030504040204" pitchFamily="50" charset="-128"/>
              <a:ea typeface="メイリオ" panose="020B0604030504040204" pitchFamily="50" charset="-128"/>
            </a:endParaRPr>
          </a:p>
        </p:txBody>
      </p:sp>
      <p:sp>
        <p:nvSpPr>
          <p:cNvPr id="17" name="Rounded Rectangle 16"/>
          <p:cNvSpPr/>
          <p:nvPr/>
        </p:nvSpPr>
        <p:spPr>
          <a:xfrm>
            <a:off x="594360" y="4892040"/>
            <a:ext cx="10881360" cy="1764792"/>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5010912"/>
            <a:ext cx="10552176" cy="329184"/>
          </a:xfrm>
          <a:prstGeom prst="rect">
            <a:avLst/>
          </a:prstGeom>
          <a:noFill/>
        </p:spPr>
        <p:txBody>
          <a:bodyPr wrap="square" lIns="18288" tIns="18288" rIns="18288" bIns="18288">
            <a:spAutoFit/>
          </a:bodyPr>
          <a:lstStyle/>
          <a:p>
            <a:pPr algn="l">
              <a:defRPr sz="1600" b="1">
                <a:solidFill>
                  <a:srgbClr val="3466A4"/>
                </a:solidFill>
                <a:latin typeface="Meiryo"/>
              </a:defRPr>
            </a:pPr>
            <a:r>
              <a:t>採用モデル：重回帰分析（Linear Regression）</a:t>
            </a:r>
          </a:p>
        </p:txBody>
      </p:sp>
      <p:sp>
        <p:nvSpPr>
          <p:cNvPr id="19" name="TextBox 18"/>
          <p:cNvSpPr txBox="1"/>
          <p:nvPr/>
        </p:nvSpPr>
        <p:spPr>
          <a:xfrm>
            <a:off x="758952" y="5413248"/>
            <a:ext cx="10552176" cy="1268039"/>
          </a:xfrm>
          <a:prstGeom prst="rect">
            <a:avLst/>
          </a:prstGeom>
          <a:noFill/>
        </p:spPr>
        <p:txBody>
          <a:bodyPr wrap="square" lIns="18288" tIns="18288" rIns="18288" bIns="18288">
            <a:spAutoFit/>
          </a:bodyPr>
          <a:lstStyle/>
          <a:p>
            <a:pPr>
              <a:defRPr sz="1600" b="0">
                <a:solidFill>
                  <a:srgbClr val="262A2F"/>
                </a:solidFill>
                <a:latin typeface="Meiryo"/>
              </a:defRPr>
            </a:pPr>
            <a:r>
              <a:rPr lang="ja-JP" altLang="ja-JP" sz="1600" dirty="0">
                <a:solidFill>
                  <a:srgbClr val="262A2F"/>
                </a:solidFill>
                <a:latin typeface="メイリオ" panose="020B0604030504040204" pitchFamily="50" charset="-128"/>
                <a:ea typeface="メイリオ" panose="020B0604030504040204" pitchFamily="50" charset="-128"/>
              </a:rPr>
              <a:t>油温は連続値であり、複数の特徴量から予測する回帰問題である。またPoCでは予測精度に加え、各特徴量と予測値の関係を係数から解釈できることを重視し、重回帰分析を採用した</a:t>
            </a:r>
            <a:r>
              <a:rPr dirty="0">
                <a:latin typeface="メイリオ" panose="020B0604030504040204" pitchFamily="50" charset="-128"/>
                <a:ea typeface="メイリオ" panose="020B0604030504040204" pitchFamily="50" charset="-128"/>
              </a:rPr>
              <a:t>。</a:t>
            </a:r>
            <a:endParaRPr lang="en-US" dirty="0">
              <a:latin typeface="メイリオ" panose="020B0604030504040204" pitchFamily="50" charset="-128"/>
              <a:ea typeface="メイリオ" panose="020B0604030504040204" pitchFamily="50" charset="-128"/>
            </a:endParaRPr>
          </a:p>
          <a:p>
            <a:pPr>
              <a:defRPr sz="1600" b="0">
                <a:solidFill>
                  <a:srgbClr val="262A2F"/>
                </a:solidFill>
                <a:latin typeface="Meiryo"/>
              </a:defRPr>
            </a:pPr>
            <a:r>
              <a:rPr lang="ja-JP" altLang="en-US" dirty="0">
                <a:latin typeface="メイリオ" panose="020B0604030504040204" pitchFamily="50" charset="-128"/>
                <a:ea typeface="メイリオ" panose="020B0604030504040204" pitchFamily="50" charset="-128"/>
              </a:rPr>
              <a:t>説明変数：選択負荷 </a:t>
            </a:r>
            <a:r>
              <a:rPr lang="en-US" altLang="ja-JP" dirty="0">
                <a:latin typeface="メイリオ" panose="020B0604030504040204" pitchFamily="50" charset="-128"/>
                <a:ea typeface="メイリオ" panose="020B0604030504040204" pitchFamily="50" charset="-128"/>
              </a:rPr>
              <a:t>+ OT_lag_1 + </a:t>
            </a:r>
            <a:r>
              <a:rPr lang="en-US" altLang="ja-JP" dirty="0" err="1">
                <a:latin typeface="メイリオ" panose="020B0604030504040204" pitchFamily="50" charset="-128"/>
                <a:ea typeface="メイリオ" panose="020B0604030504040204" pitchFamily="50" charset="-128"/>
              </a:rPr>
              <a:t>elapsed_days</a:t>
            </a:r>
            <a:r>
              <a:rPr lang="en-US" altLang="ja-JP" dirty="0">
                <a:latin typeface="メイリオ" panose="020B0604030504040204" pitchFamily="50" charset="-128"/>
                <a:ea typeface="メイリオ" panose="020B0604030504040204" pitchFamily="50" charset="-128"/>
              </a:rPr>
              <a:t> + hour(sin/cos) + weekday(sin/cos) + month(sin/cos</a:t>
            </a:r>
            <a:r>
              <a:rPr lang="ja-JP" altLang="en-US" dirty="0">
                <a:latin typeface="メイリオ" panose="020B0604030504040204" pitchFamily="50" charset="-128"/>
                <a:ea typeface="メイリオ" panose="020B0604030504040204" pitchFamily="50" charset="-128"/>
              </a:rPr>
              <a:t>）</a:t>
            </a:r>
            <a:endParaRPr lang="en-US" altLang="ja-JP" dirty="0">
              <a:latin typeface="メイリオ" panose="020B0604030504040204" pitchFamily="50" charset="-128"/>
              <a:ea typeface="メイリオ" panose="020B0604030504040204" pitchFamily="50" charset="-128"/>
            </a:endParaRPr>
          </a:p>
          <a:p>
            <a:pPr>
              <a:defRPr sz="1600" b="0">
                <a:solidFill>
                  <a:srgbClr val="262A2F"/>
                </a:solidFill>
                <a:latin typeface="Meiryo"/>
              </a:defRPr>
            </a:pPr>
            <a:r>
              <a:rPr lang="ja-JP" altLang="en-US" dirty="0">
                <a:latin typeface="メイリオ" panose="020B0604030504040204" pitchFamily="50" charset="-128"/>
                <a:ea typeface="メイリオ" panose="020B0604030504040204" pitchFamily="50" charset="-128"/>
              </a:rPr>
              <a:t>目的変数：各時点の</a:t>
            </a:r>
            <a:r>
              <a:rPr lang="en-US" altLang="ja-JP" dirty="0">
                <a:latin typeface="メイリオ" panose="020B0604030504040204" pitchFamily="50" charset="-128"/>
                <a:ea typeface="メイリオ" panose="020B0604030504040204" pitchFamily="50" charset="-128"/>
              </a:rPr>
              <a:t>Oil Temperature</a:t>
            </a:r>
            <a:r>
              <a:rPr lang="ja-JP" altLang="en-US" dirty="0">
                <a:latin typeface="メイリオ" panose="020B0604030504040204" pitchFamily="50" charset="-128"/>
                <a:ea typeface="メイリオ" panose="020B0604030504040204" pitchFamily="50" charset="-128"/>
              </a:rPr>
              <a:t>（</a:t>
            </a:r>
            <a:r>
              <a:rPr lang="en-US" altLang="ja-JP" dirty="0">
                <a:latin typeface="メイリオ" panose="020B0604030504040204" pitchFamily="50" charset="-128"/>
                <a:ea typeface="メイリオ" panose="020B0604030504040204" pitchFamily="50" charset="-128"/>
              </a:rPr>
              <a:t>OT</a:t>
            </a:r>
            <a:r>
              <a:rPr lang="ja-JP" altLang="en-US" dirty="0">
                <a:latin typeface="メイリオ" panose="020B0604030504040204" pitchFamily="50" charset="-128"/>
                <a:ea typeface="メイリオ" panose="020B0604030504040204" pitchFamily="50" charset="-128"/>
              </a:rPr>
              <a:t>）</a:t>
            </a:r>
          </a:p>
          <a:p>
            <a:pPr>
              <a:defRPr sz="1600" b="0">
                <a:solidFill>
                  <a:srgbClr val="262A2F"/>
                </a:solidFill>
                <a:latin typeface="Meiryo"/>
              </a:defRP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t>モデル評価｜現在油温</a:t>
            </a:r>
          </a:p>
        </p:txBody>
      </p:sp>
      <p:sp>
        <p:nvSpPr>
          <p:cNvPr id="3" name="TextBox 2"/>
          <p:cNvSpPr txBox="1"/>
          <p:nvPr/>
        </p:nvSpPr>
        <p:spPr>
          <a:xfrm>
            <a:off x="502920" y="704088"/>
            <a:ext cx="11064240" cy="658368"/>
          </a:xfrm>
          <a:prstGeom prst="rect">
            <a:avLst/>
          </a:prstGeom>
          <a:noFill/>
        </p:spPr>
        <p:txBody>
          <a:bodyPr wrap="square" lIns="18288" tIns="18288" rIns="18288" bIns="18288">
            <a:spAutoFit/>
          </a:bodyPr>
          <a:lstStyle/>
          <a:p>
            <a:pPr algn="l">
              <a:defRPr sz="2400" b="1">
                <a:solidFill>
                  <a:srgbClr val="262A2F"/>
                </a:solidFill>
                <a:latin typeface="Meiryo"/>
              </a:defRPr>
            </a:pPr>
            <a:r>
              <a:t>ETTh1・ETTh2ともR²&gt;0.96であり、現在油温を高精度に再現できた</a:t>
            </a: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634671510"/>
              </p:ext>
            </p:extLst>
          </p:nvPr>
        </p:nvGraphicFramePr>
        <p:xfrm>
          <a:off x="7452360" y="1653089"/>
          <a:ext cx="4114800" cy="1131614"/>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420534">
                <a:tc>
                  <a:txBody>
                    <a:bodyPr/>
                    <a:lstStyle/>
                    <a:p>
                      <a:pPr algn="ctr">
                        <a:defRPr sz="1600" b="1">
                          <a:solidFill>
                            <a:srgbClr val="FFFFFF"/>
                          </a:solidFill>
                          <a:latin typeface="Meiryo"/>
                        </a:defRPr>
                      </a:pPr>
                      <a:r>
                        <a:rPr dirty="0"/>
                        <a:t>Dataset</a:t>
                      </a:r>
                    </a:p>
                  </a:txBody>
                  <a:tcPr marL="36576" marR="36576"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rPr dirty="0"/>
                        <a:t>MAE</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rPr dirty="0"/>
                        <a:t>RMSE</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600" b="1">
                          <a:solidFill>
                            <a:srgbClr val="FFFFFF"/>
                          </a:solidFill>
                          <a:latin typeface="Meiryo"/>
                        </a:defRPr>
                      </a:pPr>
                      <a:r>
                        <a:t>R²</a:t>
                      </a:r>
                    </a:p>
                  </a:txBody>
                  <a:tcPr marL="36576" marR="36576"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371228">
                <a:tc>
                  <a:txBody>
                    <a:bodyPr/>
                    <a:lstStyle/>
                    <a:p>
                      <a:pPr algn="ctr">
                        <a:defRPr sz="1600" b="0">
                          <a:solidFill>
                            <a:srgbClr val="262A2F"/>
                          </a:solidFill>
                          <a:latin typeface="Meiryo"/>
                        </a:defRPr>
                      </a:pPr>
                      <a:r>
                        <a:t>ETTh1</a:t>
                      </a:r>
                    </a:p>
                  </a:txBody>
                  <a:tcPr marL="36576" marR="36576" marT="18288" marB="18288">
                    <a:lnL w="12700" cap="flat" cmpd="sng" algn="ctr">
                      <a:solidFill>
                        <a:schemeClr val="tx1"/>
                      </a:solidFill>
                      <a:prstDash val="solid"/>
                      <a:round/>
                      <a:headEnd type="none" w="med" len="med"/>
                      <a:tailEnd type="none" w="med" len="med"/>
                    </a:lnL>
                    <a:solidFill>
                      <a:srgbClr val="F4F7FA"/>
                    </a:solidFill>
                  </a:tcPr>
                </a:tc>
                <a:tc>
                  <a:txBody>
                    <a:bodyPr/>
                    <a:lstStyle/>
                    <a:p>
                      <a:pPr algn="ctr">
                        <a:defRPr sz="1600" b="0">
                          <a:solidFill>
                            <a:srgbClr val="262A2F"/>
                          </a:solidFill>
                          <a:latin typeface="Meiryo"/>
                        </a:defRPr>
                      </a:pPr>
                      <a:r>
                        <a:t>0.45</a:t>
                      </a:r>
                    </a:p>
                  </a:txBody>
                  <a:tcPr marL="36576" marR="36576" marT="18288" marB="18288">
                    <a:solidFill>
                      <a:srgbClr val="F4F7FA"/>
                    </a:solidFill>
                  </a:tcPr>
                </a:tc>
                <a:tc>
                  <a:txBody>
                    <a:bodyPr/>
                    <a:lstStyle/>
                    <a:p>
                      <a:pPr algn="ctr">
                        <a:defRPr sz="1600" b="0">
                          <a:solidFill>
                            <a:srgbClr val="262A2F"/>
                          </a:solidFill>
                          <a:latin typeface="Meiryo"/>
                        </a:defRPr>
                      </a:pPr>
                      <a:r>
                        <a:t>0.64</a:t>
                      </a:r>
                    </a:p>
                  </a:txBody>
                  <a:tcPr marL="36576" marR="36576" marT="18288" marB="18288">
                    <a:solidFill>
                      <a:srgbClr val="F4F7FA"/>
                    </a:solidFill>
                  </a:tcPr>
                </a:tc>
                <a:tc>
                  <a:txBody>
                    <a:bodyPr/>
                    <a:lstStyle/>
                    <a:p>
                      <a:pPr algn="ctr">
                        <a:defRPr sz="1600" b="0">
                          <a:solidFill>
                            <a:srgbClr val="262A2F"/>
                          </a:solidFill>
                          <a:latin typeface="Meiryo"/>
                        </a:defRPr>
                      </a:pPr>
                      <a:r>
                        <a:t>0.965</a:t>
                      </a:r>
                    </a:p>
                  </a:txBody>
                  <a:tcPr marL="36576" marR="36576" marT="18288" marB="18288">
                    <a:lnR w="12700" cap="flat" cmpd="sng" algn="ctr">
                      <a:solidFill>
                        <a:schemeClr val="tx1"/>
                      </a:solidFill>
                      <a:prstDash val="solid"/>
                      <a:round/>
                      <a:headEnd type="none" w="med" len="med"/>
                      <a:tailEnd type="none" w="med" len="med"/>
                    </a:lnR>
                    <a:solidFill>
                      <a:srgbClr val="F4F7FA"/>
                    </a:solidFill>
                  </a:tcPr>
                </a:tc>
                <a:extLst>
                  <a:ext uri="{0D108BD9-81ED-4DB2-BD59-A6C34878D82A}">
                    <a16:rowId xmlns:a16="http://schemas.microsoft.com/office/drawing/2014/main" val="10001"/>
                  </a:ext>
                </a:extLst>
              </a:tr>
              <a:tr h="339852">
                <a:tc>
                  <a:txBody>
                    <a:bodyPr/>
                    <a:lstStyle/>
                    <a:p>
                      <a:pPr algn="ctr">
                        <a:defRPr sz="1600" b="0">
                          <a:solidFill>
                            <a:srgbClr val="262A2F"/>
                          </a:solidFill>
                          <a:latin typeface="Meiryo"/>
                        </a:defRPr>
                      </a:pPr>
                      <a:r>
                        <a:t>ETTh2</a:t>
                      </a:r>
                    </a:p>
                  </a:txBody>
                  <a:tcPr marL="36576" marR="36576"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0.78</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t>1.02</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600" b="0">
                          <a:solidFill>
                            <a:srgbClr val="262A2F"/>
                          </a:solidFill>
                          <a:latin typeface="Meiryo"/>
                        </a:defRPr>
                      </a:pPr>
                      <a:r>
                        <a:rPr dirty="0"/>
                        <a:t>0.991</a:t>
                      </a:r>
                    </a:p>
                  </a:txBody>
                  <a:tcPr marL="36576" marR="36576"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0" name="Rounded Rectangle 9"/>
          <p:cNvSpPr/>
          <p:nvPr/>
        </p:nvSpPr>
        <p:spPr>
          <a:xfrm>
            <a:off x="7727576" y="3176591"/>
            <a:ext cx="3839584" cy="1844091"/>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18302" y="3418755"/>
            <a:ext cx="960030" cy="292607"/>
          </a:xfrm>
          <a:prstGeom prst="rect">
            <a:avLst/>
          </a:prstGeom>
          <a:noFill/>
        </p:spPr>
        <p:txBody>
          <a:bodyPr wrap="square" lIns="18288" tIns="18288" rIns="18288" bIns="18288">
            <a:spAutoFit/>
          </a:bodyPr>
          <a:lstStyle/>
          <a:p>
            <a:pPr algn="l">
              <a:defRPr sz="1600" b="1">
                <a:solidFill>
                  <a:srgbClr val="3466A4"/>
                </a:solidFill>
                <a:latin typeface="Meiryo"/>
              </a:defRPr>
            </a:pPr>
            <a:r>
              <a:rPr dirty="0" err="1"/>
              <a:t>評価指標</a:t>
            </a:r>
            <a:endParaRPr dirty="0"/>
          </a:p>
        </p:txBody>
      </p:sp>
      <p:sp>
        <p:nvSpPr>
          <p:cNvPr id="12" name="TextBox 11"/>
          <p:cNvSpPr txBox="1"/>
          <p:nvPr/>
        </p:nvSpPr>
        <p:spPr>
          <a:xfrm>
            <a:off x="8018303" y="3907306"/>
            <a:ext cx="3548858" cy="1268039"/>
          </a:xfrm>
          <a:prstGeom prst="rect">
            <a:avLst/>
          </a:prstGeom>
          <a:noFill/>
        </p:spPr>
        <p:txBody>
          <a:bodyPr wrap="square" lIns="18288" tIns="18288" rIns="18288" bIns="18288">
            <a:spAutoFit/>
          </a:bodyPr>
          <a:lstStyle/>
          <a:p>
            <a:pPr algn="l">
              <a:defRPr sz="1600" b="0">
                <a:solidFill>
                  <a:srgbClr val="262A2F"/>
                </a:solidFill>
                <a:latin typeface="Meiryo"/>
              </a:defRPr>
            </a:pPr>
            <a:r>
              <a:rPr dirty="0" err="1">
                <a:latin typeface="メイリオ" panose="020B0604030504040204" pitchFamily="50" charset="-128"/>
                <a:ea typeface="メイリオ" panose="020B0604030504040204" pitchFamily="50" charset="-128"/>
              </a:rPr>
              <a:t>MAE：平均絶対誤差</a:t>
            </a:r>
            <a:r>
              <a:rPr dirty="0">
                <a:latin typeface="メイリオ" panose="020B0604030504040204" pitchFamily="50" charset="-128"/>
                <a:ea typeface="メイリオ" panose="020B0604030504040204" pitchFamily="50" charset="-128"/>
              </a:rPr>
              <a:t>　</a:t>
            </a:r>
            <a:endParaRPr lang="en-US" dirty="0">
              <a:latin typeface="メイリオ" panose="020B0604030504040204" pitchFamily="50" charset="-128"/>
              <a:ea typeface="メイリオ" panose="020B0604030504040204" pitchFamily="50" charset="-128"/>
            </a:endParaRPr>
          </a:p>
          <a:p>
            <a:pPr>
              <a:defRPr sz="1600" b="0">
                <a:solidFill>
                  <a:srgbClr val="262A2F"/>
                </a:solidFill>
                <a:latin typeface="Meiryo"/>
              </a:defRPr>
            </a:pPr>
            <a:r>
              <a:rPr dirty="0">
                <a:latin typeface="メイリオ" panose="020B0604030504040204" pitchFamily="50" charset="-128"/>
                <a:ea typeface="メイリオ" panose="020B0604030504040204" pitchFamily="50" charset="-128"/>
              </a:rPr>
              <a:t>RMSE：</a:t>
            </a:r>
            <a:r>
              <a:rPr lang="ja-JP" altLang="ja-JP" sz="1600" dirty="0">
                <a:solidFill>
                  <a:srgbClr val="262A2F"/>
                </a:solidFill>
                <a:latin typeface="メイリオ" panose="020B0604030504040204" pitchFamily="50" charset="-128"/>
                <a:ea typeface="メイリオ" panose="020B0604030504040204" pitchFamily="50" charset="-128"/>
              </a:rPr>
              <a:t>二乗平均平方根誤差</a:t>
            </a:r>
            <a:r>
              <a:rPr dirty="0">
                <a:latin typeface="メイリオ" panose="020B0604030504040204" pitchFamily="50" charset="-128"/>
                <a:ea typeface="メイリオ" panose="020B0604030504040204" pitchFamily="50" charset="-128"/>
              </a:rPr>
              <a:t>　</a:t>
            </a:r>
            <a:endParaRPr lang="en-US" dirty="0">
              <a:latin typeface="メイリオ" panose="020B0604030504040204" pitchFamily="50" charset="-128"/>
              <a:ea typeface="メイリオ" panose="020B0604030504040204" pitchFamily="50" charset="-128"/>
            </a:endParaRPr>
          </a:p>
          <a:p>
            <a:pPr>
              <a:defRPr sz="1600" b="0">
                <a:solidFill>
                  <a:srgbClr val="262A2F"/>
                </a:solidFill>
                <a:latin typeface="Meiryo"/>
              </a:defRPr>
            </a:pPr>
            <a:r>
              <a:rPr dirty="0">
                <a:latin typeface="メイリオ" panose="020B0604030504040204" pitchFamily="50" charset="-128"/>
                <a:ea typeface="メイリオ" panose="020B0604030504040204" pitchFamily="50" charset="-128"/>
              </a:rPr>
              <a:t>R²：</a:t>
            </a:r>
            <a:r>
              <a:rPr lang="ja-JP" altLang="ja-JP" sz="1600" dirty="0">
                <a:solidFill>
                  <a:srgbClr val="262A2F"/>
                </a:solidFill>
                <a:latin typeface="メイリオ" panose="020B0604030504040204" pitchFamily="50" charset="-128"/>
                <a:ea typeface="メイリオ" panose="020B0604030504040204" pitchFamily="50" charset="-128"/>
              </a:rPr>
              <a:t>重決定係数</a:t>
            </a:r>
            <a:endParaRPr lang="en-US" dirty="0">
              <a:latin typeface="メイリオ" panose="020B0604030504040204" pitchFamily="50" charset="-128"/>
              <a:ea typeface="メイリオ" panose="020B0604030504040204" pitchFamily="50" charset="-128"/>
            </a:endParaRPr>
          </a:p>
          <a:p>
            <a:pPr algn="l">
              <a:defRPr sz="1600" b="0">
                <a:solidFill>
                  <a:srgbClr val="262A2F"/>
                </a:solidFill>
                <a:latin typeface="Meiryo"/>
              </a:defRPr>
            </a:pPr>
            <a:endParaRPr lang="en-US" dirty="0">
              <a:latin typeface="メイリオ" panose="020B0604030504040204" pitchFamily="50" charset="-128"/>
              <a:ea typeface="メイリオ" panose="020B0604030504040204" pitchFamily="50" charset="-128"/>
            </a:endParaRPr>
          </a:p>
          <a:p>
            <a:pPr algn="l">
              <a:defRPr sz="1600" b="0">
                <a:solidFill>
                  <a:srgbClr val="262A2F"/>
                </a:solidFill>
                <a:latin typeface="Meiryo"/>
              </a:defRPr>
            </a:pPr>
            <a:endParaRPr dirty="0">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0F94085D-7615-37D2-EB8D-D8B65EA8D7EA}"/>
              </a:ext>
            </a:extLst>
          </p:cNvPr>
          <p:cNvPicPr>
            <a:picLocks noChangeAspect="1"/>
          </p:cNvPicPr>
          <p:nvPr/>
        </p:nvPicPr>
        <p:blipFill>
          <a:blip r:embed="rId2"/>
          <a:srcRect t="3799"/>
          <a:stretch>
            <a:fillRect/>
          </a:stretch>
        </p:blipFill>
        <p:spPr>
          <a:xfrm>
            <a:off x="277009" y="1407541"/>
            <a:ext cx="7161905" cy="2499765"/>
          </a:xfrm>
          <a:prstGeom prst="rect">
            <a:avLst/>
          </a:prstGeom>
        </p:spPr>
      </p:pic>
      <p:pic>
        <p:nvPicPr>
          <p:cNvPr id="17" name="図 16">
            <a:extLst>
              <a:ext uri="{FF2B5EF4-FFF2-40B4-BE49-F238E27FC236}">
                <a16:creationId xmlns:a16="http://schemas.microsoft.com/office/drawing/2014/main" id="{39DC4126-676F-6A30-FE2A-3B7853E6866E}"/>
              </a:ext>
            </a:extLst>
          </p:cNvPr>
          <p:cNvPicPr>
            <a:picLocks noChangeAspect="1"/>
          </p:cNvPicPr>
          <p:nvPr/>
        </p:nvPicPr>
        <p:blipFill>
          <a:blip r:embed="rId3"/>
          <a:stretch>
            <a:fillRect/>
          </a:stretch>
        </p:blipFill>
        <p:spPr>
          <a:xfrm>
            <a:off x="277009" y="4244910"/>
            <a:ext cx="7161905" cy="2156539"/>
          </a:xfrm>
          <a:prstGeom prst="rect">
            <a:avLst/>
          </a:prstGeom>
        </p:spPr>
      </p:pic>
      <p:sp>
        <p:nvSpPr>
          <p:cNvPr id="18" name="テキスト ボックス 17">
            <a:extLst>
              <a:ext uri="{FF2B5EF4-FFF2-40B4-BE49-F238E27FC236}">
                <a16:creationId xmlns:a16="http://schemas.microsoft.com/office/drawing/2014/main" id="{E449E54A-95EE-56D7-62B6-DDDED8B209A7}"/>
              </a:ext>
            </a:extLst>
          </p:cNvPr>
          <p:cNvSpPr txBox="1"/>
          <p:nvPr/>
        </p:nvSpPr>
        <p:spPr>
          <a:xfrm>
            <a:off x="3048000" y="3926431"/>
            <a:ext cx="4679576" cy="276999"/>
          </a:xfrm>
          <a:prstGeom prst="rect">
            <a:avLst/>
          </a:prstGeom>
          <a:noFill/>
        </p:spPr>
        <p:txBody>
          <a:bodyPr wrap="square" rtlCol="0">
            <a:spAutoFit/>
          </a:bodyPr>
          <a:lstStyle/>
          <a:p>
            <a:r>
              <a:rPr kumimoji="1" lang="en-US" altLang="ja-JP" sz="1200" dirty="0"/>
              <a:t>ETTh1: Actual and Predicted OT</a:t>
            </a:r>
            <a:endParaRPr kumimoji="1" lang="ja-JP" altLang="en-US" sz="1200" dirty="0"/>
          </a:p>
        </p:txBody>
      </p:sp>
      <p:sp>
        <p:nvSpPr>
          <p:cNvPr id="20" name="テキスト ボックス 19">
            <a:extLst>
              <a:ext uri="{FF2B5EF4-FFF2-40B4-BE49-F238E27FC236}">
                <a16:creationId xmlns:a16="http://schemas.microsoft.com/office/drawing/2014/main" id="{65604B8B-120E-2CBB-20F0-CC1ECB89F6B4}"/>
              </a:ext>
            </a:extLst>
          </p:cNvPr>
          <p:cNvSpPr txBox="1"/>
          <p:nvPr/>
        </p:nvSpPr>
        <p:spPr>
          <a:xfrm>
            <a:off x="3130475" y="6442929"/>
            <a:ext cx="4679576" cy="276999"/>
          </a:xfrm>
          <a:prstGeom prst="rect">
            <a:avLst/>
          </a:prstGeom>
          <a:noFill/>
        </p:spPr>
        <p:txBody>
          <a:bodyPr wrap="square" rtlCol="0">
            <a:spAutoFit/>
          </a:bodyPr>
          <a:lstStyle/>
          <a:p>
            <a:r>
              <a:rPr kumimoji="1" lang="en-US" altLang="ja-JP" sz="1200" dirty="0"/>
              <a:t>ETTh2: Actual and Predicted OT</a:t>
            </a:r>
            <a:endParaRPr kumimoji="1"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1960" y="607033"/>
            <a:ext cx="11155680" cy="1184940"/>
          </a:xfrm>
          <a:prstGeom prst="rect">
            <a:avLst/>
          </a:prstGeom>
          <a:noFill/>
        </p:spPr>
        <p:txBody>
          <a:bodyPr wrap="square">
            <a:spAutoFit/>
          </a:bodyPr>
          <a:lstStyle/>
          <a:p>
            <a:pPr>
              <a:defRPr sz="2300" b="1">
                <a:solidFill>
                  <a:srgbClr val="182F49"/>
                </a:solidFill>
                <a:latin typeface="Yu Gothic"/>
              </a:defRPr>
            </a:pPr>
            <a:r>
              <a:rPr lang="ja-JP" altLang="en-US" dirty="0">
                <a:latin typeface="メイリオ" panose="020B0604030504040204" pitchFamily="50" charset="-128"/>
                <a:ea typeface="メイリオ" panose="020B0604030504040204" pitchFamily="50" charset="-128"/>
              </a:rPr>
              <a:t>回帰係数と特徴量除外実験の双方から、</a:t>
            </a:r>
            <a:r>
              <a:rPr lang="en-US" altLang="ja-JP" dirty="0">
                <a:latin typeface="メイリオ" panose="020B0604030504040204" pitchFamily="50" charset="-128"/>
                <a:ea typeface="メイリオ" panose="020B0604030504040204" pitchFamily="50" charset="-128"/>
              </a:rPr>
              <a:t>1</a:t>
            </a:r>
            <a:r>
              <a:rPr lang="ja-JP" altLang="en-US" dirty="0">
                <a:latin typeface="メイリオ" panose="020B0604030504040204" pitchFamily="50" charset="-128"/>
                <a:ea typeface="メイリオ" panose="020B0604030504040204" pitchFamily="50" charset="-128"/>
              </a:rPr>
              <a:t>時間前</a:t>
            </a:r>
            <a:r>
              <a:rPr lang="en-US" altLang="ja-JP" dirty="0">
                <a:latin typeface="メイリオ" panose="020B0604030504040204" pitchFamily="50" charset="-128"/>
                <a:ea typeface="メイリオ" panose="020B0604030504040204" pitchFamily="50" charset="-128"/>
              </a:rPr>
              <a:t>OT</a:t>
            </a:r>
            <a:r>
              <a:rPr lang="ja-JP" altLang="en-US" dirty="0">
                <a:latin typeface="メイリオ" panose="020B0604030504040204" pitchFamily="50" charset="-128"/>
                <a:ea typeface="メイリオ" panose="020B0604030504040204" pitchFamily="50" charset="-128"/>
              </a:rPr>
              <a:t>が最も重要な予測情報であることを確認した</a:t>
            </a:r>
          </a:p>
          <a:p>
            <a:pPr algn="l">
              <a:defRPr sz="2300" b="1">
                <a:solidFill>
                  <a:srgbClr val="182F49"/>
                </a:solidFill>
                <a:latin typeface="Yu Gothic"/>
              </a:defRPr>
            </a:pPr>
            <a:endParaRPr dirty="0"/>
          </a:p>
        </p:txBody>
      </p:sp>
      <p:sp>
        <p:nvSpPr>
          <p:cNvPr id="4" name="Rectangle 3"/>
          <p:cNvSpPr/>
          <p:nvPr/>
        </p:nvSpPr>
        <p:spPr>
          <a:xfrm>
            <a:off x="502920" y="1293876"/>
            <a:ext cx="1115568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269718765"/>
              </p:ext>
            </p:extLst>
          </p:nvPr>
        </p:nvGraphicFramePr>
        <p:xfrm>
          <a:off x="594360" y="1371600"/>
          <a:ext cx="5669280" cy="2200656"/>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tblGrid>
              <a:tr h="429768">
                <a:tc>
                  <a:txBody>
                    <a:bodyPr/>
                    <a:lstStyle/>
                    <a:p>
                      <a:pPr algn="ctr">
                        <a:defRPr sz="900" b="1">
                          <a:solidFill>
                            <a:srgbClr val="FFFFFF"/>
                          </a:solidFill>
                          <a:latin typeface="Yu Gothic"/>
                        </a:defRPr>
                      </a:pPr>
                      <a:r>
                        <a:rPr sz="1400" dirty="0" err="1"/>
                        <a:t>特徴量</a:t>
                      </a:r>
                      <a:endParaRPr sz="1400" dirty="0"/>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a:t>ETTh1</a:t>
                      </a:r>
                      <a:endParaRPr lang="en-US" sz="1400" dirty="0"/>
                    </a:p>
                    <a:p>
                      <a:pPr algn="ctr">
                        <a:defRPr sz="900" b="1">
                          <a:solidFill>
                            <a:srgbClr val="FFFFFF"/>
                          </a:solidFill>
                          <a:latin typeface="Yu Gothic"/>
                        </a:defRPr>
                      </a:pPr>
                      <a:r>
                        <a:rPr lang="ja-JP" altLang="en-US" sz="1400" dirty="0"/>
                        <a:t>回帰係数</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a:t>ETTh2係数</a:t>
                      </a:r>
                      <a:endParaRPr lang="en-US" sz="1400" dirty="0"/>
                    </a:p>
                    <a:p>
                      <a:pPr algn="ctr">
                        <a:defRPr sz="900" b="1">
                          <a:solidFill>
                            <a:srgbClr val="FFFFFF"/>
                          </a:solidFill>
                          <a:latin typeface="Yu Gothic"/>
                        </a:defRPr>
                      </a:pPr>
                      <a:r>
                        <a:rPr lang="ja-JP" altLang="en-US" sz="1400" dirty="0"/>
                        <a:t>回帰係数</a:t>
                      </a:r>
                      <a:endParaRPr sz="14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err="1"/>
                        <a:t>解釈</a:t>
                      </a:r>
                      <a:endParaRPr sz="1400" dirty="0"/>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429768">
                <a:tc>
                  <a:txBody>
                    <a:bodyPr/>
                    <a:lstStyle/>
                    <a:p>
                      <a:pPr algn="ctr">
                        <a:defRPr sz="900" b="0">
                          <a:solidFill>
                            <a:srgbClr val="2D2D2D"/>
                          </a:solidFill>
                          <a:latin typeface="Yu Gothic"/>
                        </a:defRPr>
                      </a:pPr>
                      <a:r>
                        <a:rPr sz="1200"/>
                        <a:t>OT_lag_1</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t>0.964</a:t>
                      </a:r>
                    </a:p>
                  </a:txBody>
                  <a:tcPr marL="54864" marR="54864" marT="27432" marB="27432">
                    <a:solidFill>
                      <a:srgbClr val="F0F4F8"/>
                    </a:solidFill>
                  </a:tcPr>
                </a:tc>
                <a:tc>
                  <a:txBody>
                    <a:bodyPr/>
                    <a:lstStyle/>
                    <a:p>
                      <a:pPr algn="ctr">
                        <a:defRPr sz="900" b="0">
                          <a:solidFill>
                            <a:srgbClr val="2D2D2D"/>
                          </a:solidFill>
                          <a:latin typeface="Yu Gothic"/>
                        </a:defRPr>
                      </a:pPr>
                      <a:r>
                        <a:rPr sz="1200" dirty="0"/>
                        <a:t>0.976</a:t>
                      </a:r>
                    </a:p>
                  </a:txBody>
                  <a:tcPr marL="54864" marR="54864" marT="27432" marB="27432">
                    <a:solidFill>
                      <a:srgbClr val="F0F4F8"/>
                    </a:solidFill>
                  </a:tcPr>
                </a:tc>
                <a:tc>
                  <a:txBody>
                    <a:bodyPr/>
                    <a:lstStyle/>
                    <a:p>
                      <a:pPr algn="ctr">
                        <a:defRPr sz="900" b="0">
                          <a:solidFill>
                            <a:srgbClr val="2D2D2D"/>
                          </a:solidFill>
                          <a:latin typeface="Yu Gothic"/>
                        </a:defRPr>
                      </a:pPr>
                      <a:r>
                        <a:rPr sz="1200" dirty="0" err="1"/>
                        <a:t>最も強い：短期自己相関</a:t>
                      </a:r>
                      <a:endParaRPr sz="1200" dirty="0"/>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429768">
                <a:tc>
                  <a:txBody>
                    <a:bodyPr/>
                    <a:lstStyle/>
                    <a:p>
                      <a:pPr algn="ctr">
                        <a:defRPr sz="900" b="0">
                          <a:solidFill>
                            <a:srgbClr val="2D2D2D"/>
                          </a:solidFill>
                          <a:latin typeface="Yu Gothic"/>
                        </a:defRPr>
                      </a:pPr>
                      <a:r>
                        <a:rPr sz="1200"/>
                        <a:t>hour_cos</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900" b="0">
                          <a:solidFill>
                            <a:srgbClr val="2D2D2D"/>
                          </a:solidFill>
                          <a:latin typeface="Yu Gothic"/>
                        </a:defRPr>
                      </a:pPr>
                      <a:r>
                        <a:rPr sz="1200"/>
                        <a:t>-0.279</a:t>
                      </a:r>
                    </a:p>
                  </a:txBody>
                  <a:tcPr marL="54864" marR="54864" marT="27432" marB="27432">
                    <a:solidFill>
                      <a:srgbClr val="FFFFFF"/>
                    </a:solidFill>
                  </a:tcPr>
                </a:tc>
                <a:tc>
                  <a:txBody>
                    <a:bodyPr/>
                    <a:lstStyle/>
                    <a:p>
                      <a:pPr algn="ctr">
                        <a:defRPr sz="900" b="0">
                          <a:solidFill>
                            <a:srgbClr val="2D2D2D"/>
                          </a:solidFill>
                          <a:latin typeface="Yu Gothic"/>
                        </a:defRPr>
                      </a:pPr>
                      <a:r>
                        <a:rPr sz="1200"/>
                        <a:t>-0.959</a:t>
                      </a:r>
                    </a:p>
                  </a:txBody>
                  <a:tcPr marL="54864" marR="54864" marT="27432" marB="27432">
                    <a:solidFill>
                      <a:srgbClr val="FFFFFF"/>
                    </a:solidFill>
                  </a:tcPr>
                </a:tc>
                <a:tc>
                  <a:txBody>
                    <a:bodyPr/>
                    <a:lstStyle/>
                    <a:p>
                      <a:pPr algn="ctr">
                        <a:defRPr sz="900" b="0">
                          <a:solidFill>
                            <a:srgbClr val="2D2D2D"/>
                          </a:solidFill>
                          <a:latin typeface="Yu Gothic"/>
                        </a:defRPr>
                      </a:pPr>
                      <a:r>
                        <a:rPr sz="1200"/>
                        <a:t>日内周期の影響</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429768">
                <a:tc>
                  <a:txBody>
                    <a:bodyPr/>
                    <a:lstStyle/>
                    <a:p>
                      <a:pPr algn="ctr">
                        <a:defRPr sz="900" b="0">
                          <a:solidFill>
                            <a:srgbClr val="2D2D2D"/>
                          </a:solidFill>
                          <a:latin typeface="Yu Gothic"/>
                        </a:defRPr>
                      </a:pPr>
                      <a:r>
                        <a:rPr sz="1200"/>
                        <a:t>month_cos</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a:t>-0.259</a:t>
                      </a:r>
                    </a:p>
                  </a:txBody>
                  <a:tcPr marL="54864" marR="54864" marT="27432" marB="27432">
                    <a:solidFill>
                      <a:srgbClr val="F0F4F8"/>
                    </a:solidFill>
                  </a:tcPr>
                </a:tc>
                <a:tc>
                  <a:txBody>
                    <a:bodyPr/>
                    <a:lstStyle/>
                    <a:p>
                      <a:pPr algn="ctr">
                        <a:defRPr sz="900" b="0">
                          <a:solidFill>
                            <a:srgbClr val="2D2D2D"/>
                          </a:solidFill>
                          <a:latin typeface="Yu Gothic"/>
                        </a:defRPr>
                      </a:pPr>
                      <a:r>
                        <a:rPr lang="en-US" sz="1200" dirty="0"/>
                        <a:t>-0.309</a:t>
                      </a:r>
                      <a:endParaRPr sz="1200" dirty="0"/>
                    </a:p>
                  </a:txBody>
                  <a:tcPr marL="54864" marR="54864" marT="27432" marB="27432">
                    <a:solidFill>
                      <a:srgbClr val="F0F4F8"/>
                    </a:solidFill>
                  </a:tcPr>
                </a:tc>
                <a:tc>
                  <a:txBody>
                    <a:bodyPr/>
                    <a:lstStyle/>
                    <a:p>
                      <a:pPr algn="ctr">
                        <a:defRPr sz="900" b="0">
                          <a:solidFill>
                            <a:srgbClr val="2D2D2D"/>
                          </a:solidFill>
                          <a:latin typeface="Yu Gothic"/>
                        </a:defRPr>
                      </a:pPr>
                      <a:r>
                        <a:rPr sz="1200"/>
                        <a:t>季節周期の影響</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3"/>
                  </a:ext>
                </a:extLst>
              </a:tr>
              <a:tr h="429768">
                <a:tc>
                  <a:txBody>
                    <a:bodyPr/>
                    <a:lstStyle/>
                    <a:p>
                      <a:pPr algn="ctr">
                        <a:defRPr sz="900" b="0">
                          <a:solidFill>
                            <a:srgbClr val="2D2D2D"/>
                          </a:solidFill>
                          <a:latin typeface="Yu Gothic"/>
                        </a:defRPr>
                      </a:pPr>
                      <a:r>
                        <a:rPr sz="1200"/>
                        <a:t>HULL / MULL</a:t>
                      </a: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900" b="0">
                          <a:solidFill>
                            <a:srgbClr val="2D2D2D"/>
                          </a:solidFill>
                          <a:latin typeface="Yu Gothic"/>
                        </a:defRPr>
                      </a:pPr>
                      <a:r>
                        <a:rPr sz="1200" dirty="0"/>
                        <a:t>0.052</a:t>
                      </a:r>
                      <a:r>
                        <a:rPr lang="en-US" sz="1200" dirty="0"/>
                        <a:t>(HULL)</a:t>
                      </a:r>
                      <a:endParaRPr sz="1200" dirty="0"/>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900" b="0">
                          <a:solidFill>
                            <a:srgbClr val="2D2D2D"/>
                          </a:solidFill>
                          <a:latin typeface="Yu Gothic"/>
                        </a:defRPr>
                      </a:pPr>
                      <a:r>
                        <a:rPr sz="1200" dirty="0"/>
                        <a:t>0.022</a:t>
                      </a:r>
                      <a:r>
                        <a:rPr lang="en-US" sz="1200" dirty="0"/>
                        <a:t>(MULL)</a:t>
                      </a:r>
                      <a:endParaRPr sz="1200" dirty="0"/>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900" b="0">
                          <a:solidFill>
                            <a:srgbClr val="2D2D2D"/>
                          </a:solidFill>
                          <a:latin typeface="Yu Gothic"/>
                        </a:defRPr>
                      </a:pPr>
                      <a:r>
                        <a:rPr sz="1200" dirty="0" err="1"/>
                        <a:t>負荷は補助的</a:t>
                      </a:r>
                      <a:endParaRPr sz="1200" dirty="0"/>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5035944"/>
              </p:ext>
            </p:extLst>
          </p:nvPr>
        </p:nvGraphicFramePr>
        <p:xfrm>
          <a:off x="6446520" y="1371600"/>
          <a:ext cx="5120640" cy="25146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algn="ctr">
                        <a:defRPr sz="900" b="1">
                          <a:solidFill>
                            <a:srgbClr val="FFFFFF"/>
                          </a:solidFill>
                          <a:latin typeface="Yu Gothic"/>
                        </a:defRPr>
                      </a:pPr>
                      <a:r>
                        <a:rPr sz="1400" dirty="0" err="1">
                          <a:latin typeface="メイリオ" panose="020B0604030504040204" pitchFamily="50" charset="-128"/>
                          <a:ea typeface="メイリオ" panose="020B0604030504040204" pitchFamily="50" charset="-128"/>
                        </a:rPr>
                        <a:t>条件</a:t>
                      </a:r>
                      <a:endParaRPr sz="14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a:latin typeface="メイリオ" panose="020B0604030504040204" pitchFamily="50" charset="-128"/>
                          <a:ea typeface="メイリオ" panose="020B0604030504040204" pitchFamily="50" charset="-128"/>
                        </a:rPr>
                        <a:t>ETTh1 R²</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a:latin typeface="メイリオ" panose="020B0604030504040204" pitchFamily="50" charset="-128"/>
                          <a:ea typeface="メイリオ" panose="020B0604030504040204" pitchFamily="50" charset="-128"/>
                        </a:rPr>
                        <a:t>ETTh2 R²</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900" b="1">
                          <a:solidFill>
                            <a:srgbClr val="FFFFFF"/>
                          </a:solidFill>
                          <a:latin typeface="Yu Gothic"/>
                        </a:defRPr>
                      </a:pPr>
                      <a:r>
                        <a:rPr sz="1400" dirty="0" err="1">
                          <a:latin typeface="メイリオ" panose="020B0604030504040204" pitchFamily="50" charset="-128"/>
                          <a:ea typeface="メイリオ" panose="020B0604030504040204" pitchFamily="50" charset="-128"/>
                        </a:rPr>
                        <a:t>意味</a:t>
                      </a:r>
                      <a:endParaRPr sz="14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420624">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全特徴量</a:t>
                      </a:r>
                      <a:endParaRPr sz="12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0.96</a:t>
                      </a:r>
                      <a:r>
                        <a:rPr lang="en-US" sz="1200" dirty="0">
                          <a:latin typeface="メイリオ" panose="020B0604030504040204" pitchFamily="50" charset="-128"/>
                          <a:ea typeface="メイリオ" panose="020B0604030504040204" pitchFamily="50" charset="-128"/>
                        </a:rPr>
                        <a:t>5</a:t>
                      </a:r>
                      <a:endParaRPr sz="1200" dirty="0">
                        <a:latin typeface="メイリオ" panose="020B0604030504040204" pitchFamily="50" charset="-128"/>
                        <a:ea typeface="メイリオ" panose="020B0604030504040204" pitchFamily="50" charset="-128"/>
                      </a:endParaRPr>
                    </a:p>
                  </a:txBody>
                  <a:tcPr marL="54864" marR="54864" marT="27432" marB="27432">
                    <a:solidFill>
                      <a:srgbClr val="F0F4F8"/>
                    </a:solidFill>
                  </a:tcPr>
                </a:tc>
                <a:tc>
                  <a:txBody>
                    <a:bodyPr/>
                    <a:lstStyle/>
                    <a:p>
                      <a:pPr algn="ctr">
                        <a:defRPr sz="900" b="0">
                          <a:solidFill>
                            <a:srgbClr val="2D2D2D"/>
                          </a:solidFill>
                          <a:latin typeface="Yu Gothic"/>
                        </a:defRPr>
                      </a:pPr>
                      <a:r>
                        <a:rPr sz="1200">
                          <a:latin typeface="メイリオ" panose="020B0604030504040204" pitchFamily="50" charset="-128"/>
                          <a:ea typeface="メイリオ" panose="020B0604030504040204" pitchFamily="50" charset="-128"/>
                        </a:rPr>
                        <a:t>0.991</a:t>
                      </a:r>
                    </a:p>
                  </a:txBody>
                  <a:tcPr marL="54864" marR="54864" marT="27432" marB="27432">
                    <a:solidFill>
                      <a:srgbClr val="F0F4F8"/>
                    </a:solidFill>
                  </a:tcPr>
                </a:tc>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基準</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420624">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OT_lag除外</a:t>
                      </a:r>
                      <a:endParaRPr sz="12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solidFill>
                      <a:schemeClr val="bg1"/>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-0.120</a:t>
                      </a:r>
                      <a:endParaRPr sz="1200" dirty="0">
                        <a:latin typeface="メイリオ" panose="020B0604030504040204" pitchFamily="50" charset="-128"/>
                        <a:ea typeface="メイリオ" panose="020B0604030504040204" pitchFamily="50" charset="-128"/>
                      </a:endParaRPr>
                    </a:p>
                  </a:txBody>
                  <a:tcPr marL="54864" marR="54864" marT="27432" marB="27432">
                    <a:solidFill>
                      <a:schemeClr val="bg1"/>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0.712</a:t>
                      </a:r>
                      <a:endParaRPr sz="1200" dirty="0">
                        <a:latin typeface="メイリオ" panose="020B0604030504040204" pitchFamily="50" charset="-128"/>
                        <a:ea typeface="メイリオ" panose="020B0604030504040204" pitchFamily="50" charset="-128"/>
                      </a:endParaRPr>
                    </a:p>
                  </a:txBody>
                  <a:tcPr marL="54864" marR="54864" marT="27432" marB="27432">
                    <a:solidFill>
                      <a:schemeClr val="bg1"/>
                    </a:solidFill>
                  </a:tcPr>
                </a:tc>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直前OTが中核</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0003"/>
                  </a:ext>
                </a:extLst>
              </a:tr>
              <a:tr h="420624">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時間周期除外</a:t>
                      </a:r>
                      <a:endParaRPr sz="12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0.964</a:t>
                      </a:r>
                    </a:p>
                  </a:txBody>
                  <a:tcPr marL="54864" marR="54864" marT="27432" marB="27432">
                    <a:solidFill>
                      <a:srgbClr val="F0F4F8"/>
                    </a:solidFill>
                  </a:tcPr>
                </a:tc>
                <a:tc>
                  <a:txBody>
                    <a:bodyPr/>
                    <a:lstStyle/>
                    <a:p>
                      <a:pPr algn="ctr">
                        <a:defRPr sz="900" b="0">
                          <a:solidFill>
                            <a:srgbClr val="2D2D2D"/>
                          </a:solidFill>
                          <a:latin typeface="Yu Gothic"/>
                        </a:defRPr>
                      </a:pPr>
                      <a:r>
                        <a:rPr sz="1200" dirty="0">
                          <a:latin typeface="メイリオ" panose="020B0604030504040204" pitchFamily="50" charset="-128"/>
                          <a:ea typeface="メイリオ" panose="020B0604030504040204" pitchFamily="50" charset="-128"/>
                        </a:rPr>
                        <a:t>0.985</a:t>
                      </a:r>
                    </a:p>
                  </a:txBody>
                  <a:tcPr marL="54864" marR="54864" marT="27432" marB="27432">
                    <a:solidFill>
                      <a:srgbClr val="F0F4F8"/>
                    </a:solidFill>
                  </a:tcPr>
                </a:tc>
                <a:tc>
                  <a:txBody>
                    <a:bodyPr/>
                    <a:lstStyle/>
                    <a:p>
                      <a:pPr algn="ctr">
                        <a:defRPr sz="900" b="0">
                          <a:solidFill>
                            <a:srgbClr val="2D2D2D"/>
                          </a:solidFill>
                          <a:latin typeface="Yu Gothic"/>
                        </a:defRPr>
                      </a:pPr>
                      <a:r>
                        <a:rPr sz="1200" dirty="0" err="1">
                          <a:latin typeface="メイリオ" panose="020B0604030504040204" pitchFamily="50" charset="-128"/>
                          <a:ea typeface="メイリオ" panose="020B0604030504040204" pitchFamily="50" charset="-128"/>
                        </a:rPr>
                        <a:t>小程度低下</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2126551741"/>
                  </a:ext>
                </a:extLst>
              </a:tr>
              <a:tr h="420624">
                <a:tc>
                  <a:txBody>
                    <a:bodyPr/>
                    <a:lstStyle/>
                    <a:p>
                      <a:pPr algn="ctr">
                        <a:defRPr sz="900" b="0">
                          <a:solidFill>
                            <a:srgbClr val="2D2D2D"/>
                          </a:solidFill>
                          <a:latin typeface="Yu Gothic"/>
                        </a:defRPr>
                      </a:pPr>
                      <a:r>
                        <a:rPr lang="ja-JP" altLang="en-US" sz="1200" dirty="0">
                          <a:latin typeface="メイリオ" panose="020B0604030504040204" pitchFamily="50" charset="-128"/>
                          <a:ea typeface="メイリオ" panose="020B0604030504040204" pitchFamily="50" charset="-128"/>
                        </a:rPr>
                        <a:t>月周期除外</a:t>
                      </a:r>
                      <a:endParaRPr sz="12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solidFill>
                      <a:schemeClr val="bg1"/>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0.966</a:t>
                      </a:r>
                      <a:endParaRPr sz="1200" dirty="0">
                        <a:latin typeface="メイリオ" panose="020B0604030504040204" pitchFamily="50" charset="-128"/>
                        <a:ea typeface="メイリオ" panose="020B0604030504040204" pitchFamily="50" charset="-128"/>
                      </a:endParaRPr>
                    </a:p>
                  </a:txBody>
                  <a:tcPr marL="54864" marR="54864" marT="27432" marB="27432">
                    <a:solidFill>
                      <a:schemeClr val="bg1"/>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0.991</a:t>
                      </a:r>
                      <a:endParaRPr sz="1200" dirty="0">
                        <a:latin typeface="メイリオ" panose="020B0604030504040204" pitchFamily="50" charset="-128"/>
                        <a:ea typeface="メイリオ" panose="020B0604030504040204" pitchFamily="50" charset="-128"/>
                      </a:endParaRPr>
                    </a:p>
                  </a:txBody>
                  <a:tcPr marL="54864" marR="54864" marT="27432" marB="27432">
                    <a:solidFill>
                      <a:schemeClr val="bg1"/>
                    </a:solidFill>
                  </a:tcPr>
                </a:tc>
                <a:tc>
                  <a:txBody>
                    <a:bodyPr/>
                    <a:lstStyle/>
                    <a:p>
                      <a:pPr algn="ctr">
                        <a:defRPr sz="900" b="0">
                          <a:solidFill>
                            <a:srgbClr val="2D2D2D"/>
                          </a:solidFill>
                          <a:latin typeface="Yu Gothic"/>
                        </a:defRPr>
                      </a:pPr>
                      <a:r>
                        <a:rPr lang="ja-JP" altLang="en-US" sz="1200" dirty="0">
                          <a:latin typeface="メイリオ" panose="020B0604030504040204" pitchFamily="50" charset="-128"/>
                          <a:ea typeface="メイリオ" panose="020B0604030504040204" pitchFamily="50" charset="-128"/>
                        </a:rPr>
                        <a:t>ほとんど変化なし</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915069280"/>
                  </a:ext>
                </a:extLst>
              </a:tr>
              <a:tr h="420624">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HULL/MULL</a:t>
                      </a:r>
                      <a:r>
                        <a:rPr lang="ja-JP" altLang="en-US" sz="1200" dirty="0">
                          <a:latin typeface="メイリオ" panose="020B0604030504040204" pitchFamily="50" charset="-128"/>
                          <a:ea typeface="メイリオ" panose="020B0604030504040204" pitchFamily="50" charset="-128"/>
                        </a:rPr>
                        <a:t>除外</a:t>
                      </a:r>
                      <a:endParaRPr sz="12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0F4F8"/>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0.965</a:t>
                      </a:r>
                      <a:endParaRPr sz="1200" dirty="0">
                        <a:latin typeface="メイリオ" panose="020B0604030504040204" pitchFamily="50" charset="-128"/>
                        <a:ea typeface="メイリオ" panose="020B0604030504040204" pitchFamily="50" charset="-128"/>
                      </a:endParaRPr>
                    </a:p>
                  </a:txBody>
                  <a:tcPr marL="54864" marR="54864" marT="27432" marB="27432">
                    <a:lnB w="12700" cap="flat" cmpd="sng" algn="ctr">
                      <a:solidFill>
                        <a:schemeClr val="tx1"/>
                      </a:solidFill>
                      <a:prstDash val="solid"/>
                      <a:round/>
                      <a:headEnd type="none" w="med" len="med"/>
                      <a:tailEnd type="none" w="med" len="med"/>
                    </a:lnB>
                    <a:solidFill>
                      <a:srgbClr val="F0F4F8"/>
                    </a:solidFill>
                  </a:tcPr>
                </a:tc>
                <a:tc>
                  <a:txBody>
                    <a:bodyPr/>
                    <a:lstStyle/>
                    <a:p>
                      <a:pPr algn="ctr">
                        <a:defRPr sz="900" b="0">
                          <a:solidFill>
                            <a:srgbClr val="2D2D2D"/>
                          </a:solidFill>
                          <a:latin typeface="Yu Gothic"/>
                        </a:defRPr>
                      </a:pPr>
                      <a:r>
                        <a:rPr lang="en-US" sz="1200" dirty="0">
                          <a:latin typeface="メイリオ" panose="020B0604030504040204" pitchFamily="50" charset="-128"/>
                          <a:ea typeface="メイリオ" panose="020B0604030504040204" pitchFamily="50" charset="-128"/>
                        </a:rPr>
                        <a:t>0.991</a:t>
                      </a:r>
                      <a:endParaRPr sz="1200" dirty="0">
                        <a:latin typeface="メイリオ" panose="020B0604030504040204" pitchFamily="50" charset="-128"/>
                        <a:ea typeface="メイリオ" panose="020B0604030504040204" pitchFamily="50" charset="-128"/>
                      </a:endParaRPr>
                    </a:p>
                  </a:txBody>
                  <a:tcPr marL="54864" marR="54864" marT="27432" marB="27432">
                    <a:lnB w="12700" cap="flat" cmpd="sng" algn="ctr">
                      <a:solidFill>
                        <a:schemeClr val="tx1"/>
                      </a:solidFill>
                      <a:prstDash val="solid"/>
                      <a:round/>
                      <a:headEnd type="none" w="med" len="med"/>
                      <a:tailEnd type="none" w="med" len="med"/>
                    </a:lnB>
                    <a:solidFill>
                      <a:srgbClr val="F0F4F8"/>
                    </a:solidFill>
                  </a:tcPr>
                </a:tc>
                <a:tc>
                  <a:txBody>
                    <a:bodyPr/>
                    <a:lstStyle/>
                    <a:p>
                      <a:pPr algn="ctr">
                        <a:defRPr sz="900" b="0">
                          <a:solidFill>
                            <a:srgbClr val="2D2D2D"/>
                          </a:solidFill>
                          <a:latin typeface="Yu Gothic"/>
                        </a:defRPr>
                      </a:pPr>
                      <a:r>
                        <a:rPr lang="ja-JP" altLang="en-US" sz="1200" dirty="0">
                          <a:latin typeface="メイリオ" panose="020B0604030504040204" pitchFamily="50" charset="-128"/>
                          <a:ea typeface="メイリオ" panose="020B0604030504040204" pitchFamily="50" charset="-128"/>
                        </a:rPr>
                        <a:t>変化なし</a:t>
                      </a:r>
                      <a:endParaRPr sz="1200" dirty="0">
                        <a:latin typeface="メイリオ" panose="020B0604030504040204" pitchFamily="50" charset="-128"/>
                        <a:ea typeface="メイリオ" panose="020B0604030504040204" pitchFamily="50" charset="-128"/>
                      </a:endParaRPr>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0F4F8"/>
                    </a:solidFill>
                  </a:tcPr>
                </a:tc>
                <a:extLst>
                  <a:ext uri="{0D108BD9-81ED-4DB2-BD59-A6C34878D82A}">
                    <a16:rowId xmlns:a16="http://schemas.microsoft.com/office/drawing/2014/main" val="110027288"/>
                  </a:ext>
                </a:extLst>
              </a:tr>
            </a:tbl>
          </a:graphicData>
        </a:graphic>
      </p:graphicFrame>
      <p:sp>
        <p:nvSpPr>
          <p:cNvPr id="7" name="Rounded Rectangle 6"/>
          <p:cNvSpPr/>
          <p:nvPr/>
        </p:nvSpPr>
        <p:spPr>
          <a:xfrm>
            <a:off x="594360" y="4108704"/>
            <a:ext cx="5394960" cy="2327264"/>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4218432"/>
            <a:ext cx="5065776" cy="338554"/>
          </a:xfrm>
          <a:prstGeom prst="rect">
            <a:avLst/>
          </a:prstGeom>
          <a:noFill/>
        </p:spPr>
        <p:txBody>
          <a:bodyPr wrap="square">
            <a:spAutoFit/>
          </a:bodyPr>
          <a:lstStyle/>
          <a:p>
            <a:pPr algn="l">
              <a:defRPr sz="1300" b="1">
                <a:solidFill>
                  <a:srgbClr val="3466A4"/>
                </a:solidFill>
                <a:latin typeface="Yu Gothic"/>
              </a:defRPr>
            </a:pPr>
            <a:r>
              <a:rPr sz="1600" dirty="0" err="1"/>
              <a:t>両者の役割の違い</a:t>
            </a:r>
            <a:endParaRPr sz="1600" dirty="0"/>
          </a:p>
        </p:txBody>
      </p:sp>
      <p:sp>
        <p:nvSpPr>
          <p:cNvPr id="9" name="TextBox 8"/>
          <p:cNvSpPr txBox="1"/>
          <p:nvPr/>
        </p:nvSpPr>
        <p:spPr>
          <a:xfrm>
            <a:off x="758952" y="4584192"/>
            <a:ext cx="5065776" cy="1169551"/>
          </a:xfrm>
          <a:prstGeom prst="rect">
            <a:avLst/>
          </a:prstGeom>
          <a:noFill/>
        </p:spPr>
        <p:txBody>
          <a:bodyPr wrap="square">
            <a:spAutoFit/>
          </a:bodyPr>
          <a:lstStyle/>
          <a:p>
            <a:pPr algn="l">
              <a:defRPr sz="1100" b="0">
                <a:solidFill>
                  <a:srgbClr val="2D2D2D"/>
                </a:solidFill>
                <a:latin typeface="Yu Gothic"/>
              </a:defRPr>
            </a:pPr>
            <a:r>
              <a:rPr sz="1400" dirty="0">
                <a:latin typeface="メイリオ" panose="020B0604030504040204" pitchFamily="50" charset="-128"/>
                <a:ea typeface="メイリオ" panose="020B0604030504040204" pitchFamily="50" charset="-128"/>
              </a:rPr>
              <a:t>回帰係数は「他の特徴量を固定したときの局所的な寄与方向・大きさ」を見る。一方、特徴量除外は「その情報がなくなったとき性能がどれだけ落ちるか」を見る。相関する特徴量があるため、係数の大小だけで重要度を断定</a:t>
            </a:r>
            <a:r>
              <a:rPr lang="ja-JP" altLang="en-US" sz="1400" dirty="0">
                <a:latin typeface="メイリオ" panose="020B0604030504040204" pitchFamily="50" charset="-128"/>
                <a:ea typeface="メイリオ" panose="020B0604030504040204" pitchFamily="50" charset="-128"/>
              </a:rPr>
              <a:t>せず、</a:t>
            </a:r>
            <a:r>
              <a:rPr lang="en-US" altLang="ja-JP" sz="1400" dirty="0">
                <a:latin typeface="メイリオ" panose="020B0604030504040204" pitchFamily="50" charset="-128"/>
                <a:ea typeface="メイリオ" panose="020B0604030504040204" pitchFamily="50" charset="-128"/>
              </a:rPr>
              <a:t>2</a:t>
            </a:r>
            <a:r>
              <a:rPr lang="ja-JP" altLang="en-US" sz="1400" dirty="0">
                <a:latin typeface="メイリオ" panose="020B0604030504040204" pitchFamily="50" charset="-128"/>
                <a:ea typeface="メイリオ" panose="020B0604030504040204" pitchFamily="50" charset="-128"/>
              </a:rPr>
              <a:t>つの方法を用いた</a:t>
            </a:r>
            <a:r>
              <a:rPr lang="ja-JP" altLang="en-US" dirty="0">
                <a:latin typeface="メイリオ" panose="020B0604030504040204" pitchFamily="50" charset="-128"/>
                <a:ea typeface="メイリオ" panose="020B0604030504040204" pitchFamily="50" charset="-128"/>
              </a:rPr>
              <a:t>。</a:t>
            </a:r>
            <a:endParaRPr dirty="0">
              <a:latin typeface="メイリオ" panose="020B0604030504040204" pitchFamily="50" charset="-128"/>
              <a:ea typeface="メイリオ" panose="020B0604030504040204" pitchFamily="50" charset="-128"/>
            </a:endParaRPr>
          </a:p>
        </p:txBody>
      </p:sp>
      <p:sp>
        <p:nvSpPr>
          <p:cNvPr id="10" name="Rounded Rectangle 9"/>
          <p:cNvSpPr/>
          <p:nvPr/>
        </p:nvSpPr>
        <p:spPr>
          <a:xfrm>
            <a:off x="6153912" y="4108703"/>
            <a:ext cx="5349240" cy="2327265"/>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4218432"/>
            <a:ext cx="5020055" cy="338554"/>
          </a:xfrm>
          <a:prstGeom prst="rect">
            <a:avLst/>
          </a:prstGeom>
          <a:noFill/>
        </p:spPr>
        <p:txBody>
          <a:bodyPr wrap="square">
            <a:spAutoFit/>
          </a:bodyPr>
          <a:lstStyle/>
          <a:p>
            <a:pPr algn="l">
              <a:defRPr sz="1300" b="1">
                <a:solidFill>
                  <a:srgbClr val="26785B"/>
                </a:solidFill>
                <a:latin typeface="Yu Gothic"/>
              </a:defRPr>
            </a:pPr>
            <a:r>
              <a:rPr sz="1600" dirty="0" err="1">
                <a:solidFill>
                  <a:srgbClr val="3466A4"/>
                </a:solidFill>
              </a:rPr>
              <a:t>統合した示唆</a:t>
            </a:r>
            <a:endParaRPr sz="1600" dirty="0">
              <a:solidFill>
                <a:srgbClr val="3466A4"/>
              </a:solidFill>
            </a:endParaRPr>
          </a:p>
        </p:txBody>
      </p:sp>
      <p:sp>
        <p:nvSpPr>
          <p:cNvPr id="12" name="TextBox 11"/>
          <p:cNvSpPr txBox="1"/>
          <p:nvPr/>
        </p:nvSpPr>
        <p:spPr>
          <a:xfrm>
            <a:off x="6382512" y="4584192"/>
            <a:ext cx="5020055" cy="1985159"/>
          </a:xfrm>
          <a:prstGeom prst="rect">
            <a:avLst/>
          </a:prstGeom>
          <a:noFill/>
        </p:spPr>
        <p:txBody>
          <a:bodyPr wrap="square">
            <a:spAutoFit/>
          </a:bodyPr>
          <a:lstStyle/>
          <a:p>
            <a:pPr algn="l">
              <a:defRPr sz="1100" b="0">
                <a:solidFill>
                  <a:srgbClr val="2D2D2D"/>
                </a:solidFill>
                <a:latin typeface="Yu Gothic"/>
              </a:defRPr>
            </a:pPr>
            <a:r>
              <a:rPr sz="1400" dirty="0">
                <a:latin typeface="メイリオ" panose="020B0604030504040204" pitchFamily="50" charset="-128"/>
                <a:ea typeface="メイリオ" panose="020B0604030504040204" pitchFamily="50" charset="-128"/>
              </a:rPr>
              <a:t>① </a:t>
            </a:r>
            <a:r>
              <a:rPr lang="en-US" sz="1400" dirty="0">
                <a:latin typeface="メイリオ" panose="020B0604030504040204" pitchFamily="50" charset="-128"/>
                <a:ea typeface="メイリオ" panose="020B0604030504040204" pitchFamily="50" charset="-128"/>
              </a:rPr>
              <a:t>1</a:t>
            </a:r>
            <a:r>
              <a:rPr lang="ja-JP" altLang="en-US" sz="1400" dirty="0">
                <a:latin typeface="メイリオ" panose="020B0604030504040204" pitchFamily="50" charset="-128"/>
                <a:ea typeface="メイリオ" panose="020B0604030504040204" pitchFamily="50" charset="-128"/>
              </a:rPr>
              <a:t>時間前</a:t>
            </a:r>
            <a:r>
              <a:rPr sz="1400" dirty="0">
                <a:latin typeface="メイリオ" panose="020B0604030504040204" pitchFamily="50" charset="-128"/>
                <a:ea typeface="メイリオ" panose="020B0604030504040204" pitchFamily="50" charset="-128"/>
              </a:rPr>
              <a:t>OTは係数が約1かつ除外時の性能低下が大きく、</a:t>
            </a:r>
            <a:endParaRPr lang="en-US" sz="1400" dirty="0">
              <a:latin typeface="メイリオ" panose="020B0604030504040204" pitchFamily="50" charset="-128"/>
              <a:ea typeface="メイリオ" panose="020B0604030504040204" pitchFamily="50" charset="-128"/>
            </a:endParaRPr>
          </a:p>
          <a:p>
            <a:pPr algn="l">
              <a:defRPr sz="11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　 最重要。</a:t>
            </a:r>
            <a:r>
              <a:rPr lang="en-US" altLang="ja-JP" sz="1400" dirty="0">
                <a:latin typeface="メイリオ" panose="020B0604030504040204" pitchFamily="50" charset="-128"/>
                <a:ea typeface="メイリオ" panose="020B0604030504040204" pitchFamily="50" charset="-128"/>
              </a:rPr>
              <a:t>OT</a:t>
            </a:r>
            <a:r>
              <a:rPr lang="ja-JP" altLang="en-US" sz="1400" dirty="0">
                <a:latin typeface="メイリオ" panose="020B0604030504040204" pitchFamily="50" charset="-128"/>
                <a:ea typeface="メイリオ" panose="020B0604030504040204" pitchFamily="50" charset="-128"/>
              </a:rPr>
              <a:t>が短時間での急激な変化をせず、自己相関が</a:t>
            </a:r>
            <a:endParaRPr lang="en-US" altLang="ja-JP" sz="1400" dirty="0">
              <a:latin typeface="メイリオ" panose="020B0604030504040204" pitchFamily="50" charset="-128"/>
              <a:ea typeface="メイリオ" panose="020B0604030504040204" pitchFamily="50" charset="-128"/>
            </a:endParaRPr>
          </a:p>
          <a:p>
            <a:pPr algn="l">
              <a:defRPr sz="11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　 強いことを示している。</a:t>
            </a:r>
            <a:br>
              <a:rPr sz="1400" dirty="0">
                <a:latin typeface="メイリオ" panose="020B0604030504040204" pitchFamily="50" charset="-128"/>
                <a:ea typeface="メイリオ" panose="020B0604030504040204" pitchFamily="50" charset="-128"/>
              </a:rPr>
            </a:br>
            <a:r>
              <a:rPr sz="1400" dirty="0">
                <a:latin typeface="メイリオ" panose="020B0604030504040204" pitchFamily="50" charset="-128"/>
                <a:ea typeface="メイリオ" panose="020B0604030504040204" pitchFamily="50" charset="-128"/>
              </a:rPr>
              <a:t>② </a:t>
            </a:r>
            <a:r>
              <a:rPr sz="1400" dirty="0" err="1">
                <a:latin typeface="メイリオ" panose="020B0604030504040204" pitchFamily="50" charset="-128"/>
                <a:ea typeface="メイリオ" panose="020B0604030504040204" pitchFamily="50" charset="-128"/>
              </a:rPr>
              <a:t>時間</a:t>
            </a:r>
            <a:r>
              <a:rPr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月</a:t>
            </a:r>
            <a:r>
              <a:rPr sz="1400" dirty="0" err="1">
                <a:latin typeface="メイリオ" panose="020B0604030504040204" pitchFamily="50" charset="-128"/>
                <a:ea typeface="メイリオ" panose="020B0604030504040204" pitchFamily="50" charset="-128"/>
              </a:rPr>
              <a:t>周期は係数とEDAの双</a:t>
            </a:r>
            <a:r>
              <a:rPr lang="ja-JP" altLang="en-US" sz="1400" dirty="0">
                <a:latin typeface="メイリオ" panose="020B0604030504040204" pitchFamily="50" charset="-128"/>
                <a:ea typeface="メイリオ" panose="020B0604030504040204" pitchFamily="50" charset="-128"/>
              </a:rPr>
              <a:t>方で予測要因であること </a:t>
            </a:r>
            <a:endParaRPr lang="en-US" altLang="ja-JP" sz="1400" dirty="0">
              <a:latin typeface="メイリオ" panose="020B0604030504040204" pitchFamily="50" charset="-128"/>
              <a:ea typeface="メイリオ" panose="020B0604030504040204" pitchFamily="50" charset="-128"/>
            </a:endParaRPr>
          </a:p>
          <a:p>
            <a:pPr>
              <a:defRPr sz="11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　 を支持。</a:t>
            </a:r>
            <a:br>
              <a:rPr sz="1400" dirty="0">
                <a:latin typeface="メイリオ" panose="020B0604030504040204" pitchFamily="50" charset="-128"/>
                <a:ea typeface="メイリオ" panose="020B0604030504040204" pitchFamily="50" charset="-128"/>
              </a:rPr>
            </a:br>
            <a:r>
              <a:rPr sz="1400" dirty="0">
                <a:latin typeface="メイリオ" panose="020B0604030504040204" pitchFamily="50" charset="-128"/>
                <a:ea typeface="メイリオ" panose="020B0604030504040204" pitchFamily="50" charset="-128"/>
              </a:rPr>
              <a:t>③ </a:t>
            </a:r>
            <a:r>
              <a:rPr sz="1400" dirty="0" err="1">
                <a:latin typeface="メイリオ" panose="020B0604030504040204" pitchFamily="50" charset="-128"/>
                <a:ea typeface="メイリオ" panose="020B0604030504040204" pitchFamily="50" charset="-128"/>
              </a:rPr>
              <a:t>負荷の寄与は小さく、変圧器ごとに採用変数・影響度が</a:t>
            </a:r>
            <a:r>
              <a:rPr lang="ja-JP" altLang="en-US" sz="1400" dirty="0">
                <a:latin typeface="メイリオ" panose="020B0604030504040204" pitchFamily="50" charset="-128"/>
                <a:ea typeface="メイリオ" panose="020B0604030504040204" pitchFamily="50" charset="-128"/>
              </a:rPr>
              <a:t>　</a:t>
            </a:r>
            <a:endParaRPr lang="en-US" altLang="ja-JP" sz="1400" dirty="0">
              <a:latin typeface="メイリオ" panose="020B0604030504040204" pitchFamily="50" charset="-128"/>
              <a:ea typeface="メイリオ" panose="020B0604030504040204" pitchFamily="50" charset="-128"/>
            </a:endParaRPr>
          </a:p>
          <a:p>
            <a:pPr algn="l">
              <a:defRPr sz="11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　 異なる</a:t>
            </a:r>
            <a:endParaRPr lang="en-US" sz="1400" dirty="0">
              <a:latin typeface="メイリオ" panose="020B0604030504040204" pitchFamily="50" charset="-128"/>
              <a:ea typeface="メイリオ" panose="020B0604030504040204" pitchFamily="50" charset="-128"/>
            </a:endParaRPr>
          </a:p>
          <a:p>
            <a:pPr>
              <a:defRPr sz="11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④ </a:t>
            </a:r>
            <a:r>
              <a:rPr lang="ja-JP" altLang="ja-JP" sz="1400" dirty="0">
                <a:solidFill>
                  <a:srgbClr val="2D2D2D"/>
                </a:solidFill>
                <a:latin typeface="メイリオ" panose="020B0604030504040204" pitchFamily="50" charset="-128"/>
                <a:ea typeface="メイリオ" panose="020B0604030504040204" pitchFamily="50" charset="-128"/>
              </a:rPr>
              <a:t>油温に関連する要因の影響度は、変圧器ごとに異なる</a:t>
            </a:r>
          </a:p>
          <a:p>
            <a:pPr algn="l">
              <a:defRPr sz="1100" b="0">
                <a:solidFill>
                  <a:srgbClr val="2D2D2D"/>
                </a:solidFill>
                <a:latin typeface="Yu Gothic"/>
              </a:defRPr>
            </a:pPr>
            <a:endParaRPr dirty="0"/>
          </a:p>
        </p:txBody>
      </p:sp>
      <p:sp>
        <p:nvSpPr>
          <p:cNvPr id="14" name="TextBox 1">
            <a:extLst>
              <a:ext uri="{FF2B5EF4-FFF2-40B4-BE49-F238E27FC236}">
                <a16:creationId xmlns:a16="http://schemas.microsoft.com/office/drawing/2014/main" id="{8814C043-B825-8857-1579-479929679858}"/>
              </a:ext>
            </a:extLst>
          </p:cNvPr>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rPr dirty="0" err="1"/>
              <a:t>モデル示唆｜予測要因</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44710"/>
          </a:xfrm>
          <a:prstGeom prst="rect">
            <a:avLst/>
          </a:prstGeom>
          <a:noFill/>
        </p:spPr>
        <p:txBody>
          <a:bodyPr wrap="square" lIns="18288" tIns="18288" rIns="18288" bIns="18288">
            <a:spAutoFit/>
          </a:bodyPr>
          <a:lstStyle/>
          <a:p>
            <a:pPr algn="l">
              <a:defRPr sz="2000" b="1">
                <a:solidFill>
                  <a:srgbClr val="182F49"/>
                </a:solidFill>
                <a:latin typeface="Meiryo"/>
              </a:defRPr>
            </a:pPr>
            <a:r>
              <a:rPr dirty="0" err="1"/>
              <a:t>将来予測</a:t>
            </a:r>
            <a:r>
              <a:rPr lang="ja-JP" altLang="en-US" dirty="0">
                <a:latin typeface="メイリオ" panose="020B0604030504040204" pitchFamily="50" charset="-128"/>
                <a:ea typeface="メイリオ" panose="020B0604030504040204" pitchFamily="50" charset="-128"/>
              </a:rPr>
              <a:t>モデル</a:t>
            </a:r>
            <a:endParaRPr dirty="0">
              <a:latin typeface="メイリオ" panose="020B0604030504040204" pitchFamily="50" charset="-128"/>
              <a:ea typeface="メイリオ" panose="020B0604030504040204" pitchFamily="50" charset="-128"/>
            </a:endParaRPr>
          </a:p>
        </p:txBody>
      </p:sp>
      <p:sp>
        <p:nvSpPr>
          <p:cNvPr id="3" name="TextBox 2"/>
          <p:cNvSpPr txBox="1"/>
          <p:nvPr/>
        </p:nvSpPr>
        <p:spPr>
          <a:xfrm>
            <a:off x="502920" y="704088"/>
            <a:ext cx="11064240" cy="775597"/>
          </a:xfrm>
          <a:prstGeom prst="rect">
            <a:avLst/>
          </a:prstGeom>
          <a:noFill/>
        </p:spPr>
        <p:txBody>
          <a:bodyPr wrap="square" lIns="18288" tIns="18288" rIns="18288" bIns="18288">
            <a:spAutoFit/>
          </a:bodyPr>
          <a:lstStyle/>
          <a:p>
            <a:pPr algn="l">
              <a:defRPr sz="2400" b="1">
                <a:solidFill>
                  <a:srgbClr val="262A2F"/>
                </a:solidFill>
                <a:latin typeface="Meiryo"/>
              </a:defRPr>
            </a:pPr>
            <a:r>
              <a:rPr dirty="0">
                <a:latin typeface="メイリオ" panose="020B0604030504040204" pitchFamily="50" charset="-128"/>
                <a:ea typeface="メイリオ" panose="020B0604030504040204" pitchFamily="50" charset="-128"/>
              </a:rPr>
              <a:t>1時間先</a:t>
            </a:r>
            <a:r>
              <a:rPr lang="ja-JP" altLang="en-US" dirty="0">
                <a:latin typeface="メイリオ" panose="020B0604030504040204" pitchFamily="50" charset="-128"/>
                <a:ea typeface="メイリオ" panose="020B0604030504040204" pitchFamily="50" charset="-128"/>
              </a:rPr>
              <a:t>予測モデル</a:t>
            </a:r>
            <a:r>
              <a:rPr dirty="0">
                <a:latin typeface="メイリオ" panose="020B0604030504040204" pitchFamily="50" charset="-128"/>
                <a:ea typeface="メイリオ" panose="020B0604030504040204" pitchFamily="50" charset="-128"/>
              </a:rPr>
              <a:t>は高精度だが24時間先</a:t>
            </a:r>
            <a:r>
              <a:rPr lang="ja-JP" altLang="en-US" dirty="0">
                <a:latin typeface="メイリオ" panose="020B0604030504040204" pitchFamily="50" charset="-128"/>
                <a:ea typeface="メイリオ" panose="020B0604030504040204" pitchFamily="50" charset="-128"/>
              </a:rPr>
              <a:t>予測モデル</a:t>
            </a:r>
            <a:r>
              <a:rPr dirty="0" err="1">
                <a:latin typeface="メイリオ" panose="020B0604030504040204" pitchFamily="50" charset="-128"/>
                <a:ea typeface="メイリオ" panose="020B0604030504040204" pitchFamily="50" charset="-128"/>
              </a:rPr>
              <a:t>では性能が低下</a:t>
            </a:r>
            <a:r>
              <a:rPr lang="ja-JP" altLang="en-US" dirty="0">
                <a:latin typeface="メイリオ" panose="020B0604030504040204" pitchFamily="50" charset="-128"/>
                <a:ea typeface="メイリオ" panose="020B0604030504040204" pitchFamily="50" charset="-128"/>
              </a:rPr>
              <a:t>。</a:t>
            </a:r>
            <a:r>
              <a:rPr dirty="0" err="1">
                <a:latin typeface="メイリオ" panose="020B0604030504040204" pitchFamily="50" charset="-128"/>
                <a:ea typeface="メイリオ" panose="020B0604030504040204" pitchFamily="50" charset="-128"/>
              </a:rPr>
              <a:t>本モデルは短期予測に適している</a:t>
            </a:r>
            <a:endParaRPr dirty="0">
              <a:latin typeface="メイリオ" panose="020B0604030504040204" pitchFamily="50" charset="-128"/>
              <a:ea typeface="メイリオ" panose="020B0604030504040204" pitchFamily="50" charset="-128"/>
            </a:endParaRP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4275505518"/>
              </p:ext>
            </p:extLst>
          </p:nvPr>
        </p:nvGraphicFramePr>
        <p:xfrm>
          <a:off x="6096000" y="1486210"/>
          <a:ext cx="5471160" cy="2219850"/>
        </p:xfrm>
        <a:graphic>
          <a:graphicData uri="http://schemas.openxmlformats.org/drawingml/2006/table">
            <a:tbl>
              <a:tblPr firstRow="1" bandRow="1">
                <a:tableStyleId>{5C22544A-7EE6-4342-B048-85BDC9FD1C3A}</a:tableStyleId>
              </a:tblPr>
              <a:tblGrid>
                <a:gridCol w="1094232">
                  <a:extLst>
                    <a:ext uri="{9D8B030D-6E8A-4147-A177-3AD203B41FA5}">
                      <a16:colId xmlns:a16="http://schemas.microsoft.com/office/drawing/2014/main" val="20000"/>
                    </a:ext>
                  </a:extLst>
                </a:gridCol>
                <a:gridCol w="1094232">
                  <a:extLst>
                    <a:ext uri="{9D8B030D-6E8A-4147-A177-3AD203B41FA5}">
                      <a16:colId xmlns:a16="http://schemas.microsoft.com/office/drawing/2014/main" val="20001"/>
                    </a:ext>
                  </a:extLst>
                </a:gridCol>
                <a:gridCol w="1094232">
                  <a:extLst>
                    <a:ext uri="{9D8B030D-6E8A-4147-A177-3AD203B41FA5}">
                      <a16:colId xmlns:a16="http://schemas.microsoft.com/office/drawing/2014/main" val="20002"/>
                    </a:ext>
                  </a:extLst>
                </a:gridCol>
                <a:gridCol w="1094232">
                  <a:extLst>
                    <a:ext uri="{9D8B030D-6E8A-4147-A177-3AD203B41FA5}">
                      <a16:colId xmlns:a16="http://schemas.microsoft.com/office/drawing/2014/main" val="20003"/>
                    </a:ext>
                  </a:extLst>
                </a:gridCol>
                <a:gridCol w="1094232">
                  <a:extLst>
                    <a:ext uri="{9D8B030D-6E8A-4147-A177-3AD203B41FA5}">
                      <a16:colId xmlns:a16="http://schemas.microsoft.com/office/drawing/2014/main" val="20004"/>
                    </a:ext>
                  </a:extLst>
                </a:gridCol>
              </a:tblGrid>
              <a:tr h="443970">
                <a:tc>
                  <a:txBody>
                    <a:bodyPr/>
                    <a:lstStyle/>
                    <a:p>
                      <a:pPr algn="ctr">
                        <a:defRPr sz="1500" b="1">
                          <a:solidFill>
                            <a:srgbClr val="FFFFFF"/>
                          </a:solidFill>
                          <a:latin typeface="Meiryo"/>
                        </a:defRPr>
                      </a:pPr>
                      <a:r>
                        <a:t>予測先</a:t>
                      </a:r>
                    </a:p>
                  </a:txBody>
                  <a:tcPr marL="36576" marR="36576" marT="18288" marB="1828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500" b="1">
                          <a:solidFill>
                            <a:srgbClr val="FFFFFF"/>
                          </a:solidFill>
                          <a:latin typeface="Meiryo"/>
                        </a:defRPr>
                      </a:pPr>
                      <a:r>
                        <a:t>Dataset</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500" b="1">
                          <a:solidFill>
                            <a:srgbClr val="FFFFFF"/>
                          </a:solidFill>
                          <a:latin typeface="Meiryo"/>
                        </a:defRPr>
                      </a:pPr>
                      <a:r>
                        <a:t>MAE</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500" b="1">
                          <a:solidFill>
                            <a:srgbClr val="FFFFFF"/>
                          </a:solidFill>
                          <a:latin typeface="Meiryo"/>
                        </a:defRPr>
                      </a:pPr>
                      <a:r>
                        <a:t>RMSE</a:t>
                      </a:r>
                    </a:p>
                  </a:txBody>
                  <a:tcPr marL="36576" marR="36576" marT="18288" marB="18288">
                    <a:lnT w="12700" cap="flat" cmpd="sng" algn="ctr">
                      <a:solidFill>
                        <a:schemeClr val="tx1"/>
                      </a:solidFill>
                      <a:prstDash val="solid"/>
                      <a:round/>
                      <a:headEnd type="none" w="med" len="med"/>
                      <a:tailEnd type="none" w="med" len="med"/>
                    </a:lnT>
                    <a:solidFill>
                      <a:srgbClr val="182F49"/>
                    </a:solidFill>
                  </a:tcPr>
                </a:tc>
                <a:tc>
                  <a:txBody>
                    <a:bodyPr/>
                    <a:lstStyle/>
                    <a:p>
                      <a:pPr algn="ctr">
                        <a:defRPr sz="1500" b="1">
                          <a:solidFill>
                            <a:srgbClr val="FFFFFF"/>
                          </a:solidFill>
                          <a:latin typeface="Meiryo"/>
                        </a:defRPr>
                      </a:pPr>
                      <a:r>
                        <a:rPr dirty="0"/>
                        <a:t>R²</a:t>
                      </a:r>
                    </a:p>
                  </a:txBody>
                  <a:tcPr marL="36576" marR="36576" marT="18288" marB="1828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443970">
                <a:tc>
                  <a:txBody>
                    <a:bodyPr/>
                    <a:lstStyle/>
                    <a:p>
                      <a:pPr algn="ctr">
                        <a:defRPr sz="1500" b="0">
                          <a:solidFill>
                            <a:srgbClr val="262A2F"/>
                          </a:solidFill>
                          <a:latin typeface="Meiryo"/>
                        </a:defRPr>
                      </a:pPr>
                      <a:r>
                        <a:t>1時間</a:t>
                      </a:r>
                    </a:p>
                  </a:txBody>
                  <a:tcPr marL="36576" marR="36576" marT="18288" marB="18288">
                    <a:lnL w="12700" cap="flat" cmpd="sng" algn="ctr">
                      <a:solidFill>
                        <a:schemeClr val="tx1"/>
                      </a:solidFill>
                      <a:prstDash val="solid"/>
                      <a:round/>
                      <a:headEnd type="none" w="med" len="med"/>
                      <a:tailEnd type="none" w="med" len="med"/>
                    </a:lnL>
                    <a:solidFill>
                      <a:srgbClr val="F4F7FA"/>
                    </a:solidFill>
                  </a:tcPr>
                </a:tc>
                <a:tc>
                  <a:txBody>
                    <a:bodyPr/>
                    <a:lstStyle/>
                    <a:p>
                      <a:pPr algn="ctr">
                        <a:defRPr sz="1500" b="0">
                          <a:solidFill>
                            <a:srgbClr val="262A2F"/>
                          </a:solidFill>
                          <a:latin typeface="Meiryo"/>
                        </a:defRPr>
                      </a:pPr>
                      <a:r>
                        <a:t>ETTh1</a:t>
                      </a:r>
                    </a:p>
                  </a:txBody>
                  <a:tcPr marL="36576" marR="36576" marT="18288" marB="18288">
                    <a:solidFill>
                      <a:srgbClr val="F4F7FA"/>
                    </a:solidFill>
                  </a:tcPr>
                </a:tc>
                <a:tc>
                  <a:txBody>
                    <a:bodyPr/>
                    <a:lstStyle/>
                    <a:p>
                      <a:pPr algn="ctr">
                        <a:defRPr sz="1500" b="0">
                          <a:solidFill>
                            <a:srgbClr val="262A2F"/>
                          </a:solidFill>
                          <a:latin typeface="Meiryo"/>
                        </a:defRPr>
                      </a:pPr>
                      <a:r>
                        <a:t>0.45</a:t>
                      </a:r>
                    </a:p>
                  </a:txBody>
                  <a:tcPr marL="36576" marR="36576" marT="18288" marB="18288">
                    <a:solidFill>
                      <a:srgbClr val="F4F7FA"/>
                    </a:solidFill>
                  </a:tcPr>
                </a:tc>
                <a:tc>
                  <a:txBody>
                    <a:bodyPr/>
                    <a:lstStyle/>
                    <a:p>
                      <a:pPr algn="ctr">
                        <a:defRPr sz="1500" b="0">
                          <a:solidFill>
                            <a:srgbClr val="262A2F"/>
                          </a:solidFill>
                          <a:latin typeface="Meiryo"/>
                        </a:defRPr>
                      </a:pPr>
                      <a:r>
                        <a:t>0.64</a:t>
                      </a:r>
                    </a:p>
                  </a:txBody>
                  <a:tcPr marL="36576" marR="36576" marT="18288" marB="18288">
                    <a:solidFill>
                      <a:srgbClr val="F4F7FA"/>
                    </a:solidFill>
                  </a:tcPr>
                </a:tc>
                <a:tc>
                  <a:txBody>
                    <a:bodyPr/>
                    <a:lstStyle/>
                    <a:p>
                      <a:pPr algn="ctr">
                        <a:defRPr sz="1500" b="0">
                          <a:solidFill>
                            <a:srgbClr val="262A2F"/>
                          </a:solidFill>
                          <a:latin typeface="Meiryo"/>
                        </a:defRPr>
                      </a:pPr>
                      <a:r>
                        <a:t>0.965</a:t>
                      </a:r>
                    </a:p>
                  </a:txBody>
                  <a:tcPr marL="36576" marR="36576" marT="18288" marB="18288">
                    <a:lnR w="12700" cap="flat" cmpd="sng" algn="ctr">
                      <a:solidFill>
                        <a:schemeClr val="tx1"/>
                      </a:solidFill>
                      <a:prstDash val="solid"/>
                      <a:round/>
                      <a:headEnd type="none" w="med" len="med"/>
                      <a:tailEnd type="none" w="med" len="med"/>
                    </a:lnR>
                    <a:solidFill>
                      <a:srgbClr val="F4F7FA"/>
                    </a:solidFill>
                  </a:tcPr>
                </a:tc>
                <a:extLst>
                  <a:ext uri="{0D108BD9-81ED-4DB2-BD59-A6C34878D82A}">
                    <a16:rowId xmlns:a16="http://schemas.microsoft.com/office/drawing/2014/main" val="10001"/>
                  </a:ext>
                </a:extLst>
              </a:tr>
              <a:tr h="443970">
                <a:tc>
                  <a:txBody>
                    <a:bodyPr/>
                    <a:lstStyle/>
                    <a:p>
                      <a:pPr algn="ctr">
                        <a:defRPr sz="1500" b="0">
                          <a:solidFill>
                            <a:srgbClr val="262A2F"/>
                          </a:solidFill>
                          <a:latin typeface="Meiryo"/>
                        </a:defRPr>
                      </a:pPr>
                      <a:r>
                        <a:t>1時間</a:t>
                      </a:r>
                    </a:p>
                  </a:txBody>
                  <a:tcPr marL="36576" marR="36576" marT="18288" marB="18288">
                    <a:lnL w="12700" cap="flat" cmpd="sng" algn="ctr">
                      <a:solidFill>
                        <a:schemeClr val="tx1"/>
                      </a:solidFill>
                      <a:prstDash val="solid"/>
                      <a:round/>
                      <a:headEnd type="none" w="med" len="med"/>
                      <a:tailEnd type="none" w="med" len="med"/>
                    </a:lnL>
                    <a:solidFill>
                      <a:srgbClr val="FFFFFF"/>
                    </a:solidFill>
                  </a:tcPr>
                </a:tc>
                <a:tc>
                  <a:txBody>
                    <a:bodyPr/>
                    <a:lstStyle/>
                    <a:p>
                      <a:pPr algn="ctr">
                        <a:defRPr sz="1500" b="0">
                          <a:solidFill>
                            <a:srgbClr val="262A2F"/>
                          </a:solidFill>
                          <a:latin typeface="Meiryo"/>
                        </a:defRPr>
                      </a:pPr>
                      <a:r>
                        <a:t>ETTh2</a:t>
                      </a:r>
                    </a:p>
                  </a:txBody>
                  <a:tcPr marL="36576" marR="36576" marT="18288" marB="18288">
                    <a:solidFill>
                      <a:srgbClr val="FFFFFF"/>
                    </a:solidFill>
                  </a:tcPr>
                </a:tc>
                <a:tc>
                  <a:txBody>
                    <a:bodyPr/>
                    <a:lstStyle/>
                    <a:p>
                      <a:pPr algn="ctr">
                        <a:defRPr sz="1500" b="0">
                          <a:solidFill>
                            <a:srgbClr val="262A2F"/>
                          </a:solidFill>
                          <a:latin typeface="Meiryo"/>
                        </a:defRPr>
                      </a:pPr>
                      <a:r>
                        <a:t>0.77</a:t>
                      </a:r>
                    </a:p>
                  </a:txBody>
                  <a:tcPr marL="36576" marR="36576" marT="18288" marB="18288">
                    <a:solidFill>
                      <a:srgbClr val="FFFFFF"/>
                    </a:solidFill>
                  </a:tcPr>
                </a:tc>
                <a:tc>
                  <a:txBody>
                    <a:bodyPr/>
                    <a:lstStyle/>
                    <a:p>
                      <a:pPr algn="ctr">
                        <a:defRPr sz="1500" b="0">
                          <a:solidFill>
                            <a:srgbClr val="262A2F"/>
                          </a:solidFill>
                          <a:latin typeface="Meiryo"/>
                        </a:defRPr>
                      </a:pPr>
                      <a:r>
                        <a:t>1.02</a:t>
                      </a:r>
                    </a:p>
                  </a:txBody>
                  <a:tcPr marL="36576" marR="36576" marT="18288" marB="18288">
                    <a:solidFill>
                      <a:srgbClr val="FFFFFF"/>
                    </a:solidFill>
                  </a:tcPr>
                </a:tc>
                <a:tc>
                  <a:txBody>
                    <a:bodyPr/>
                    <a:lstStyle/>
                    <a:p>
                      <a:pPr algn="ctr">
                        <a:defRPr sz="1500" b="0">
                          <a:solidFill>
                            <a:srgbClr val="262A2F"/>
                          </a:solidFill>
                          <a:latin typeface="Meiryo"/>
                        </a:defRPr>
                      </a:pPr>
                      <a:r>
                        <a:rPr dirty="0"/>
                        <a:t>0.991</a:t>
                      </a:r>
                    </a:p>
                  </a:txBody>
                  <a:tcPr marL="36576" marR="36576" marT="18288" marB="18288">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443970">
                <a:tc>
                  <a:txBody>
                    <a:bodyPr/>
                    <a:lstStyle/>
                    <a:p>
                      <a:pPr algn="ctr">
                        <a:defRPr sz="1500" b="0">
                          <a:solidFill>
                            <a:srgbClr val="262A2F"/>
                          </a:solidFill>
                          <a:latin typeface="Meiryo"/>
                        </a:defRPr>
                      </a:pPr>
                      <a:r>
                        <a:rPr dirty="0"/>
                        <a:t>24時間</a:t>
                      </a:r>
                    </a:p>
                  </a:txBody>
                  <a:tcPr marL="36576" marR="36576" marT="18288" marB="18288">
                    <a:lnL w="12700" cap="flat" cmpd="sng" algn="ctr">
                      <a:solidFill>
                        <a:schemeClr val="tx1"/>
                      </a:solidFill>
                      <a:prstDash val="solid"/>
                      <a:round/>
                      <a:headEnd type="none" w="med" len="med"/>
                      <a:tailEnd type="none" w="med" len="med"/>
                    </a:lnL>
                    <a:solidFill>
                      <a:srgbClr val="F4F7FA"/>
                    </a:solidFill>
                  </a:tcPr>
                </a:tc>
                <a:tc>
                  <a:txBody>
                    <a:bodyPr/>
                    <a:lstStyle/>
                    <a:p>
                      <a:pPr algn="ctr">
                        <a:defRPr sz="1500" b="0">
                          <a:solidFill>
                            <a:srgbClr val="262A2F"/>
                          </a:solidFill>
                          <a:latin typeface="Meiryo"/>
                        </a:defRPr>
                      </a:pPr>
                      <a:r>
                        <a:t>ETTh1</a:t>
                      </a:r>
                    </a:p>
                  </a:txBody>
                  <a:tcPr marL="36576" marR="36576" marT="18288" marB="18288">
                    <a:solidFill>
                      <a:srgbClr val="F4F7FA"/>
                    </a:solidFill>
                  </a:tcPr>
                </a:tc>
                <a:tc>
                  <a:txBody>
                    <a:bodyPr/>
                    <a:lstStyle/>
                    <a:p>
                      <a:pPr algn="ctr">
                        <a:defRPr sz="1500" b="0">
                          <a:solidFill>
                            <a:srgbClr val="262A2F"/>
                          </a:solidFill>
                          <a:latin typeface="Meiryo"/>
                        </a:defRPr>
                      </a:pPr>
                      <a:r>
                        <a:t>1.80</a:t>
                      </a:r>
                    </a:p>
                  </a:txBody>
                  <a:tcPr marL="36576" marR="36576" marT="18288" marB="18288">
                    <a:solidFill>
                      <a:srgbClr val="F4F7FA"/>
                    </a:solidFill>
                  </a:tcPr>
                </a:tc>
                <a:tc>
                  <a:txBody>
                    <a:bodyPr/>
                    <a:lstStyle/>
                    <a:p>
                      <a:pPr algn="ctr">
                        <a:defRPr sz="1500" b="0">
                          <a:solidFill>
                            <a:srgbClr val="262A2F"/>
                          </a:solidFill>
                          <a:latin typeface="Meiryo"/>
                        </a:defRPr>
                      </a:pPr>
                      <a:r>
                        <a:t>2.24</a:t>
                      </a:r>
                    </a:p>
                  </a:txBody>
                  <a:tcPr marL="36576" marR="36576" marT="18288" marB="18288">
                    <a:solidFill>
                      <a:srgbClr val="F4F7FA"/>
                    </a:solidFill>
                  </a:tcPr>
                </a:tc>
                <a:tc>
                  <a:txBody>
                    <a:bodyPr/>
                    <a:lstStyle/>
                    <a:p>
                      <a:pPr algn="ctr">
                        <a:defRPr sz="1500" b="0">
                          <a:solidFill>
                            <a:srgbClr val="262A2F"/>
                          </a:solidFill>
                          <a:latin typeface="Meiryo"/>
                        </a:defRPr>
                      </a:pPr>
                      <a:r>
                        <a:t>0.576</a:t>
                      </a:r>
                    </a:p>
                  </a:txBody>
                  <a:tcPr marL="36576" marR="36576" marT="18288" marB="18288">
                    <a:lnR w="12700" cap="flat" cmpd="sng" algn="ctr">
                      <a:solidFill>
                        <a:schemeClr val="tx1"/>
                      </a:solidFill>
                      <a:prstDash val="solid"/>
                      <a:round/>
                      <a:headEnd type="none" w="med" len="med"/>
                      <a:tailEnd type="none" w="med" len="med"/>
                    </a:lnR>
                    <a:solidFill>
                      <a:srgbClr val="F4F7FA"/>
                    </a:solidFill>
                  </a:tcPr>
                </a:tc>
                <a:extLst>
                  <a:ext uri="{0D108BD9-81ED-4DB2-BD59-A6C34878D82A}">
                    <a16:rowId xmlns:a16="http://schemas.microsoft.com/office/drawing/2014/main" val="10003"/>
                  </a:ext>
                </a:extLst>
              </a:tr>
              <a:tr h="443970">
                <a:tc>
                  <a:txBody>
                    <a:bodyPr/>
                    <a:lstStyle/>
                    <a:p>
                      <a:pPr algn="ctr">
                        <a:defRPr sz="1500" b="0">
                          <a:solidFill>
                            <a:srgbClr val="262A2F"/>
                          </a:solidFill>
                          <a:latin typeface="Meiryo"/>
                        </a:defRPr>
                      </a:pPr>
                      <a:r>
                        <a:rPr dirty="0"/>
                        <a:t>24時間</a:t>
                      </a:r>
                    </a:p>
                  </a:txBody>
                  <a:tcPr marL="36576" marR="36576" marT="18288" marB="1828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1500" b="0">
                          <a:solidFill>
                            <a:srgbClr val="262A2F"/>
                          </a:solidFill>
                          <a:latin typeface="Meiryo"/>
                        </a:defRPr>
                      </a:pPr>
                      <a:r>
                        <a:t>ETTh2</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500" b="0">
                          <a:solidFill>
                            <a:srgbClr val="262A2F"/>
                          </a:solidFill>
                          <a:latin typeface="Meiryo"/>
                        </a:defRPr>
                      </a:pPr>
                      <a:r>
                        <a:t>3.48</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500" b="0">
                          <a:solidFill>
                            <a:srgbClr val="262A2F"/>
                          </a:solidFill>
                          <a:latin typeface="Meiryo"/>
                        </a:defRPr>
                      </a:pPr>
                      <a:r>
                        <a:t>4.43</a:t>
                      </a:r>
                    </a:p>
                  </a:txBody>
                  <a:tcPr marL="36576" marR="36576" marT="18288" marB="18288">
                    <a:lnB w="12700" cap="flat" cmpd="sng" algn="ctr">
                      <a:solidFill>
                        <a:schemeClr val="tx1"/>
                      </a:solidFill>
                      <a:prstDash val="solid"/>
                      <a:round/>
                      <a:headEnd type="none" w="med" len="med"/>
                      <a:tailEnd type="none" w="med" len="med"/>
                    </a:lnB>
                    <a:solidFill>
                      <a:srgbClr val="FFFFFF"/>
                    </a:solidFill>
                  </a:tcPr>
                </a:tc>
                <a:tc>
                  <a:txBody>
                    <a:bodyPr/>
                    <a:lstStyle/>
                    <a:p>
                      <a:pPr algn="ctr">
                        <a:defRPr sz="1500" b="0">
                          <a:solidFill>
                            <a:srgbClr val="262A2F"/>
                          </a:solidFill>
                          <a:latin typeface="Meiryo"/>
                        </a:defRPr>
                      </a:pPr>
                      <a:r>
                        <a:rPr dirty="0"/>
                        <a:t>0.828</a:t>
                      </a:r>
                    </a:p>
                  </a:txBody>
                  <a:tcPr marL="36576" marR="36576" marT="18288" marB="1828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6096000" y="3825241"/>
            <a:ext cx="5471160" cy="154655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83915" y="4003704"/>
            <a:ext cx="3877055" cy="283154"/>
          </a:xfrm>
          <a:prstGeom prst="rect">
            <a:avLst/>
          </a:prstGeom>
          <a:noFill/>
        </p:spPr>
        <p:txBody>
          <a:bodyPr wrap="square" lIns="18288" tIns="18288" rIns="18288" bIns="18288">
            <a:spAutoFit/>
          </a:bodyPr>
          <a:lstStyle/>
          <a:p>
            <a:pPr algn="l">
              <a:defRPr sz="1600" b="1">
                <a:solidFill>
                  <a:srgbClr val="25775A"/>
                </a:solidFill>
                <a:latin typeface="Meiryo"/>
              </a:defRPr>
            </a:pPr>
            <a:r>
              <a:rPr lang="ja-JP" altLang="en-US" dirty="0">
                <a:latin typeface="メイリオ" panose="020B0604030504040204" pitchFamily="50" charset="-128"/>
                <a:ea typeface="メイリオ" panose="020B0604030504040204" pitchFamily="50" charset="-128"/>
              </a:rPr>
              <a:t>運用への示唆</a:t>
            </a:r>
            <a:endParaRPr dirty="0">
              <a:latin typeface="メイリオ" panose="020B0604030504040204" pitchFamily="50" charset="-128"/>
              <a:ea typeface="メイリオ" panose="020B0604030504040204" pitchFamily="50" charset="-128"/>
            </a:endParaRPr>
          </a:p>
        </p:txBody>
      </p:sp>
      <p:sp>
        <p:nvSpPr>
          <p:cNvPr id="8" name="TextBox 7"/>
          <p:cNvSpPr txBox="1"/>
          <p:nvPr/>
        </p:nvSpPr>
        <p:spPr>
          <a:xfrm>
            <a:off x="6383915" y="4428173"/>
            <a:ext cx="5014771" cy="683264"/>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a:t>24時間先を一度に予測するより、1時間先予測を逐次更新し、温度上昇速度から「限界到達までの残り時間」を推定する運用が適する。</a:t>
            </a:r>
          </a:p>
        </p:txBody>
      </p:sp>
      <p:pic>
        <p:nvPicPr>
          <p:cNvPr id="13" name="図 12">
            <a:extLst>
              <a:ext uri="{FF2B5EF4-FFF2-40B4-BE49-F238E27FC236}">
                <a16:creationId xmlns:a16="http://schemas.microsoft.com/office/drawing/2014/main" id="{C1D26973-30BE-2F40-FC21-7C4DCB67535F}"/>
              </a:ext>
            </a:extLst>
          </p:cNvPr>
          <p:cNvPicPr>
            <a:picLocks noChangeAspect="1"/>
          </p:cNvPicPr>
          <p:nvPr/>
        </p:nvPicPr>
        <p:blipFill>
          <a:blip r:embed="rId2"/>
          <a:srcRect t="4922"/>
          <a:stretch>
            <a:fillRect/>
          </a:stretch>
        </p:blipFill>
        <p:spPr>
          <a:xfrm>
            <a:off x="258281" y="1585608"/>
            <a:ext cx="5663843" cy="2051756"/>
          </a:xfrm>
          <a:prstGeom prst="rect">
            <a:avLst/>
          </a:prstGeom>
        </p:spPr>
      </p:pic>
      <p:sp>
        <p:nvSpPr>
          <p:cNvPr id="14" name="テキスト ボックス 13">
            <a:extLst>
              <a:ext uri="{FF2B5EF4-FFF2-40B4-BE49-F238E27FC236}">
                <a16:creationId xmlns:a16="http://schemas.microsoft.com/office/drawing/2014/main" id="{03ED2145-F0CA-6976-E048-BBA9F48A4281}"/>
              </a:ext>
            </a:extLst>
          </p:cNvPr>
          <p:cNvSpPr txBox="1"/>
          <p:nvPr/>
        </p:nvSpPr>
        <p:spPr>
          <a:xfrm>
            <a:off x="2001660" y="3604787"/>
            <a:ext cx="3632548" cy="276999"/>
          </a:xfrm>
          <a:prstGeom prst="rect">
            <a:avLst/>
          </a:prstGeom>
          <a:noFill/>
        </p:spPr>
        <p:txBody>
          <a:bodyPr wrap="square" rtlCol="0">
            <a:spAutoFit/>
          </a:bodyPr>
          <a:lstStyle/>
          <a:p>
            <a:r>
              <a:rPr kumimoji="1" lang="en-US" altLang="ja-JP" sz="1200" dirty="0"/>
              <a:t>ETTh1: 1-hour-ahead forecast</a:t>
            </a:r>
            <a:endParaRPr kumimoji="1" lang="ja-JP" altLang="en-US" sz="1200" dirty="0"/>
          </a:p>
        </p:txBody>
      </p:sp>
      <p:pic>
        <p:nvPicPr>
          <p:cNvPr id="16" name="図 15">
            <a:extLst>
              <a:ext uri="{FF2B5EF4-FFF2-40B4-BE49-F238E27FC236}">
                <a16:creationId xmlns:a16="http://schemas.microsoft.com/office/drawing/2014/main" id="{A905D16F-BCDE-7101-0668-72F95F68541D}"/>
              </a:ext>
            </a:extLst>
          </p:cNvPr>
          <p:cNvPicPr>
            <a:picLocks noChangeAspect="1"/>
          </p:cNvPicPr>
          <p:nvPr/>
        </p:nvPicPr>
        <p:blipFill>
          <a:blip r:embed="rId3"/>
          <a:stretch>
            <a:fillRect/>
          </a:stretch>
        </p:blipFill>
        <p:spPr>
          <a:xfrm>
            <a:off x="258280" y="3944113"/>
            <a:ext cx="5663843" cy="1965958"/>
          </a:xfrm>
          <a:prstGeom prst="rect">
            <a:avLst/>
          </a:prstGeom>
        </p:spPr>
      </p:pic>
      <p:sp>
        <p:nvSpPr>
          <p:cNvPr id="18" name="テキスト ボックス 17">
            <a:extLst>
              <a:ext uri="{FF2B5EF4-FFF2-40B4-BE49-F238E27FC236}">
                <a16:creationId xmlns:a16="http://schemas.microsoft.com/office/drawing/2014/main" id="{1AEE9EFB-83C2-53F5-0B58-0CFF0520B475}"/>
              </a:ext>
            </a:extLst>
          </p:cNvPr>
          <p:cNvSpPr txBox="1"/>
          <p:nvPr/>
        </p:nvSpPr>
        <p:spPr>
          <a:xfrm>
            <a:off x="2001660" y="5858786"/>
            <a:ext cx="3632548" cy="276999"/>
          </a:xfrm>
          <a:prstGeom prst="rect">
            <a:avLst/>
          </a:prstGeom>
          <a:noFill/>
        </p:spPr>
        <p:txBody>
          <a:bodyPr wrap="square" rtlCol="0">
            <a:spAutoFit/>
          </a:bodyPr>
          <a:lstStyle/>
          <a:p>
            <a:r>
              <a:rPr kumimoji="1" lang="en-US" altLang="ja-JP" sz="1200" dirty="0"/>
              <a:t>ETTh1: 24-hour-ahead forecast</a:t>
            </a:r>
            <a:endParaRPr kumimoji="1" lang="ja-JP" alt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t>運用価値｜試算方法</a:t>
            </a:r>
          </a:p>
        </p:txBody>
      </p:sp>
      <p:sp>
        <p:nvSpPr>
          <p:cNvPr id="3" name="TextBox 2"/>
          <p:cNvSpPr txBox="1"/>
          <p:nvPr/>
        </p:nvSpPr>
        <p:spPr>
          <a:xfrm>
            <a:off x="502920" y="704088"/>
            <a:ext cx="11064240" cy="775597"/>
          </a:xfrm>
          <a:prstGeom prst="rect">
            <a:avLst/>
          </a:prstGeom>
          <a:noFill/>
        </p:spPr>
        <p:txBody>
          <a:bodyPr wrap="square" lIns="18288" tIns="18288" rIns="18288" bIns="18288">
            <a:spAutoFit/>
          </a:bodyPr>
          <a:lstStyle/>
          <a:p>
            <a:pPr>
              <a:defRPr sz="2400" b="1">
                <a:solidFill>
                  <a:srgbClr val="262A2F"/>
                </a:solidFill>
                <a:latin typeface="Meiryo"/>
              </a:defRPr>
            </a:pPr>
            <a:r>
              <a:rPr dirty="0">
                <a:latin typeface="メイリオ" panose="020B0604030504040204" pitchFamily="50" charset="-128"/>
                <a:ea typeface="メイリオ" panose="020B0604030504040204" pitchFamily="50" charset="-128"/>
              </a:rPr>
              <a:t>1時間先予測</a:t>
            </a:r>
            <a:r>
              <a:rPr lang="ja-JP" altLang="en-US" dirty="0">
                <a:latin typeface="メイリオ" panose="020B0604030504040204" pitchFamily="50" charset="-128"/>
                <a:ea typeface="メイリオ" panose="020B0604030504040204" pitchFamily="50" charset="-128"/>
              </a:rPr>
              <a:t>モデル</a:t>
            </a:r>
            <a:r>
              <a:rPr dirty="0" err="1">
                <a:latin typeface="メイリオ" panose="020B0604030504040204" pitchFamily="50" charset="-128"/>
                <a:ea typeface="メイリオ" panose="020B0604030504040204" pitchFamily="50" charset="-128"/>
              </a:rPr>
              <a:t>をアラートに</a:t>
            </a:r>
            <a:r>
              <a:rPr lang="ja-JP" altLang="en-US" dirty="0">
                <a:latin typeface="メイリオ" panose="020B0604030504040204" pitchFamily="50" charset="-128"/>
                <a:ea typeface="メイリオ" panose="020B0604030504040204" pitchFamily="50" charset="-128"/>
              </a:rPr>
              <a:t>利用する運用を想定し</a:t>
            </a:r>
            <a:r>
              <a:rPr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予防処置と事後処理の費用差から運用価値を試算</a:t>
            </a:r>
            <a:endParaRPr dirty="0">
              <a:latin typeface="メイリオ" panose="020B0604030504040204" pitchFamily="50" charset="-128"/>
              <a:ea typeface="メイリオ" panose="020B0604030504040204" pitchFamily="50" charset="-128"/>
            </a:endParaRP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94360" y="1458517"/>
            <a:ext cx="5212080" cy="2008108"/>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1577389"/>
            <a:ext cx="4882896" cy="329184"/>
          </a:xfrm>
          <a:prstGeom prst="rect">
            <a:avLst/>
          </a:prstGeom>
          <a:noFill/>
        </p:spPr>
        <p:txBody>
          <a:bodyPr wrap="square" lIns="18288" tIns="18288" rIns="18288" bIns="18288">
            <a:spAutoFit/>
          </a:bodyPr>
          <a:lstStyle/>
          <a:p>
            <a:pPr algn="l">
              <a:defRPr sz="1600" b="1">
                <a:solidFill>
                  <a:srgbClr val="3466A4"/>
                </a:solidFill>
                <a:latin typeface="Meiryo"/>
              </a:defRPr>
            </a:pPr>
            <a:r>
              <a:rPr dirty="0" err="1"/>
              <a:t>代理閾値</a:t>
            </a:r>
            <a:endParaRPr dirty="0"/>
          </a:p>
        </p:txBody>
      </p:sp>
      <p:sp>
        <p:nvSpPr>
          <p:cNvPr id="22" name="TextBox 21"/>
          <p:cNvSpPr txBox="1"/>
          <p:nvPr/>
        </p:nvSpPr>
        <p:spPr>
          <a:xfrm>
            <a:off x="758952" y="1979725"/>
            <a:ext cx="4882896" cy="1144929"/>
          </a:xfrm>
          <a:prstGeom prst="rect">
            <a:avLst/>
          </a:prstGeom>
          <a:noFill/>
        </p:spPr>
        <p:txBody>
          <a:bodyPr wrap="square" lIns="18288" tIns="18288" rIns="18288" bIns="18288">
            <a:spAutoFit/>
          </a:bodyPr>
          <a:lstStyle/>
          <a:p>
            <a:pPr>
              <a:defRPr sz="1600" b="0">
                <a:solidFill>
                  <a:srgbClr val="262A2F"/>
                </a:solidFill>
                <a:latin typeface="Meiryo"/>
              </a:defRPr>
            </a:pPr>
            <a:r>
              <a:rPr lang="ja-JP" altLang="ja-JP" sz="1400" dirty="0">
                <a:solidFill>
                  <a:srgbClr val="262A2F"/>
                </a:solidFill>
                <a:latin typeface="メイリオ" panose="020B0604030504040204" pitchFamily="50" charset="-128"/>
                <a:ea typeface="メイリオ" panose="020B0604030504040204" pitchFamily="50" charset="-128"/>
              </a:rPr>
              <a:t>参考資料では、油入変圧器の警報温度として90℃に設定する例が示されている¹。一方、本データに90℃へ達する観測値はなく、設備劣化の記録もない。そこで、観測油温の90パーセンタイル値（上位10％の境界値）を代理閾値とし</a:t>
            </a:r>
            <a:r>
              <a:rPr lang="ja-JP" altLang="en-US" sz="1400" dirty="0">
                <a:solidFill>
                  <a:srgbClr val="262A2F"/>
                </a:solidFill>
                <a:latin typeface="メイリオ" panose="020B0604030504040204" pitchFamily="50" charset="-128"/>
                <a:ea typeface="メイリオ" panose="020B0604030504040204" pitchFamily="50" charset="-128"/>
              </a:rPr>
              <a:t>て仮定し</a:t>
            </a:r>
            <a:r>
              <a:rPr lang="ja-JP" altLang="ja-JP" sz="1400" dirty="0">
                <a:solidFill>
                  <a:srgbClr val="262A2F"/>
                </a:solidFill>
                <a:latin typeface="メイリオ" panose="020B0604030504040204" pitchFamily="50" charset="-128"/>
                <a:ea typeface="メイリオ" panose="020B0604030504040204" pitchFamily="50" charset="-128"/>
              </a:rPr>
              <a:t>、１時間後の予測油温を用いてROIを試算する</a:t>
            </a:r>
            <a:r>
              <a:rPr lang="ja-JP" altLang="ja-JP" sz="1600" dirty="0">
                <a:solidFill>
                  <a:srgbClr val="262A2F"/>
                </a:solidFill>
                <a:latin typeface="Meiryo"/>
              </a:rPr>
              <a:t>。</a:t>
            </a:r>
            <a:endParaRPr dirty="0"/>
          </a:p>
        </p:txBody>
      </p:sp>
      <p:sp>
        <p:nvSpPr>
          <p:cNvPr id="23" name="Rounded Rectangle 22"/>
          <p:cNvSpPr/>
          <p:nvPr/>
        </p:nvSpPr>
        <p:spPr>
          <a:xfrm>
            <a:off x="6080760" y="1458517"/>
            <a:ext cx="5440680" cy="2008108"/>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2" y="1577389"/>
            <a:ext cx="5111496" cy="329184"/>
          </a:xfrm>
          <a:prstGeom prst="rect">
            <a:avLst/>
          </a:prstGeom>
          <a:noFill/>
        </p:spPr>
        <p:txBody>
          <a:bodyPr wrap="square" lIns="18288" tIns="18288" rIns="18288" bIns="18288">
            <a:spAutoFit/>
          </a:bodyPr>
          <a:lstStyle/>
          <a:p>
            <a:pPr algn="l">
              <a:defRPr sz="1600" b="1">
                <a:solidFill>
                  <a:srgbClr val="3466A4"/>
                </a:solidFill>
                <a:latin typeface="Meiryo"/>
              </a:defRPr>
            </a:pPr>
            <a:r>
              <a:t>費用シナリオ</a:t>
            </a:r>
          </a:p>
        </p:txBody>
      </p:sp>
      <mc:AlternateContent xmlns:mc="http://schemas.openxmlformats.org/markup-compatibility/2006">
        <mc:Choice xmlns:a14="http://schemas.microsoft.com/office/drawing/2010/main" Requires="a14">
          <p:sp>
            <p:nvSpPr>
              <p:cNvPr id="25" name="TextBox 24"/>
              <p:cNvSpPr txBox="1"/>
              <p:nvPr/>
            </p:nvSpPr>
            <p:spPr>
              <a:xfrm>
                <a:off x="6245352" y="1979725"/>
                <a:ext cx="5111496" cy="1114151"/>
              </a:xfrm>
              <a:prstGeom prst="rect">
                <a:avLst/>
              </a:prstGeom>
              <a:noFill/>
            </p:spPr>
            <p:txBody>
              <a:bodyPr wrap="square" lIns="18288" tIns="18288" rIns="18288" bIns="18288">
                <a:spAutoFit/>
              </a:bodyPr>
              <a:lstStyle/>
              <a:p>
                <a:pPr>
                  <a:defRPr sz="1600" b="0">
                    <a:solidFill>
                      <a:srgbClr val="262A2F"/>
                    </a:solidFill>
                    <a:latin typeface="Meiryo"/>
                  </a:defRPr>
                </a:pPr>
                <a:r>
                  <a:rPr lang="ja-JP" altLang="en-US" sz="1400" dirty="0">
                    <a:solidFill>
                      <a:srgbClr val="262A2F"/>
                    </a:solidFill>
                    <a:latin typeface="メイリオ" panose="020B0604030504040204" pitchFamily="50" charset="-128"/>
                    <a:ea typeface="メイリオ" panose="020B0604030504040204" pitchFamily="50" charset="-128"/>
                  </a:rPr>
                  <a:t>長谷川電気が示す劣化時の早期対応費用と、放置した場合の修理費の目安を参考に、予防処置費用を</a:t>
                </a:r>
                <a:r>
                  <a:rPr lang="en-US" altLang="ja-JP" sz="1400" dirty="0">
                    <a:solidFill>
                      <a:srgbClr val="262A2F"/>
                    </a:solidFill>
                    <a:latin typeface="メイリオ" panose="020B0604030504040204" pitchFamily="50" charset="-128"/>
                    <a:ea typeface="メイリオ" panose="020B0604030504040204" pitchFamily="50" charset="-128"/>
                  </a:rPr>
                  <a:t>15</a:t>
                </a:r>
                <a:r>
                  <a:rPr lang="ja-JP" altLang="en-US" sz="1400" dirty="0">
                    <a:solidFill>
                      <a:srgbClr val="262A2F"/>
                    </a:solidFill>
                    <a:latin typeface="メイリオ" panose="020B0604030504040204" pitchFamily="50" charset="-128"/>
                    <a:ea typeface="メイリオ" panose="020B0604030504040204" pitchFamily="50" charset="-128"/>
                  </a:rPr>
                  <a:t>・</a:t>
                </a:r>
                <a:r>
                  <a:rPr lang="en-US" altLang="ja-JP" sz="1400" dirty="0">
                    <a:solidFill>
                      <a:srgbClr val="262A2F"/>
                    </a:solidFill>
                    <a:latin typeface="メイリオ" panose="020B0604030504040204" pitchFamily="50" charset="-128"/>
                    <a:ea typeface="メイリオ" panose="020B0604030504040204" pitchFamily="50" charset="-128"/>
                  </a:rPr>
                  <a:t>20</a:t>
                </a:r>
                <a:r>
                  <a:rPr lang="ja-JP" altLang="en-US" sz="1400" dirty="0">
                    <a:solidFill>
                      <a:srgbClr val="262A2F"/>
                    </a:solidFill>
                    <a:latin typeface="メイリオ" panose="020B0604030504040204" pitchFamily="50" charset="-128"/>
                    <a:ea typeface="メイリオ" panose="020B0604030504040204" pitchFamily="50" charset="-128"/>
                  </a:rPr>
                  <a:t>・</a:t>
                </a:r>
                <a:r>
                  <a:rPr lang="en-US" altLang="ja-JP" sz="1400" dirty="0">
                    <a:solidFill>
                      <a:srgbClr val="262A2F"/>
                    </a:solidFill>
                    <a:latin typeface="メイリオ" panose="020B0604030504040204" pitchFamily="50" charset="-128"/>
                    <a:ea typeface="メイリオ" panose="020B0604030504040204" pitchFamily="50" charset="-128"/>
                  </a:rPr>
                  <a:t>40</a:t>
                </a:r>
                <a:r>
                  <a:rPr lang="ja-JP" altLang="en-US" sz="1400" dirty="0">
                    <a:solidFill>
                      <a:srgbClr val="262A2F"/>
                    </a:solidFill>
                    <a:latin typeface="メイリオ" panose="020B0604030504040204" pitchFamily="50" charset="-128"/>
                    <a:ea typeface="メイリオ" panose="020B0604030504040204" pitchFamily="50" charset="-128"/>
                  </a:rPr>
                  <a:t>万円、故障が発生した場合の事後処理費用を</a:t>
                </a:r>
                <a:r>
                  <a:rPr lang="en-US" altLang="ja-JP" sz="1400" dirty="0">
                    <a:solidFill>
                      <a:srgbClr val="262A2F"/>
                    </a:solidFill>
                    <a:latin typeface="メイリオ" panose="020B0604030504040204" pitchFamily="50" charset="-128"/>
                    <a:ea typeface="メイリオ" panose="020B0604030504040204" pitchFamily="50" charset="-128"/>
                  </a:rPr>
                  <a:t>80</a:t>
                </a:r>
                <a:r>
                  <a:rPr lang="ja-JP" altLang="en-US" sz="1400" dirty="0">
                    <a:solidFill>
                      <a:srgbClr val="262A2F"/>
                    </a:solidFill>
                    <a:latin typeface="メイリオ" panose="020B0604030504040204" pitchFamily="50" charset="-128"/>
                    <a:ea typeface="メイリオ" panose="020B0604030504040204" pitchFamily="50" charset="-128"/>
                  </a:rPr>
                  <a:t>・</a:t>
                </a:r>
                <a:r>
                  <a:rPr lang="en-US" altLang="ja-JP" sz="1400" dirty="0">
                    <a:solidFill>
                      <a:srgbClr val="262A2F"/>
                    </a:solidFill>
                    <a:latin typeface="メイリオ" panose="020B0604030504040204" pitchFamily="50" charset="-128"/>
                    <a:ea typeface="メイリオ" panose="020B0604030504040204" pitchFamily="50" charset="-128"/>
                  </a:rPr>
                  <a:t>150</a:t>
                </a:r>
                <a:r>
                  <a:rPr lang="ja-JP" altLang="en-US" sz="1400" dirty="0">
                    <a:solidFill>
                      <a:srgbClr val="262A2F"/>
                    </a:solidFill>
                    <a:latin typeface="メイリオ" panose="020B0604030504040204" pitchFamily="50" charset="-128"/>
                    <a:ea typeface="メイリオ" panose="020B0604030504040204" pitchFamily="50" charset="-128"/>
                  </a:rPr>
                  <a:t>万円に設定す</a:t>
                </a:r>
                <a14:m>
                  <m:oMath xmlns:m="http://schemas.openxmlformats.org/officeDocument/2006/math">
                    <m:sSup>
                      <m:sSupPr>
                        <m:ctrlPr>
                          <a:rPr lang="ja-JP" altLang="en-US" sz="1400" i="1">
                            <a:solidFill>
                              <a:srgbClr val="262A2F"/>
                            </a:solidFill>
                            <a:latin typeface="Cambria Math" panose="02040503050406030204" pitchFamily="18" charset="0"/>
                            <a:ea typeface="メイリオ" panose="020B0604030504040204" pitchFamily="50" charset="-128"/>
                          </a:rPr>
                        </m:ctrlPr>
                      </m:sSupPr>
                      <m:e>
                        <m:r>
                          <a:rPr lang="ja-JP" altLang="en-US" sz="1400" i="1">
                            <a:solidFill>
                              <a:srgbClr val="262A2F"/>
                            </a:solidFill>
                            <a:latin typeface="Cambria Math" panose="02040503050406030204" pitchFamily="18" charset="0"/>
                            <a:ea typeface="メイリオ" panose="020B0604030504040204" pitchFamily="50" charset="-128"/>
                          </a:rPr>
                          <m:t>る</m:t>
                        </m:r>
                      </m:e>
                      <m:sup>
                        <m:r>
                          <a:rPr lang="en-US" altLang="ja-JP" sz="1400" b="0" i="1" smtClean="0">
                            <a:solidFill>
                              <a:srgbClr val="262A2F"/>
                            </a:solidFill>
                            <a:latin typeface="Cambria Math" panose="02040503050406030204" pitchFamily="18" charset="0"/>
                            <a:ea typeface="メイリオ" panose="020B0604030504040204" pitchFamily="50" charset="-128"/>
                          </a:rPr>
                          <m:t>2</m:t>
                        </m:r>
                      </m:sup>
                    </m:sSup>
                  </m:oMath>
                </a14:m>
                <a:r>
                  <a:rPr lang="ja-JP" altLang="en-US" sz="1400" dirty="0">
                    <a:solidFill>
                      <a:srgbClr val="262A2F"/>
                    </a:solidFill>
                    <a:latin typeface="メイリオ" panose="020B0604030504040204" pitchFamily="50" charset="-128"/>
                    <a:ea typeface="メイリオ" panose="020B0604030504040204" pitchFamily="50" charset="-128"/>
                  </a:rPr>
                  <a:t>。設備の状態による費用のばらつきを考慮し、３段階</a:t>
                </a:r>
                <a:r>
                  <a:rPr lang="en-US" altLang="ja-JP" sz="1400" dirty="0">
                    <a:solidFill>
                      <a:srgbClr val="262A2F"/>
                    </a:solidFill>
                    <a:latin typeface="メイリオ" panose="020B0604030504040204" pitchFamily="50" charset="-128"/>
                    <a:ea typeface="メイリオ" panose="020B0604030504040204" pitchFamily="50" charset="-128"/>
                  </a:rPr>
                  <a:t>×</a:t>
                </a:r>
                <a:r>
                  <a:rPr lang="ja-JP" altLang="en-US" sz="1400" dirty="0">
                    <a:solidFill>
                      <a:srgbClr val="262A2F"/>
                    </a:solidFill>
                    <a:latin typeface="メイリオ" panose="020B0604030504040204" pitchFamily="50" charset="-128"/>
                    <a:ea typeface="メイリオ" panose="020B0604030504040204" pitchFamily="50" charset="-128"/>
                  </a:rPr>
                  <a:t>２段階の計６シナリオで</a:t>
                </a:r>
                <a:r>
                  <a:rPr lang="en-US" altLang="ja-JP" sz="1400" dirty="0">
                    <a:solidFill>
                      <a:srgbClr val="262A2F"/>
                    </a:solidFill>
                    <a:latin typeface="メイリオ" panose="020B0604030504040204" pitchFamily="50" charset="-128"/>
                    <a:ea typeface="メイリオ" panose="020B0604030504040204" pitchFamily="50" charset="-128"/>
                  </a:rPr>
                  <a:t>ROI</a:t>
                </a:r>
                <a:r>
                  <a:rPr lang="ja-JP" altLang="en-US" sz="1400" dirty="0">
                    <a:solidFill>
                      <a:srgbClr val="262A2F"/>
                    </a:solidFill>
                    <a:latin typeface="メイリオ" panose="020B0604030504040204" pitchFamily="50" charset="-128"/>
                    <a:ea typeface="メイリオ" panose="020B0604030504040204" pitchFamily="50" charset="-128"/>
                  </a:rPr>
                  <a:t>の感度分析を行う</a:t>
                </a:r>
                <a:r>
                  <a:rPr lang="ja-JP" altLang="en-US" sz="1400" dirty="0">
                    <a:latin typeface="メイリオ" panose="020B0604030504040204" pitchFamily="50" charset="-128"/>
                    <a:ea typeface="メイリオ" panose="020B0604030504040204" pitchFamily="50" charset="-128"/>
                  </a:rPr>
                  <a:t>。</a:t>
                </a:r>
                <a:endParaRPr sz="1400" dirty="0">
                  <a:latin typeface="メイリオ" panose="020B0604030504040204" pitchFamily="50" charset="-128"/>
                  <a:ea typeface="メイリオ" panose="020B0604030504040204" pitchFamily="50" charset="-128"/>
                </a:endParaRPr>
              </a:p>
            </p:txBody>
          </p:sp>
        </mc:Choice>
        <mc:Fallback>
          <p:sp>
            <p:nvSpPr>
              <p:cNvPr id="25" name="TextBox 24"/>
              <p:cNvSpPr txBox="1">
                <a:spLocks noRot="1" noChangeAspect="1" noMove="1" noResize="1" noEditPoints="1" noAdjustHandles="1" noChangeArrowheads="1" noChangeShapeType="1" noTextEdit="1"/>
              </p:cNvSpPr>
              <p:nvPr/>
            </p:nvSpPr>
            <p:spPr>
              <a:xfrm>
                <a:off x="6245352" y="1979725"/>
                <a:ext cx="5111496" cy="1114151"/>
              </a:xfrm>
              <a:prstGeom prst="rect">
                <a:avLst/>
              </a:prstGeom>
              <a:blipFill>
                <a:blip r:embed="rId2"/>
                <a:stretch>
                  <a:fillRect l="-1790" t="-3279" b="-7104"/>
                </a:stretch>
              </a:blipFill>
            </p:spPr>
            <p:txBody>
              <a:bodyPr/>
              <a:lstStyle/>
              <a:p>
                <a:r>
                  <a:rPr lang="ja-JP" altLang="en-US">
                    <a:noFill/>
                  </a:rPr>
                  <a:t> </a:t>
                </a:r>
              </a:p>
            </p:txBody>
          </p:sp>
        </mc:Fallback>
      </mc:AlternateContent>
      <p:sp>
        <p:nvSpPr>
          <p:cNvPr id="27" name="テキスト ボックス 26">
            <a:extLst>
              <a:ext uri="{FF2B5EF4-FFF2-40B4-BE49-F238E27FC236}">
                <a16:creationId xmlns:a16="http://schemas.microsoft.com/office/drawing/2014/main" id="{37453F47-5DB6-366D-FB1C-FF67FEBCFD0D}"/>
              </a:ext>
            </a:extLst>
          </p:cNvPr>
          <p:cNvSpPr txBox="1"/>
          <p:nvPr/>
        </p:nvSpPr>
        <p:spPr>
          <a:xfrm>
            <a:off x="169432" y="6433804"/>
            <a:ext cx="4356847" cy="369332"/>
          </a:xfrm>
          <a:prstGeom prst="rect">
            <a:avLst/>
          </a:prstGeom>
          <a:noFill/>
        </p:spPr>
        <p:txBody>
          <a:bodyPr wrap="square" rtlCol="0">
            <a:spAutoFit/>
          </a:bodyPr>
          <a:lstStyle/>
          <a:p>
            <a:r>
              <a:rPr lang="ja-JP" altLang="ja-JP" sz="900" dirty="0">
                <a:latin typeface="メイリオ" panose="020B0604030504040204" pitchFamily="50" charset="-128"/>
                <a:ea typeface="メイリオ" panose="020B0604030504040204" pitchFamily="50" charset="-128"/>
              </a:rPr>
              <a:t>¹ 電気設備の知識と技術「ダイヤル温度計」</a:t>
            </a:r>
            <a:endParaRPr lang="en-US" altLang="ja-JP" sz="900" dirty="0">
              <a:latin typeface="メイリオ" panose="020B0604030504040204" pitchFamily="50" charset="-128"/>
              <a:ea typeface="メイリオ" panose="020B0604030504040204" pitchFamily="50" charset="-128"/>
            </a:endParaRPr>
          </a:p>
          <a:p>
            <a:r>
              <a:rPr lang="ja-JP" altLang="ja-JP" sz="900" dirty="0">
                <a:latin typeface="メイリオ" panose="020B0604030504040204" pitchFamily="50" charset="-128"/>
                <a:ea typeface="メイリオ" panose="020B0604030504040204" pitchFamily="50" charset="-128"/>
              </a:rPr>
              <a:t>https://electric-facilities.jp/denki7/ta/013.html（2026年9月24日閲覧）</a:t>
            </a:r>
            <a:endParaRPr kumimoji="1" lang="ja-JP" altLang="en-US" sz="900" dirty="0">
              <a:latin typeface="メイリオ" panose="020B0604030504040204" pitchFamily="50" charset="-128"/>
              <a:ea typeface="メイリオ" panose="020B0604030504040204" pitchFamily="50" charset="-128"/>
            </a:endParaRPr>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C13E0CA2-2760-F6D9-0348-B2EF9D4E7D9C}"/>
                  </a:ext>
                </a:extLst>
              </p:cNvPr>
              <p:cNvSpPr txBox="1"/>
              <p:nvPr/>
            </p:nvSpPr>
            <p:spPr>
              <a:xfrm>
                <a:off x="4572000" y="6305837"/>
                <a:ext cx="4095974" cy="529056"/>
              </a:xfrm>
              <a:prstGeom prst="rect">
                <a:avLst/>
              </a:prstGeom>
              <a:noFill/>
            </p:spPr>
            <p:txBody>
              <a:bodyPr wrap="square" rtlCol="0">
                <a:spAutoFit/>
              </a:bodyPr>
              <a:lstStyle/>
              <a:p>
                <a14:m>
                  <m:oMath xmlns:m="http://schemas.openxmlformats.org/officeDocument/2006/math">
                    <m:sSup>
                      <m:sSupPr>
                        <m:ctrlPr>
                          <a:rPr lang="ja-JP" altLang="en-US" sz="900" i="1" smtClean="0">
                            <a:latin typeface="Cambria Math" panose="02040503050406030204" pitchFamily="18" charset="0"/>
                          </a:rPr>
                        </m:ctrlPr>
                      </m:sSupPr>
                      <m:e/>
                      <m:sup>
                        <m:r>
                          <a:rPr lang="en-US" altLang="ja-JP" sz="900" b="0" i="1" smtClean="0">
                            <a:latin typeface="Cambria Math" panose="02040503050406030204" pitchFamily="18" charset="0"/>
                          </a:rPr>
                          <m:t>2</m:t>
                        </m:r>
                      </m:sup>
                    </m:sSup>
                  </m:oMath>
                </a14:m>
                <a:r>
                  <a:rPr lang="ja-JP" altLang="ja-JP" sz="900" dirty="0">
                    <a:latin typeface="メイリオ" panose="020B0604030504040204" pitchFamily="50" charset="-128"/>
                    <a:ea typeface="メイリオ" panose="020B0604030504040204" pitchFamily="50" charset="-128"/>
                  </a:rPr>
                  <a:t>株式会社長谷川電気「埼玉のキュービクル保守点検｜費用相場と劣化診断の実例」（2026年8月5日）、</a:t>
                </a:r>
                <a:r>
                  <a:rPr lang="ja-JP" altLang="ja-JP" sz="900" dirty="0">
                    <a:latin typeface="メイリオ" panose="020B0604030504040204" pitchFamily="50" charset="-128"/>
                    <a:ea typeface="メイリオ" panose="020B0604030504040204" pitchFamily="50" charset="-128"/>
                    <a:hlinkClick r:id="rId3"/>
                  </a:rPr>
                  <a:t>https://haseden.tech/archives/9270</a:t>
                </a:r>
                <a:r>
                  <a:rPr lang="ja-JP" altLang="ja-JP" sz="900" dirty="0">
                    <a:latin typeface="メイリオ" panose="020B0604030504040204" pitchFamily="50" charset="-128"/>
                    <a:ea typeface="メイリオ" panose="020B0604030504040204" pitchFamily="50" charset="-128"/>
                  </a:rPr>
                  <a:t> （2026年9月24日閲覧）</a:t>
                </a:r>
                <a:endParaRPr kumimoji="1" lang="ja-JP" altLang="en-US" sz="900" dirty="0">
                  <a:latin typeface="メイリオ" panose="020B0604030504040204" pitchFamily="50" charset="-128"/>
                  <a:ea typeface="メイリオ" panose="020B0604030504040204" pitchFamily="50" charset="-128"/>
                </a:endParaRPr>
              </a:p>
            </p:txBody>
          </p:sp>
        </mc:Choice>
        <mc:Fallback>
          <p:sp>
            <p:nvSpPr>
              <p:cNvPr id="28" name="テキスト ボックス 27">
                <a:extLst>
                  <a:ext uri="{FF2B5EF4-FFF2-40B4-BE49-F238E27FC236}">
                    <a16:creationId xmlns:a16="http://schemas.microsoft.com/office/drawing/2014/main" id="{C13E0CA2-2760-F6D9-0348-B2EF9D4E7D9C}"/>
                  </a:ext>
                </a:extLst>
              </p:cNvPr>
              <p:cNvSpPr txBox="1">
                <a:spLocks noRot="1" noChangeAspect="1" noMove="1" noResize="1" noEditPoints="1" noAdjustHandles="1" noChangeArrowheads="1" noChangeShapeType="1" noTextEdit="1"/>
              </p:cNvSpPr>
              <p:nvPr/>
            </p:nvSpPr>
            <p:spPr>
              <a:xfrm>
                <a:off x="4572000" y="6305837"/>
                <a:ext cx="4095974" cy="529056"/>
              </a:xfrm>
              <a:prstGeom prst="rect">
                <a:avLst/>
              </a:prstGeom>
              <a:blipFill>
                <a:blip r:embed="rId4"/>
                <a:stretch>
                  <a:fillRect b="-4598"/>
                </a:stretch>
              </a:blipFill>
            </p:spPr>
            <p:txBody>
              <a:bodyPr/>
              <a:lstStyle/>
              <a:p>
                <a:r>
                  <a:rPr lang="ja-JP" altLang="en-US">
                    <a:noFill/>
                  </a:rPr>
                  <a:t> </a:t>
                </a:r>
              </a:p>
            </p:txBody>
          </p:sp>
        </mc:Fallback>
      </mc:AlternateContent>
      <p:graphicFrame>
        <p:nvGraphicFramePr>
          <p:cNvPr id="31" name="Table 7">
            <a:extLst>
              <a:ext uri="{FF2B5EF4-FFF2-40B4-BE49-F238E27FC236}">
                <a16:creationId xmlns:a16="http://schemas.microsoft.com/office/drawing/2014/main" id="{DE30CBE2-93C5-C42C-A023-92AE9B755A87}"/>
              </a:ext>
            </a:extLst>
          </p:cNvPr>
          <p:cNvGraphicFramePr>
            <a:graphicFrameLocks noGrp="1"/>
          </p:cNvGraphicFramePr>
          <p:nvPr>
            <p:extLst>
              <p:ext uri="{D42A27DB-BD31-4B8C-83A1-F6EECF244321}">
                <p14:modId xmlns:p14="http://schemas.microsoft.com/office/powerpoint/2010/main" val="346447276"/>
              </p:ext>
            </p:extLst>
          </p:nvPr>
        </p:nvGraphicFramePr>
        <p:xfrm>
          <a:off x="502920" y="3875228"/>
          <a:ext cx="5394960" cy="1544574"/>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tblGrid>
              <a:tr h="354330">
                <a:tc>
                  <a:txBody>
                    <a:bodyPr/>
                    <a:lstStyle/>
                    <a:p>
                      <a:pPr algn="ctr">
                        <a:defRPr sz="1000" b="1">
                          <a:solidFill>
                            <a:srgbClr val="FFFFFF"/>
                          </a:solidFill>
                          <a:latin typeface="Yu Gothic"/>
                        </a:defRPr>
                      </a:pPr>
                      <a:r>
                        <a:rPr sz="1600" dirty="0" err="1">
                          <a:latin typeface="メイリオ" panose="020B0604030504040204" pitchFamily="50" charset="-128"/>
                          <a:ea typeface="メイリオ" panose="020B0604030504040204" pitchFamily="50" charset="-128"/>
                        </a:rPr>
                        <a:t>項目</a:t>
                      </a:r>
                      <a:endParaRPr sz="16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600">
                          <a:latin typeface="メイリオ" panose="020B0604030504040204" pitchFamily="50" charset="-128"/>
                          <a:ea typeface="メイリオ" panose="020B0604030504040204" pitchFamily="50" charset="-128"/>
                        </a:rPr>
                        <a:t>ETTh1</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1000" b="1">
                          <a:solidFill>
                            <a:srgbClr val="FFFFFF"/>
                          </a:solidFill>
                          <a:latin typeface="Yu Gothic"/>
                        </a:defRPr>
                      </a:pPr>
                      <a:r>
                        <a:rPr sz="1600" dirty="0">
                          <a:latin typeface="メイリオ" panose="020B0604030504040204" pitchFamily="50" charset="-128"/>
                          <a:ea typeface="メイリオ" panose="020B0604030504040204" pitchFamily="50" charset="-128"/>
                        </a:rPr>
                        <a:t>ETTh2</a:t>
                      </a:r>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354330">
                <a:tc>
                  <a:txBody>
                    <a:bodyPr/>
                    <a:lstStyle/>
                    <a:p>
                      <a:pPr algn="ctr">
                        <a:defRPr sz="1000" b="0">
                          <a:solidFill>
                            <a:srgbClr val="2D2D2D"/>
                          </a:solidFill>
                          <a:latin typeface="Yu Gothic"/>
                        </a:defRPr>
                      </a:pPr>
                      <a:r>
                        <a:rPr sz="1400">
                          <a:latin typeface="メイリオ" panose="020B0604030504040204" pitchFamily="50" charset="-128"/>
                          <a:ea typeface="メイリオ" panose="020B0604030504040204" pitchFamily="50" charset="-128"/>
                        </a:rPr>
                        <a:t>代理閾値</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1000" b="0">
                          <a:solidFill>
                            <a:srgbClr val="2D2D2D"/>
                          </a:solidFill>
                          <a:latin typeface="Yu Gothic"/>
                        </a:defRPr>
                      </a:pPr>
                      <a:r>
                        <a:rPr sz="1400">
                          <a:latin typeface="メイリオ" panose="020B0604030504040204" pitchFamily="50" charset="-128"/>
                          <a:ea typeface="メイリオ" panose="020B0604030504040204" pitchFamily="50" charset="-128"/>
                        </a:rPr>
                        <a:t>15.45℃</a:t>
                      </a:r>
                    </a:p>
                  </a:txBody>
                  <a:tcPr marL="54864" marR="54864" marT="27432" marB="27432">
                    <a:solidFill>
                      <a:srgbClr val="F0F4F8"/>
                    </a:solidFill>
                  </a:tcPr>
                </a:tc>
                <a:tc>
                  <a:txBody>
                    <a:bodyPr/>
                    <a:lstStyle/>
                    <a:p>
                      <a:pPr algn="ctr">
                        <a:defRPr sz="1000" b="0">
                          <a:solidFill>
                            <a:srgbClr val="2D2D2D"/>
                          </a:solidFill>
                          <a:latin typeface="Yu Gothic"/>
                        </a:defRPr>
                      </a:pPr>
                      <a:r>
                        <a:rPr sz="1400">
                          <a:latin typeface="メイリオ" panose="020B0604030504040204" pitchFamily="50" charset="-128"/>
                          <a:ea typeface="メイリオ" panose="020B0604030504040204" pitchFamily="50" charset="-128"/>
                        </a:rPr>
                        <a:t>45.56℃</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354330">
                <a:tc>
                  <a:txBody>
                    <a:bodyPr/>
                    <a:lstStyle/>
                    <a:p>
                      <a:pPr algn="ctr">
                        <a:defRPr sz="1000" b="0">
                          <a:solidFill>
                            <a:srgbClr val="2D2D2D"/>
                          </a:solidFill>
                          <a:latin typeface="Yu Gothic"/>
                        </a:defRPr>
                      </a:pPr>
                      <a:r>
                        <a:rPr sz="1400">
                          <a:latin typeface="メイリオ" panose="020B0604030504040204" pitchFamily="50" charset="-128"/>
                          <a:ea typeface="メイリオ" panose="020B0604030504040204" pitchFamily="50" charset="-128"/>
                        </a:rPr>
                        <a:t>予測アラート数</a:t>
                      </a:r>
                    </a:p>
                  </a:txBody>
                  <a:tcPr marL="54864" marR="54864" marT="27432" marB="27432">
                    <a:lnL w="12700" cap="flat" cmpd="sng" algn="ctr">
                      <a:solidFill>
                        <a:schemeClr val="tx1"/>
                      </a:solidFill>
                      <a:prstDash val="solid"/>
                      <a:round/>
                      <a:headEnd type="none" w="med" len="med"/>
                      <a:tailEnd type="none" w="med" len="med"/>
                    </a:lnL>
                    <a:solidFill>
                      <a:srgbClr val="FFFFFF"/>
                    </a:solidFill>
                  </a:tcPr>
                </a:tc>
                <a:tc>
                  <a:txBody>
                    <a:bodyPr/>
                    <a:lstStyle/>
                    <a:p>
                      <a:pPr algn="ctr">
                        <a:defRPr sz="1000" b="0">
                          <a:solidFill>
                            <a:srgbClr val="2D2D2D"/>
                          </a:solidFill>
                          <a:latin typeface="Yu Gothic"/>
                        </a:defRPr>
                      </a:pPr>
                      <a:r>
                        <a:rPr sz="1400" dirty="0">
                          <a:latin typeface="メイリオ" panose="020B0604030504040204" pitchFamily="50" charset="-128"/>
                          <a:ea typeface="メイリオ" panose="020B0604030504040204" pitchFamily="50" charset="-128"/>
                        </a:rPr>
                        <a:t>38</a:t>
                      </a:r>
                    </a:p>
                  </a:txBody>
                  <a:tcPr marL="54864" marR="54864" marT="27432" marB="27432">
                    <a:solidFill>
                      <a:srgbClr val="FFFFFF"/>
                    </a:solidFill>
                  </a:tcPr>
                </a:tc>
                <a:tc>
                  <a:txBody>
                    <a:bodyPr/>
                    <a:lstStyle/>
                    <a:p>
                      <a:pPr algn="ctr">
                        <a:defRPr sz="1000" b="0">
                          <a:solidFill>
                            <a:srgbClr val="2D2D2D"/>
                          </a:solidFill>
                          <a:latin typeface="Yu Gothic"/>
                        </a:defRPr>
                      </a:pPr>
                      <a:r>
                        <a:rPr sz="1400" dirty="0">
                          <a:latin typeface="メイリオ" panose="020B0604030504040204" pitchFamily="50" charset="-128"/>
                          <a:ea typeface="メイリオ" panose="020B0604030504040204" pitchFamily="50" charset="-128"/>
                        </a:rPr>
                        <a:t>72</a:t>
                      </a:r>
                    </a:p>
                  </a:txBody>
                  <a:tcPr marL="54864" marR="54864" marT="27432" marB="27432">
                    <a:lnR w="12700" cap="flat" cmpd="sng" algn="ctr">
                      <a:solidFill>
                        <a:schemeClr val="tx1"/>
                      </a:solidFill>
                      <a:prstDash val="solid"/>
                      <a:round/>
                      <a:headEnd type="none" w="med" len="med"/>
                      <a:tailEnd type="none" w="med" len="med"/>
                    </a:lnR>
                    <a:solidFill>
                      <a:srgbClr val="FFFFFF"/>
                    </a:solidFill>
                  </a:tcPr>
                </a:tc>
                <a:extLst>
                  <a:ext uri="{0D108BD9-81ED-4DB2-BD59-A6C34878D82A}">
                    <a16:rowId xmlns:a16="http://schemas.microsoft.com/office/drawing/2014/main" val="10002"/>
                  </a:ext>
                </a:extLst>
              </a:tr>
              <a:tr h="354330">
                <a:tc>
                  <a:txBody>
                    <a:bodyPr/>
                    <a:lstStyle/>
                    <a:p>
                      <a:pPr algn="ctr">
                        <a:defRPr sz="1000" b="0">
                          <a:solidFill>
                            <a:srgbClr val="2D2D2D"/>
                          </a:solidFill>
                          <a:latin typeface="Yu Gothic"/>
                        </a:defRPr>
                      </a:pPr>
                      <a:r>
                        <a:rPr lang="ja-JP" altLang="en-US" sz="1400" dirty="0">
                          <a:latin typeface="メイリオ" panose="020B0604030504040204" pitchFamily="50" charset="-128"/>
                          <a:ea typeface="メイリオ" panose="020B0604030504040204" pitchFamily="50" charset="-128"/>
                        </a:rPr>
                        <a:t>正しく異常を予測した数</a:t>
                      </a:r>
                      <a:endParaRPr sz="1400" dirty="0">
                        <a:latin typeface="メイリオ" panose="020B0604030504040204" pitchFamily="50" charset="-128"/>
                        <a:ea typeface="メイリオ" panose="020B0604030504040204" pitchFamily="50" charset="-128"/>
                      </a:endParaRP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0F4F8"/>
                    </a:solidFill>
                  </a:tcPr>
                </a:tc>
                <a:tc>
                  <a:txBody>
                    <a:bodyPr/>
                    <a:lstStyle/>
                    <a:p>
                      <a:pPr algn="ctr">
                        <a:defRPr sz="1000" b="0">
                          <a:solidFill>
                            <a:srgbClr val="2D2D2D"/>
                          </a:solidFill>
                          <a:latin typeface="Yu Gothic"/>
                        </a:defRPr>
                      </a:pPr>
                      <a:r>
                        <a:rPr sz="1400" dirty="0">
                          <a:latin typeface="メイリオ" panose="020B0604030504040204" pitchFamily="50" charset="-128"/>
                          <a:ea typeface="メイリオ" panose="020B0604030504040204" pitchFamily="50" charset="-128"/>
                        </a:rPr>
                        <a:t>32</a:t>
                      </a:r>
                    </a:p>
                  </a:txBody>
                  <a:tcPr marL="54864" marR="54864" marT="27432" marB="27432">
                    <a:lnB w="12700" cap="flat" cmpd="sng" algn="ctr">
                      <a:solidFill>
                        <a:schemeClr val="tx1"/>
                      </a:solidFill>
                      <a:prstDash val="solid"/>
                      <a:round/>
                      <a:headEnd type="none" w="med" len="med"/>
                      <a:tailEnd type="none" w="med" len="med"/>
                    </a:lnB>
                    <a:solidFill>
                      <a:srgbClr val="F0F4F8"/>
                    </a:solidFill>
                  </a:tcPr>
                </a:tc>
                <a:tc>
                  <a:txBody>
                    <a:bodyPr/>
                    <a:lstStyle/>
                    <a:p>
                      <a:pPr algn="ctr">
                        <a:defRPr sz="1000" b="0">
                          <a:solidFill>
                            <a:srgbClr val="2D2D2D"/>
                          </a:solidFill>
                          <a:latin typeface="Yu Gothic"/>
                        </a:defRPr>
                      </a:pPr>
                      <a:r>
                        <a:rPr sz="1400" dirty="0">
                          <a:latin typeface="メイリオ" panose="020B0604030504040204" pitchFamily="50" charset="-128"/>
                          <a:ea typeface="メイリオ" panose="020B0604030504040204" pitchFamily="50" charset="-128"/>
                        </a:rPr>
                        <a:t>65</a:t>
                      </a:r>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0F4F8"/>
                    </a:solidFill>
                  </a:tcPr>
                </a:tc>
                <a:extLst>
                  <a:ext uri="{0D108BD9-81ED-4DB2-BD59-A6C34878D82A}">
                    <a16:rowId xmlns:a16="http://schemas.microsoft.com/office/drawing/2014/main" val="10003"/>
                  </a:ext>
                </a:extLst>
              </a:tr>
            </a:tbl>
          </a:graphicData>
        </a:graphic>
      </p:graphicFrame>
      <p:sp>
        <p:nvSpPr>
          <p:cNvPr id="33" name="Rounded Rectangle 11">
            <a:extLst>
              <a:ext uri="{FF2B5EF4-FFF2-40B4-BE49-F238E27FC236}">
                <a16:creationId xmlns:a16="http://schemas.microsoft.com/office/drawing/2014/main" id="{8960DB72-972D-4848-4ED3-151A7F76A66E}"/>
              </a:ext>
            </a:extLst>
          </p:cNvPr>
          <p:cNvSpPr/>
          <p:nvPr/>
        </p:nvSpPr>
        <p:spPr>
          <a:xfrm>
            <a:off x="6096000" y="3703882"/>
            <a:ext cx="5471160" cy="1820143"/>
          </a:xfrm>
          <a:prstGeom prst="roundRect">
            <a:avLst/>
          </a:prstGeom>
          <a:solidFill>
            <a:srgbClr val="F0F4F8"/>
          </a:solidFill>
          <a:ln>
            <a:solidFill>
              <a:srgbClr val="D7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2">
            <a:extLst>
              <a:ext uri="{FF2B5EF4-FFF2-40B4-BE49-F238E27FC236}">
                <a16:creationId xmlns:a16="http://schemas.microsoft.com/office/drawing/2014/main" id="{1098CF65-F5E0-2D89-A1B7-B2FC5A4385A4}"/>
              </a:ext>
            </a:extLst>
          </p:cNvPr>
          <p:cNvSpPr txBox="1"/>
          <p:nvPr/>
        </p:nvSpPr>
        <p:spPr>
          <a:xfrm>
            <a:off x="6245352" y="3829032"/>
            <a:ext cx="3511296" cy="338554"/>
          </a:xfrm>
          <a:prstGeom prst="rect">
            <a:avLst/>
          </a:prstGeom>
          <a:noFill/>
        </p:spPr>
        <p:txBody>
          <a:bodyPr wrap="square">
            <a:spAutoFit/>
          </a:bodyPr>
          <a:lstStyle/>
          <a:p>
            <a:pPr algn="l">
              <a:defRPr sz="1300" b="1">
                <a:solidFill>
                  <a:srgbClr val="3466A4"/>
                </a:solidFill>
                <a:latin typeface="Yu Gothic"/>
              </a:defRPr>
            </a:pPr>
            <a:r>
              <a:rPr sz="1600" dirty="0" err="1">
                <a:latin typeface="メイリオ" panose="020B0604030504040204" pitchFamily="50" charset="-128"/>
                <a:ea typeface="メイリオ" panose="020B0604030504040204" pitchFamily="50" charset="-128"/>
              </a:rPr>
              <a:t>計算式</a:t>
            </a:r>
            <a:endParaRPr sz="1600" dirty="0">
              <a:latin typeface="メイリオ" panose="020B0604030504040204" pitchFamily="50" charset="-128"/>
              <a:ea typeface="メイリオ" panose="020B0604030504040204" pitchFamily="50" charset="-128"/>
            </a:endParaRPr>
          </a:p>
        </p:txBody>
      </p:sp>
      <p:sp>
        <p:nvSpPr>
          <p:cNvPr id="37" name="TextBox 13">
            <a:extLst>
              <a:ext uri="{FF2B5EF4-FFF2-40B4-BE49-F238E27FC236}">
                <a16:creationId xmlns:a16="http://schemas.microsoft.com/office/drawing/2014/main" id="{852B2559-5847-CFE5-8FDD-57DB65BE7346}"/>
              </a:ext>
            </a:extLst>
          </p:cNvPr>
          <p:cNvSpPr txBox="1"/>
          <p:nvPr/>
        </p:nvSpPr>
        <p:spPr>
          <a:xfrm>
            <a:off x="6245351" y="4201668"/>
            <a:ext cx="4196107" cy="954107"/>
          </a:xfrm>
          <a:prstGeom prst="rect">
            <a:avLst/>
          </a:prstGeom>
          <a:noFill/>
        </p:spPr>
        <p:txBody>
          <a:bodyPr wrap="square">
            <a:spAutoFit/>
          </a:bodyPr>
          <a:lstStyle/>
          <a:p>
            <a:pPr>
              <a:defRPr sz="1100" b="0">
                <a:solidFill>
                  <a:srgbClr val="2D2D2D"/>
                </a:solidFill>
                <a:latin typeface="Yu Gothic"/>
              </a:defRPr>
            </a:pPr>
            <a:r>
              <a:rPr sz="1400" dirty="0" err="1">
                <a:latin typeface="メイリオ" panose="020B0604030504040204" pitchFamily="50" charset="-128"/>
                <a:ea typeface="メイリオ" panose="020B0604030504040204" pitchFamily="50" charset="-128"/>
              </a:rPr>
              <a:t>総予防処置費</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アラート数</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予防処置費</a:t>
            </a:r>
            <a:br>
              <a:rPr sz="1400" dirty="0">
                <a:latin typeface="メイリオ" panose="020B0604030504040204" pitchFamily="50" charset="-128"/>
                <a:ea typeface="メイリオ" panose="020B0604030504040204" pitchFamily="50" charset="-128"/>
              </a:rPr>
            </a:br>
            <a:r>
              <a:rPr sz="1400" dirty="0" err="1">
                <a:latin typeface="メイリオ" panose="020B0604030504040204" pitchFamily="50" charset="-128"/>
                <a:ea typeface="メイリオ" panose="020B0604030504040204" pitchFamily="50" charset="-128"/>
              </a:rPr>
              <a:t>回避損失</a:t>
            </a:r>
            <a:r>
              <a:rPr sz="1400" dirty="0">
                <a:latin typeface="メイリオ" panose="020B0604030504040204" pitchFamily="50" charset="-128"/>
                <a:ea typeface="メイリオ" panose="020B0604030504040204" pitchFamily="50" charset="-128"/>
              </a:rPr>
              <a:t> =</a:t>
            </a:r>
            <a:r>
              <a:rPr lang="ja-JP" altLang="ja-JP" sz="1400" dirty="0">
                <a:solidFill>
                  <a:srgbClr val="2D2D2D"/>
                </a:solidFill>
                <a:latin typeface="メイリオ" panose="020B0604030504040204" pitchFamily="50" charset="-128"/>
                <a:ea typeface="メイリオ" panose="020B0604030504040204" pitchFamily="50" charset="-128"/>
              </a:rPr>
              <a:t>正しく異常予測した数 </a:t>
            </a:r>
            <a:r>
              <a:rPr sz="1400" dirty="0">
                <a:latin typeface="メイリオ" panose="020B0604030504040204" pitchFamily="50" charset="-128"/>
                <a:ea typeface="メイリオ" panose="020B0604030504040204" pitchFamily="50" charset="-128"/>
              </a:rPr>
              <a:t>× </a:t>
            </a:r>
            <a:r>
              <a:rPr sz="1400" dirty="0" err="1">
                <a:latin typeface="メイリオ" panose="020B0604030504040204" pitchFamily="50" charset="-128"/>
                <a:ea typeface="メイリオ" panose="020B0604030504040204" pitchFamily="50" charset="-128"/>
              </a:rPr>
              <a:t>事後処理費</a:t>
            </a:r>
            <a:br>
              <a:rPr sz="1400" dirty="0">
                <a:latin typeface="メイリオ" panose="020B0604030504040204" pitchFamily="50" charset="-128"/>
                <a:ea typeface="メイリオ" panose="020B0604030504040204" pitchFamily="50" charset="-128"/>
              </a:rPr>
            </a:br>
            <a:r>
              <a:rPr sz="1400" dirty="0" err="1">
                <a:latin typeface="メイリオ" panose="020B0604030504040204" pitchFamily="50" charset="-128"/>
                <a:ea typeface="メイリオ" panose="020B0604030504040204" pitchFamily="50" charset="-128"/>
              </a:rPr>
              <a:t>純改善額</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回避損失</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総予防処置費</a:t>
            </a:r>
            <a:br>
              <a:rPr sz="1400" dirty="0">
                <a:latin typeface="メイリオ" panose="020B0604030504040204" pitchFamily="50" charset="-128"/>
                <a:ea typeface="メイリオ" panose="020B0604030504040204" pitchFamily="50" charset="-128"/>
              </a:rPr>
            </a:br>
            <a:r>
              <a:rPr sz="1400" dirty="0">
                <a:latin typeface="メイリオ" panose="020B0604030504040204" pitchFamily="50" charset="-128"/>
                <a:ea typeface="メイリオ" panose="020B0604030504040204" pitchFamily="50" charset="-128"/>
              </a:rPr>
              <a:t>ROI = </a:t>
            </a:r>
            <a:r>
              <a:rPr sz="1400" dirty="0" err="1">
                <a:latin typeface="メイリオ" panose="020B0604030504040204" pitchFamily="50" charset="-128"/>
                <a:ea typeface="メイリオ" panose="020B0604030504040204" pitchFamily="50" charset="-128"/>
              </a:rPr>
              <a:t>純改善額</a:t>
            </a:r>
            <a:r>
              <a:rPr sz="1400" dirty="0">
                <a:latin typeface="メイリオ" panose="020B0604030504040204" pitchFamily="50" charset="-128"/>
                <a:ea typeface="メイリオ" panose="020B0604030504040204" pitchFamily="50" charset="-128"/>
              </a:rPr>
              <a:t> ÷ </a:t>
            </a:r>
            <a:r>
              <a:rPr sz="1400" dirty="0" err="1">
                <a:latin typeface="メイリオ" panose="020B0604030504040204" pitchFamily="50" charset="-128"/>
                <a:ea typeface="メイリオ" panose="020B0604030504040204" pitchFamily="50" charset="-128"/>
              </a:rPr>
              <a:t>総予防処置費</a:t>
            </a:r>
            <a:r>
              <a:rPr sz="1400" dirty="0">
                <a:latin typeface="メイリオ" panose="020B0604030504040204" pitchFamily="50" charset="-128"/>
                <a:ea typeface="メイリオ" panose="020B0604030504040204" pitchFamily="50" charset="-128"/>
              </a:rPr>
              <a:t> × 100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84048"/>
          </a:xfrm>
          <a:prstGeom prst="rect">
            <a:avLst/>
          </a:prstGeom>
          <a:noFill/>
        </p:spPr>
        <p:txBody>
          <a:bodyPr wrap="square" lIns="18288" tIns="18288" rIns="18288" bIns="18288">
            <a:spAutoFit/>
          </a:bodyPr>
          <a:lstStyle/>
          <a:p>
            <a:pPr algn="l">
              <a:defRPr sz="2000" b="1">
                <a:solidFill>
                  <a:srgbClr val="182F49"/>
                </a:solidFill>
                <a:latin typeface="Meiryo"/>
              </a:defRPr>
            </a:pPr>
            <a:r>
              <a:t>運用価値｜ROI試算</a:t>
            </a:r>
          </a:p>
        </p:txBody>
      </p:sp>
      <p:sp>
        <p:nvSpPr>
          <p:cNvPr id="3" name="TextBox 2"/>
          <p:cNvSpPr txBox="1"/>
          <p:nvPr/>
        </p:nvSpPr>
        <p:spPr>
          <a:xfrm>
            <a:off x="502920" y="622405"/>
            <a:ext cx="11064240" cy="775597"/>
          </a:xfrm>
          <a:prstGeom prst="rect">
            <a:avLst/>
          </a:prstGeom>
          <a:noFill/>
        </p:spPr>
        <p:txBody>
          <a:bodyPr wrap="square" lIns="18288" tIns="18288" rIns="18288" bIns="18288">
            <a:spAutoFit/>
          </a:bodyPr>
          <a:lstStyle/>
          <a:p>
            <a:pPr>
              <a:defRPr sz="2400" b="1">
                <a:solidFill>
                  <a:srgbClr val="262A2F"/>
                </a:solidFill>
                <a:latin typeface="Meiryo"/>
              </a:defRPr>
            </a:pPr>
            <a:r>
              <a:rPr lang="en-US" altLang="ja-JP" dirty="0"/>
              <a:t>6</a:t>
            </a:r>
            <a:r>
              <a:rPr lang="ja-JP" altLang="en-US" dirty="0"/>
              <a:t>つの費用シナリオのうち</a:t>
            </a:r>
            <a:r>
              <a:rPr lang="en-US" altLang="ja-JP" dirty="0"/>
              <a:t>83.3%</a:t>
            </a:r>
            <a:r>
              <a:rPr dirty="0"/>
              <a:t>でROI&gt;100%となり、短期予測</a:t>
            </a:r>
            <a:r>
              <a:rPr lang="ja-JP" altLang="en-US" dirty="0"/>
              <a:t>アラート</a:t>
            </a:r>
            <a:r>
              <a:rPr dirty="0" err="1"/>
              <a:t>を予防保全へ活用する可能性が示された</a:t>
            </a:r>
            <a:endParaRPr dirty="0"/>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3703320"/>
            <a:ext cx="5257800" cy="1609342"/>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3822191"/>
            <a:ext cx="4928616" cy="329184"/>
          </a:xfrm>
          <a:prstGeom prst="rect">
            <a:avLst/>
          </a:prstGeom>
          <a:noFill/>
        </p:spPr>
        <p:txBody>
          <a:bodyPr wrap="square" lIns="18288" tIns="18288" rIns="18288" bIns="18288">
            <a:spAutoFit/>
          </a:bodyPr>
          <a:lstStyle/>
          <a:p>
            <a:pPr algn="l">
              <a:defRPr sz="1600" b="1">
                <a:solidFill>
                  <a:srgbClr val="3466A4"/>
                </a:solidFill>
                <a:latin typeface="Meiryo"/>
              </a:defRPr>
            </a:pPr>
            <a:r>
              <a:t>解釈</a:t>
            </a:r>
          </a:p>
        </p:txBody>
      </p:sp>
      <p:sp>
        <p:nvSpPr>
          <p:cNvPr id="8" name="TextBox 7"/>
          <p:cNvSpPr txBox="1"/>
          <p:nvPr/>
        </p:nvSpPr>
        <p:spPr>
          <a:xfrm>
            <a:off x="758952" y="4224528"/>
            <a:ext cx="4928616" cy="467820"/>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a:t>ROI&gt;100%は「純改善額が投資額を上回る」状態。ROIが100%未満でも、ROI&gt;0%なら純改善額は正となる。</a:t>
            </a:r>
          </a:p>
        </p:txBody>
      </p:sp>
      <p:sp>
        <p:nvSpPr>
          <p:cNvPr id="9" name="Rounded Rectangle 8"/>
          <p:cNvSpPr/>
          <p:nvPr/>
        </p:nvSpPr>
        <p:spPr>
          <a:xfrm>
            <a:off x="6126480" y="3703319"/>
            <a:ext cx="5394960" cy="1609343"/>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1072" y="3822191"/>
            <a:ext cx="5065776" cy="329184"/>
          </a:xfrm>
          <a:prstGeom prst="rect">
            <a:avLst/>
          </a:prstGeom>
          <a:noFill/>
        </p:spPr>
        <p:txBody>
          <a:bodyPr wrap="square" lIns="18288" tIns="18288" rIns="18288" bIns="18288">
            <a:spAutoFit/>
          </a:bodyPr>
          <a:lstStyle/>
          <a:p>
            <a:pPr algn="l">
              <a:defRPr sz="1600" b="1">
                <a:solidFill>
                  <a:srgbClr val="25775A"/>
                </a:solidFill>
                <a:latin typeface="Meiryo"/>
              </a:defRPr>
            </a:pPr>
            <a:r>
              <a:rPr dirty="0" err="1"/>
              <a:t>PoCとしての留保</a:t>
            </a:r>
            <a:endParaRPr dirty="0"/>
          </a:p>
        </p:txBody>
      </p:sp>
      <p:sp>
        <p:nvSpPr>
          <p:cNvPr id="11" name="TextBox 10"/>
          <p:cNvSpPr txBox="1"/>
          <p:nvPr/>
        </p:nvSpPr>
        <p:spPr>
          <a:xfrm>
            <a:off x="6291072" y="4224528"/>
            <a:ext cx="5065776" cy="714042"/>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err="1">
                <a:latin typeface="メイリオ" panose="020B0604030504040204" pitchFamily="50" charset="-128"/>
                <a:ea typeface="メイリオ" panose="020B0604030504040204" pitchFamily="50" charset="-128"/>
              </a:rPr>
              <a:t>故障ラベル・実保守費用を使った実証ではない。連続高温も時点ごとにアラート計上しているため、現段階</a:t>
            </a:r>
            <a:r>
              <a:rPr lang="ja-JP" altLang="en-US" sz="1400" dirty="0">
                <a:latin typeface="メイリオ" panose="020B0604030504040204" pitchFamily="50" charset="-128"/>
                <a:ea typeface="メイリオ" panose="020B0604030504040204" pitchFamily="50" charset="-128"/>
              </a:rPr>
              <a:t>の</a:t>
            </a:r>
            <a:r>
              <a:rPr sz="1400" dirty="0" err="1">
                <a:latin typeface="メイリオ" panose="020B0604030504040204" pitchFamily="50" charset="-128"/>
                <a:ea typeface="メイリオ" panose="020B0604030504040204" pitchFamily="50" charset="-128"/>
              </a:rPr>
              <a:t>費用仮定に対する感度分析</a:t>
            </a:r>
            <a:r>
              <a:rPr lang="ja-JP" altLang="en-US" sz="1400" dirty="0">
                <a:latin typeface="メイリオ" panose="020B0604030504040204" pitchFamily="50" charset="-128"/>
                <a:ea typeface="メイリオ" panose="020B0604030504040204" pitchFamily="50" charset="-128"/>
              </a:rPr>
              <a:t>での可能性</a:t>
            </a:r>
            <a:r>
              <a:rPr lang="ja-JP" altLang="en-US" dirty="0"/>
              <a:t>。</a:t>
            </a:r>
            <a:endParaRPr dirty="0"/>
          </a:p>
        </p:txBody>
      </p:sp>
      <p:sp>
        <p:nvSpPr>
          <p:cNvPr id="12" name="TextBox 11"/>
          <p:cNvSpPr txBox="1"/>
          <p:nvPr/>
        </p:nvSpPr>
        <p:spPr>
          <a:xfrm>
            <a:off x="658368" y="5649585"/>
            <a:ext cx="10698480" cy="411480"/>
          </a:xfrm>
          <a:prstGeom prst="rect">
            <a:avLst/>
          </a:prstGeom>
          <a:noFill/>
        </p:spPr>
        <p:txBody>
          <a:bodyPr wrap="square" lIns="18288" tIns="18288" rIns="18288" bIns="18288">
            <a:spAutoFit/>
          </a:bodyPr>
          <a:lstStyle/>
          <a:p>
            <a:pPr algn="l">
              <a:defRPr sz="1600" b="1">
                <a:solidFill>
                  <a:srgbClr val="182F49"/>
                </a:solidFill>
                <a:latin typeface="Meiryo"/>
              </a:defRPr>
            </a:pPr>
            <a:r>
              <a:rPr dirty="0" err="1"/>
              <a:t>したがって「運用価値を実証した」ではなく「実設備で検証する価値がある」と結論づける</a:t>
            </a:r>
            <a:r>
              <a:rPr dirty="0"/>
              <a:t>。</a:t>
            </a:r>
          </a:p>
        </p:txBody>
      </p:sp>
      <p:graphicFrame>
        <p:nvGraphicFramePr>
          <p:cNvPr id="16" name="Table 4">
            <a:extLst>
              <a:ext uri="{FF2B5EF4-FFF2-40B4-BE49-F238E27FC236}">
                <a16:creationId xmlns:a16="http://schemas.microsoft.com/office/drawing/2014/main" id="{D7466B8B-8B96-F23B-90C8-862EA482F1F4}"/>
              </a:ext>
            </a:extLst>
          </p:cNvPr>
          <p:cNvGraphicFramePr>
            <a:graphicFrameLocks noGrp="1"/>
          </p:cNvGraphicFramePr>
          <p:nvPr>
            <p:extLst>
              <p:ext uri="{D42A27DB-BD31-4B8C-83A1-F6EECF244321}">
                <p14:modId xmlns:p14="http://schemas.microsoft.com/office/powerpoint/2010/main" val="1893104262"/>
              </p:ext>
            </p:extLst>
          </p:nvPr>
        </p:nvGraphicFramePr>
        <p:xfrm>
          <a:off x="365760" y="1598556"/>
          <a:ext cx="11475720" cy="1609344"/>
        </p:xfrm>
        <a:graphic>
          <a:graphicData uri="http://schemas.openxmlformats.org/drawingml/2006/table">
            <a:tbl>
              <a:tblPr firstRow="1" bandRow="1">
                <a:tableStyleId>{5C22544A-7EE6-4342-B048-85BDC9FD1C3A}</a:tableStyleId>
              </a:tblPr>
              <a:tblGrid>
                <a:gridCol w="1147572">
                  <a:extLst>
                    <a:ext uri="{9D8B030D-6E8A-4147-A177-3AD203B41FA5}">
                      <a16:colId xmlns:a16="http://schemas.microsoft.com/office/drawing/2014/main" val="20000"/>
                    </a:ext>
                  </a:extLst>
                </a:gridCol>
                <a:gridCol w="1147572">
                  <a:extLst>
                    <a:ext uri="{9D8B030D-6E8A-4147-A177-3AD203B41FA5}">
                      <a16:colId xmlns:a16="http://schemas.microsoft.com/office/drawing/2014/main" val="20001"/>
                    </a:ext>
                  </a:extLst>
                </a:gridCol>
                <a:gridCol w="1147572">
                  <a:extLst>
                    <a:ext uri="{9D8B030D-6E8A-4147-A177-3AD203B41FA5}">
                      <a16:colId xmlns:a16="http://schemas.microsoft.com/office/drawing/2014/main" val="20002"/>
                    </a:ext>
                  </a:extLst>
                </a:gridCol>
                <a:gridCol w="1147572">
                  <a:extLst>
                    <a:ext uri="{9D8B030D-6E8A-4147-A177-3AD203B41FA5}">
                      <a16:colId xmlns:a16="http://schemas.microsoft.com/office/drawing/2014/main" val="20003"/>
                    </a:ext>
                  </a:extLst>
                </a:gridCol>
                <a:gridCol w="1147572">
                  <a:extLst>
                    <a:ext uri="{9D8B030D-6E8A-4147-A177-3AD203B41FA5}">
                      <a16:colId xmlns:a16="http://schemas.microsoft.com/office/drawing/2014/main" val="20004"/>
                    </a:ext>
                  </a:extLst>
                </a:gridCol>
                <a:gridCol w="1147572">
                  <a:extLst>
                    <a:ext uri="{9D8B030D-6E8A-4147-A177-3AD203B41FA5}">
                      <a16:colId xmlns:a16="http://schemas.microsoft.com/office/drawing/2014/main" val="20005"/>
                    </a:ext>
                  </a:extLst>
                </a:gridCol>
                <a:gridCol w="1147572">
                  <a:extLst>
                    <a:ext uri="{9D8B030D-6E8A-4147-A177-3AD203B41FA5}">
                      <a16:colId xmlns:a16="http://schemas.microsoft.com/office/drawing/2014/main" val="20006"/>
                    </a:ext>
                  </a:extLst>
                </a:gridCol>
                <a:gridCol w="1147572">
                  <a:extLst>
                    <a:ext uri="{9D8B030D-6E8A-4147-A177-3AD203B41FA5}">
                      <a16:colId xmlns:a16="http://schemas.microsoft.com/office/drawing/2014/main" val="20007"/>
                    </a:ext>
                  </a:extLst>
                </a:gridCol>
                <a:gridCol w="1147572">
                  <a:extLst>
                    <a:ext uri="{9D8B030D-6E8A-4147-A177-3AD203B41FA5}">
                      <a16:colId xmlns:a16="http://schemas.microsoft.com/office/drawing/2014/main" val="20008"/>
                    </a:ext>
                  </a:extLst>
                </a:gridCol>
                <a:gridCol w="1147572">
                  <a:extLst>
                    <a:ext uri="{9D8B030D-6E8A-4147-A177-3AD203B41FA5}">
                      <a16:colId xmlns:a16="http://schemas.microsoft.com/office/drawing/2014/main" val="20009"/>
                    </a:ext>
                  </a:extLst>
                </a:gridCol>
              </a:tblGrid>
              <a:tr h="533400">
                <a:tc>
                  <a:txBody>
                    <a:bodyPr/>
                    <a:lstStyle/>
                    <a:p>
                      <a:pPr algn="ctr">
                        <a:defRPr sz="800" b="1">
                          <a:solidFill>
                            <a:srgbClr val="FFFFFF"/>
                          </a:solidFill>
                          <a:latin typeface="Yu Gothic"/>
                        </a:defRPr>
                      </a:pPr>
                      <a:r>
                        <a:rPr sz="1600"/>
                        <a:t>Dataset</a:t>
                      </a:r>
                    </a:p>
                  </a:txBody>
                  <a:tcPr marL="54864" marR="54864" marT="27432" marB="27432">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dirty="0" err="1"/>
                        <a:t>純改善額</a:t>
                      </a:r>
                      <a:r>
                        <a:rPr sz="1600" dirty="0"/>
                        <a:t> </a:t>
                      </a:r>
                      <a:r>
                        <a:rPr sz="1600" dirty="0" err="1"/>
                        <a:t>最低</a:t>
                      </a:r>
                      <a:endParaRPr sz="16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dirty="0" err="1"/>
                        <a:t>中央値</a:t>
                      </a:r>
                      <a:endParaRPr sz="1600" dirty="0"/>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平均</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最高</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ROI 最低</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中央値</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平均</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a:t>最高</a:t>
                      </a:r>
                    </a:p>
                  </a:txBody>
                  <a:tcPr marL="54864" marR="54864" marT="27432" marB="27432">
                    <a:lnT w="12700" cap="flat" cmpd="sng" algn="ctr">
                      <a:solidFill>
                        <a:schemeClr val="tx1"/>
                      </a:solidFill>
                      <a:prstDash val="solid"/>
                      <a:round/>
                      <a:headEnd type="none" w="med" len="med"/>
                      <a:tailEnd type="none" w="med" len="med"/>
                    </a:lnT>
                    <a:solidFill>
                      <a:srgbClr val="182F49"/>
                    </a:solidFill>
                  </a:tcPr>
                </a:tc>
                <a:tc>
                  <a:txBody>
                    <a:bodyPr/>
                    <a:lstStyle/>
                    <a:p>
                      <a:pPr algn="ctr">
                        <a:defRPr sz="800" b="1">
                          <a:solidFill>
                            <a:srgbClr val="FFFFFF"/>
                          </a:solidFill>
                          <a:latin typeface="Yu Gothic"/>
                        </a:defRPr>
                      </a:pPr>
                      <a:r>
                        <a:rPr sz="1600" dirty="0"/>
                        <a:t>ROI&gt;100%</a:t>
                      </a:r>
                    </a:p>
                  </a:txBody>
                  <a:tcPr marL="54864" marR="54864" marT="27432" marB="27432">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82F49"/>
                    </a:solidFill>
                  </a:tcPr>
                </a:tc>
                <a:extLst>
                  <a:ext uri="{0D108BD9-81ED-4DB2-BD59-A6C34878D82A}">
                    <a16:rowId xmlns:a16="http://schemas.microsoft.com/office/drawing/2014/main" val="10000"/>
                  </a:ext>
                </a:extLst>
              </a:tr>
              <a:tr h="533400">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ETTh1</a:t>
                      </a:r>
                    </a:p>
                  </a:txBody>
                  <a:tcPr marL="54864" marR="54864" marT="27432" marB="27432">
                    <a:lnL w="12700" cap="flat" cmpd="sng" algn="ctr">
                      <a:solidFill>
                        <a:schemeClr val="tx1"/>
                      </a:solidFill>
                      <a:prstDash val="solid"/>
                      <a:round/>
                      <a:headEnd type="none" w="med" len="med"/>
                      <a:tailEnd type="none" w="med" len="med"/>
                    </a:lnL>
                    <a:solidFill>
                      <a:srgbClr val="F0F4F8"/>
                    </a:solidFill>
                  </a:tcPr>
                </a:tc>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1,040万</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2,635万</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2,730万</a:t>
                      </a:r>
                    </a:p>
                  </a:txBody>
                  <a:tcPr marL="54864" marR="54864" marT="27432" marB="27432">
                    <a:solidFill>
                      <a:srgbClr val="F0F4F8"/>
                    </a:solidFill>
                  </a:tcPr>
                </a:tc>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4,230万</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68.4%</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293.0%</a:t>
                      </a:r>
                    </a:p>
                  </a:txBody>
                  <a:tcPr marL="54864" marR="54864" marT="27432" marB="27432">
                    <a:solidFill>
                      <a:srgbClr val="F0F4F8"/>
                    </a:solidFill>
                  </a:tcPr>
                </a:tc>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357.3%</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742.1%</a:t>
                      </a:r>
                    </a:p>
                  </a:txBody>
                  <a:tcPr marL="54864" marR="54864" marT="27432" marB="27432">
                    <a:solidFill>
                      <a:srgbClr val="F0F4F8"/>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83.3%</a:t>
                      </a:r>
                    </a:p>
                  </a:txBody>
                  <a:tcPr marL="54864" marR="54864" marT="27432" marB="27432">
                    <a:lnR w="12700" cap="flat" cmpd="sng" algn="ctr">
                      <a:solidFill>
                        <a:schemeClr val="tx1"/>
                      </a:solidFill>
                      <a:prstDash val="solid"/>
                      <a:round/>
                      <a:headEnd type="none" w="med" len="med"/>
                      <a:tailEnd type="none" w="med" len="med"/>
                    </a:lnR>
                    <a:solidFill>
                      <a:srgbClr val="F0F4F8"/>
                    </a:solidFill>
                  </a:tcPr>
                </a:tc>
                <a:extLst>
                  <a:ext uri="{0D108BD9-81ED-4DB2-BD59-A6C34878D82A}">
                    <a16:rowId xmlns:a16="http://schemas.microsoft.com/office/drawing/2014/main" val="10001"/>
                  </a:ext>
                </a:extLst>
              </a:tr>
              <a:tr h="533400">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ETTh2</a:t>
                      </a:r>
                    </a:p>
                  </a:txBody>
                  <a:tcPr marL="54864" marR="54864" marT="27432" marB="27432">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2,320万</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5,495万</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5,675万</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8,670万</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80.6%</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321.3%</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390.3%</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a:latin typeface="メイリオ" panose="020B0604030504040204" pitchFamily="50" charset="-128"/>
                          <a:ea typeface="メイリオ" panose="020B0604030504040204" pitchFamily="50" charset="-128"/>
                        </a:rPr>
                        <a:t>802.8%</a:t>
                      </a:r>
                    </a:p>
                  </a:txBody>
                  <a:tcPr marL="54864" marR="54864" marT="27432" marB="27432">
                    <a:lnB w="12700" cap="flat" cmpd="sng" algn="ctr">
                      <a:solidFill>
                        <a:schemeClr val="tx1"/>
                      </a:solidFill>
                      <a:prstDash val="solid"/>
                      <a:round/>
                      <a:headEnd type="none" w="med" len="med"/>
                      <a:tailEnd type="none" w="med" len="med"/>
                    </a:lnB>
                    <a:solidFill>
                      <a:srgbClr val="FFFFFF"/>
                    </a:solidFill>
                  </a:tcPr>
                </a:tc>
                <a:tc>
                  <a:txBody>
                    <a:bodyPr/>
                    <a:lstStyle/>
                    <a:p>
                      <a:pPr algn="ctr">
                        <a:defRPr sz="800" b="0">
                          <a:solidFill>
                            <a:srgbClr val="2D2D2D"/>
                          </a:solidFill>
                          <a:latin typeface="Yu Gothic"/>
                        </a:defRPr>
                      </a:pPr>
                      <a:r>
                        <a:rPr sz="1400" dirty="0">
                          <a:latin typeface="メイリオ" panose="020B0604030504040204" pitchFamily="50" charset="-128"/>
                          <a:ea typeface="メイリオ" panose="020B0604030504040204" pitchFamily="50" charset="-128"/>
                        </a:rPr>
                        <a:t>83.3%</a:t>
                      </a:r>
                    </a:p>
                  </a:txBody>
                  <a:tcPr marL="54864" marR="54864" marT="27432" marB="27432">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01168"/>
            <a:ext cx="11064240" cy="344710"/>
          </a:xfrm>
          <a:prstGeom prst="rect">
            <a:avLst/>
          </a:prstGeom>
          <a:noFill/>
        </p:spPr>
        <p:txBody>
          <a:bodyPr wrap="square" lIns="18288" tIns="18288" rIns="18288" bIns="18288">
            <a:spAutoFit/>
          </a:bodyPr>
          <a:lstStyle/>
          <a:p>
            <a:pPr algn="l">
              <a:defRPr sz="2000" b="1">
                <a:solidFill>
                  <a:srgbClr val="182F49"/>
                </a:solidFill>
                <a:latin typeface="Meiryo"/>
              </a:defRPr>
            </a:pPr>
            <a:r>
              <a:rPr lang="ja-JP" altLang="en-US" dirty="0">
                <a:latin typeface="メイリオ" panose="020B0604030504040204" pitchFamily="50" charset="-128"/>
                <a:ea typeface="メイリオ" panose="020B0604030504040204" pitchFamily="50" charset="-128"/>
              </a:rPr>
              <a:t>現時点での課題</a:t>
            </a:r>
            <a:r>
              <a:rPr dirty="0" err="1">
                <a:latin typeface="メイリオ" panose="020B0604030504040204" pitchFamily="50" charset="-128"/>
                <a:ea typeface="メイリオ" panose="020B0604030504040204" pitchFamily="50" charset="-128"/>
              </a:rPr>
              <a:t>とNext</a:t>
            </a:r>
            <a:r>
              <a:rPr dirty="0">
                <a:latin typeface="メイリオ" panose="020B0604030504040204" pitchFamily="50" charset="-128"/>
                <a:ea typeface="メイリオ" panose="020B0604030504040204" pitchFamily="50" charset="-128"/>
              </a:rPr>
              <a:t> Action</a:t>
            </a:r>
          </a:p>
        </p:txBody>
      </p:sp>
      <p:sp>
        <p:nvSpPr>
          <p:cNvPr id="3" name="TextBox 2"/>
          <p:cNvSpPr txBox="1"/>
          <p:nvPr/>
        </p:nvSpPr>
        <p:spPr>
          <a:xfrm>
            <a:off x="502920" y="642366"/>
            <a:ext cx="11064240" cy="775597"/>
          </a:xfrm>
          <a:prstGeom prst="rect">
            <a:avLst/>
          </a:prstGeom>
          <a:noFill/>
        </p:spPr>
        <p:txBody>
          <a:bodyPr wrap="square" lIns="18288" tIns="18288" rIns="18288" bIns="18288">
            <a:spAutoFit/>
          </a:bodyPr>
          <a:lstStyle/>
          <a:p>
            <a:pPr algn="l">
              <a:defRPr sz="2400" b="1">
                <a:solidFill>
                  <a:srgbClr val="262A2F"/>
                </a:solidFill>
                <a:latin typeface="Meiryo"/>
              </a:defRPr>
            </a:pPr>
            <a:r>
              <a:rPr dirty="0" err="1">
                <a:latin typeface="メイリオ" panose="020B0604030504040204" pitchFamily="50" charset="-128"/>
                <a:ea typeface="メイリオ" panose="020B0604030504040204" pitchFamily="50" charset="-128"/>
              </a:rPr>
              <a:t>実運用化に向け、外部要因</a:t>
            </a:r>
            <a:r>
              <a:rPr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対応時間バッファ</a:t>
            </a:r>
            <a:r>
              <a:rPr dirty="0">
                <a:latin typeface="メイリオ" panose="020B0604030504040204" pitchFamily="50" charset="-128"/>
                <a:ea typeface="メイリオ" panose="020B0604030504040204" pitchFamily="50" charset="-128"/>
              </a:rPr>
              <a:t>・イベント評価・実コストの4点を実設備データで更新する</a:t>
            </a:r>
          </a:p>
        </p:txBody>
      </p:sp>
      <p:sp>
        <p:nvSpPr>
          <p:cNvPr id="4" name="Rectangle 3"/>
          <p:cNvSpPr/>
          <p:nvPr/>
        </p:nvSpPr>
        <p:spPr>
          <a:xfrm>
            <a:off x="502920" y="1344168"/>
            <a:ext cx="11064240" cy="22860"/>
          </a:xfrm>
          <a:prstGeom prst="rect">
            <a:avLst/>
          </a:prstGeom>
          <a:solidFill>
            <a:srgbClr val="3466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645920"/>
            <a:ext cx="5303520" cy="132588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 y="1764792"/>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t>① 外気温を追加</a:t>
            </a:r>
          </a:p>
        </p:txBody>
      </p:sp>
      <p:sp>
        <p:nvSpPr>
          <p:cNvPr id="7" name="TextBox 6"/>
          <p:cNvSpPr txBox="1"/>
          <p:nvPr/>
        </p:nvSpPr>
        <p:spPr>
          <a:xfrm>
            <a:off x="758952" y="2167128"/>
            <a:ext cx="4974336" cy="467820"/>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err="1"/>
              <a:t>設置地点を特定し、外気温・日射等を結合。日時特徴量が代理する外部要因を分離する</a:t>
            </a:r>
            <a:r>
              <a:rPr sz="1400" dirty="0"/>
              <a:t>。</a:t>
            </a:r>
          </a:p>
        </p:txBody>
      </p:sp>
      <p:sp>
        <p:nvSpPr>
          <p:cNvPr id="8" name="Rounded Rectangle 7"/>
          <p:cNvSpPr/>
          <p:nvPr/>
        </p:nvSpPr>
        <p:spPr>
          <a:xfrm>
            <a:off x="6172200" y="1645920"/>
            <a:ext cx="5303520" cy="132588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36792" y="1764792"/>
            <a:ext cx="4974336" cy="283154"/>
          </a:xfrm>
          <a:prstGeom prst="rect">
            <a:avLst/>
          </a:prstGeom>
          <a:noFill/>
        </p:spPr>
        <p:txBody>
          <a:bodyPr wrap="square" lIns="18288" tIns="18288" rIns="18288" bIns="18288">
            <a:spAutoFit/>
          </a:bodyPr>
          <a:lstStyle/>
          <a:p>
            <a:pPr algn="l">
              <a:defRPr sz="1600" b="1">
                <a:solidFill>
                  <a:srgbClr val="25775A"/>
                </a:solidFill>
                <a:latin typeface="Meiryo"/>
              </a:defRPr>
            </a:pPr>
            <a:r>
              <a:rPr dirty="0">
                <a:solidFill>
                  <a:schemeClr val="accent1"/>
                </a:solidFill>
              </a:rPr>
              <a:t>② </a:t>
            </a:r>
            <a:r>
              <a:rPr dirty="0" err="1">
                <a:solidFill>
                  <a:schemeClr val="accent1"/>
                </a:solidFill>
              </a:rPr>
              <a:t>対応時間バッファ</a:t>
            </a:r>
            <a:endParaRPr dirty="0">
              <a:solidFill>
                <a:schemeClr val="accent1"/>
              </a:solidFill>
            </a:endParaRPr>
          </a:p>
        </p:txBody>
      </p:sp>
      <p:sp>
        <p:nvSpPr>
          <p:cNvPr id="10" name="TextBox 9"/>
          <p:cNvSpPr txBox="1"/>
          <p:nvPr/>
        </p:nvSpPr>
        <p:spPr>
          <a:xfrm>
            <a:off x="6336792" y="2167128"/>
            <a:ext cx="4974336" cy="467820"/>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a:t>1時間先予測と上昇速度から限界到達時間を推定し、対応所要時間を下回る時点で通知する。</a:t>
            </a:r>
          </a:p>
        </p:txBody>
      </p:sp>
      <p:sp>
        <p:nvSpPr>
          <p:cNvPr id="11" name="Rounded Rectangle 10"/>
          <p:cNvSpPr/>
          <p:nvPr/>
        </p:nvSpPr>
        <p:spPr>
          <a:xfrm>
            <a:off x="594360" y="3246120"/>
            <a:ext cx="5303520" cy="132588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3364991"/>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t>③ イベント単位評価</a:t>
            </a:r>
          </a:p>
        </p:txBody>
      </p:sp>
      <p:sp>
        <p:nvSpPr>
          <p:cNvPr id="13" name="TextBox 12"/>
          <p:cNvSpPr txBox="1"/>
          <p:nvPr/>
        </p:nvSpPr>
        <p:spPr>
          <a:xfrm>
            <a:off x="758952" y="3767328"/>
            <a:ext cx="4974336" cy="467820"/>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a:t>連続する高温を1イベントに統合し、Precision / Recall </a:t>
            </a:r>
            <a:r>
              <a:rPr sz="1400" dirty="0" err="1"/>
              <a:t>と費用をイベント単位で再評価する</a:t>
            </a:r>
            <a:r>
              <a:rPr sz="1400" dirty="0"/>
              <a:t>。</a:t>
            </a:r>
          </a:p>
        </p:txBody>
      </p:sp>
      <p:sp>
        <p:nvSpPr>
          <p:cNvPr id="14" name="Rounded Rectangle 13"/>
          <p:cNvSpPr/>
          <p:nvPr/>
        </p:nvSpPr>
        <p:spPr>
          <a:xfrm>
            <a:off x="6172200" y="3246120"/>
            <a:ext cx="5303520" cy="1325880"/>
          </a:xfrm>
          <a:prstGeom prst="roundRect">
            <a:avLst/>
          </a:prstGeom>
          <a:solidFill>
            <a:srgbClr val="F4F7FA"/>
          </a:solidFill>
          <a:ln>
            <a:solidFill>
              <a:srgbClr val="D6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3364991"/>
            <a:ext cx="4974336" cy="329184"/>
          </a:xfrm>
          <a:prstGeom prst="rect">
            <a:avLst/>
          </a:prstGeom>
          <a:noFill/>
        </p:spPr>
        <p:txBody>
          <a:bodyPr wrap="square" lIns="18288" tIns="18288" rIns="18288" bIns="18288">
            <a:spAutoFit/>
          </a:bodyPr>
          <a:lstStyle/>
          <a:p>
            <a:pPr algn="l">
              <a:defRPr sz="1600" b="1">
                <a:solidFill>
                  <a:srgbClr val="3466A4"/>
                </a:solidFill>
                <a:latin typeface="Meiryo"/>
              </a:defRPr>
            </a:pPr>
            <a:r>
              <a:rPr dirty="0"/>
              <a:t>④ </a:t>
            </a:r>
            <a:r>
              <a:rPr dirty="0" err="1"/>
              <a:t>実績値へ更新</a:t>
            </a:r>
            <a:endParaRPr dirty="0"/>
          </a:p>
        </p:txBody>
      </p:sp>
      <p:sp>
        <p:nvSpPr>
          <p:cNvPr id="16" name="TextBox 15"/>
          <p:cNvSpPr txBox="1"/>
          <p:nvPr/>
        </p:nvSpPr>
        <p:spPr>
          <a:xfrm>
            <a:off x="6336792" y="3767328"/>
            <a:ext cx="4974336" cy="467820"/>
          </a:xfrm>
          <a:prstGeom prst="rect">
            <a:avLst/>
          </a:prstGeom>
          <a:noFill/>
        </p:spPr>
        <p:txBody>
          <a:bodyPr wrap="square" lIns="18288" tIns="18288" rIns="18288" bIns="18288">
            <a:spAutoFit/>
          </a:bodyPr>
          <a:lstStyle/>
          <a:p>
            <a:pPr algn="l">
              <a:defRPr sz="1600" b="0">
                <a:solidFill>
                  <a:srgbClr val="262A2F"/>
                </a:solidFill>
                <a:latin typeface="Meiryo"/>
              </a:defRPr>
            </a:pPr>
            <a:r>
              <a:rPr sz="1400" dirty="0" err="1"/>
              <a:t>実設備の管理上限、保守費、故障履歴を取得し、閾値・費用・回避損失を実績ベースへ置換する</a:t>
            </a:r>
            <a:r>
              <a:rPr sz="1400" dirty="0"/>
              <a:t>。</a:t>
            </a:r>
          </a:p>
        </p:txBody>
      </p:sp>
      <p:sp>
        <p:nvSpPr>
          <p:cNvPr id="17" name="TextBox 16"/>
          <p:cNvSpPr txBox="1"/>
          <p:nvPr/>
        </p:nvSpPr>
        <p:spPr>
          <a:xfrm>
            <a:off x="658368" y="5257800"/>
            <a:ext cx="10698480" cy="560153"/>
          </a:xfrm>
          <a:prstGeom prst="rect">
            <a:avLst/>
          </a:prstGeom>
          <a:noFill/>
        </p:spPr>
        <p:txBody>
          <a:bodyPr wrap="square" lIns="18288" tIns="18288" rIns="18288" bIns="18288">
            <a:spAutoFit/>
          </a:bodyPr>
          <a:lstStyle/>
          <a:p>
            <a:pPr>
              <a:defRPr sz="1700" b="1">
                <a:solidFill>
                  <a:srgbClr val="182F49"/>
                </a:solidFill>
                <a:latin typeface="Meiryo"/>
              </a:defRPr>
            </a:pPr>
            <a:r>
              <a:rPr dirty="0" err="1">
                <a:latin typeface="メイリオ" panose="020B0604030504040204" pitchFamily="50" charset="-128"/>
                <a:ea typeface="メイリオ" panose="020B0604030504040204" pitchFamily="50" charset="-128"/>
              </a:rPr>
              <a:t>次の検証：実設備でシャドー運用</a:t>
            </a:r>
            <a:r>
              <a:rPr dirty="0">
                <a:latin typeface="メイリオ" panose="020B0604030504040204" pitchFamily="50" charset="-128"/>
                <a:ea typeface="メイリオ" panose="020B0604030504040204" pitchFamily="50" charset="-128"/>
              </a:rPr>
              <a:t> → </a:t>
            </a:r>
            <a:r>
              <a:rPr dirty="0" err="1">
                <a:latin typeface="メイリオ" panose="020B0604030504040204" pitchFamily="50" charset="-128"/>
                <a:ea typeface="メイリオ" panose="020B0604030504040204" pitchFamily="50" charset="-128"/>
              </a:rPr>
              <a:t>アラートと実対応を記録</a:t>
            </a:r>
            <a:r>
              <a:rPr dirty="0">
                <a:latin typeface="メイリオ" panose="020B0604030504040204" pitchFamily="50" charset="-128"/>
                <a:ea typeface="メイリオ" panose="020B0604030504040204" pitchFamily="50" charset="-128"/>
              </a:rPr>
              <a:t> → </a:t>
            </a:r>
            <a:r>
              <a:rPr dirty="0" err="1">
                <a:latin typeface="メイリオ" panose="020B0604030504040204" pitchFamily="50" charset="-128"/>
                <a:ea typeface="メイリオ" panose="020B0604030504040204" pitchFamily="50" charset="-128"/>
              </a:rPr>
              <a:t>誤報・見逃し・対応時間・実コストで閾値と</a:t>
            </a:r>
            <a:r>
              <a:rPr lang="ja-JP" altLang="en-US" dirty="0">
                <a:latin typeface="メイリオ" panose="020B0604030504040204" pitchFamily="50" charset="-128"/>
                <a:ea typeface="メイリオ" panose="020B0604030504040204" pitchFamily="50" charset="-128"/>
              </a:rPr>
              <a:t>　</a:t>
            </a:r>
            <a:endParaRPr lang="en-US" altLang="ja-JP" dirty="0">
              <a:latin typeface="メイリオ" panose="020B0604030504040204" pitchFamily="50" charset="-128"/>
              <a:ea typeface="メイリオ" panose="020B0604030504040204" pitchFamily="50" charset="-128"/>
            </a:endParaRPr>
          </a:p>
          <a:p>
            <a:pPr>
              <a:defRPr sz="1700" b="1">
                <a:solidFill>
                  <a:srgbClr val="182F49"/>
                </a:solidFill>
                <a:latin typeface="Meiryo"/>
              </a:defRPr>
            </a:pPr>
            <a:r>
              <a:rPr lang="ja-JP" altLang="en-US" dirty="0">
                <a:latin typeface="メイリオ" panose="020B0604030504040204" pitchFamily="50" charset="-128"/>
                <a:ea typeface="メイリオ" panose="020B0604030504040204" pitchFamily="50" charset="-128"/>
              </a:rPr>
              <a:t>　　　　　</a:t>
            </a:r>
            <a:r>
              <a:rPr lang="en-US" altLang="ja-JP" dirty="0">
                <a:latin typeface="メイリオ" panose="020B0604030504040204" pitchFamily="50" charset="-128"/>
                <a:ea typeface="メイリオ" panose="020B0604030504040204" pitchFamily="50" charset="-128"/>
              </a:rPr>
              <a:t>ROI</a:t>
            </a:r>
            <a:r>
              <a:rPr lang="ja-JP" altLang="en-US" dirty="0">
                <a:latin typeface="メイリオ" panose="020B0604030504040204" pitchFamily="50" charset="-128"/>
                <a:ea typeface="メイリオ" panose="020B0604030504040204" pitchFamily="50" charset="-128"/>
              </a:rPr>
              <a:t>を再推定</a:t>
            </a:r>
            <a:endParaRPr dirty="0">
              <a:latin typeface="メイリオ" panose="020B0604030504040204" pitchFamily="50" charset="-128"/>
              <a:ea typeface="メイリオ" panose="020B0604030504040204" pitchFamily="50"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394</TotalTime>
  <Words>1576</Words>
  <Application>Microsoft Office PowerPoint</Application>
  <PresentationFormat>ワイド画面</PresentationFormat>
  <Paragraphs>334</Paragraphs>
  <Slides>13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メイリオ</vt:lpstr>
      <vt:lpstr>メイリオ</vt:lpstr>
      <vt:lpstr>Yu Gothic</vt:lpstr>
      <vt:lpstr>Arial</vt:lpstr>
      <vt:lpstr>Calibri</vt:lpstr>
      <vt:lpstr>Cambria Math</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雄一朗 久保</cp:lastModifiedBy>
  <cp:revision>16</cp:revision>
  <dcterms:created xsi:type="dcterms:W3CDTF">2013-01-27T09:14:16Z</dcterms:created>
  <dcterms:modified xsi:type="dcterms:W3CDTF">2026-09-24T12:32:07Z</dcterms:modified>
  <cp:category/>
</cp:coreProperties>
</file>